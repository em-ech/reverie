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2BA572"/>
            </a:solidFill>
            <a:ln w="38100" cap="flat">
              <a:solidFill>
                <a:srgbClr val="2BA5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A572"/>
              </a:solidFill>
              <a:ln w="9525" cap="flat">
                <a:solidFill>
                  <a:srgbClr val="2BA5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</c:v>
                  </c:pt>
                  <c:pt idx="1">
                    <c:v>4</c:v>
                  </c:pt>
                  <c:pt idx="2">
                    <c:v>6</c:v>
                  </c:pt>
                  <c:pt idx="3">
                    <c:v>8</c:v>
                  </c:pt>
                  <c:pt idx="4">
                    <c:v>10</c:v>
                  </c:pt>
                  <c:pt idx="5">
                    <c:v>12</c:v>
                  </c:pt>
                  <c:pt idx="6">
                    <c:v>14</c:v>
                  </c:pt>
                  <c:pt idx="7">
                    <c:v>16</c:v>
                  </c:pt>
                  <c:pt idx="8">
                    <c:v>18</c:v>
                  </c:pt>
                  <c:pt idx="9">
                    <c:v>20</c:v>
                  </c:pt>
                  <c:pt idx="10">
                    <c:v>22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7.6</c:v>
                </c:pt>
                <c:pt idx="1">
                  <c:v>7</c:v>
                </c:pt>
                <c:pt idx="2">
                  <c:v>6.6</c:v>
                </c:pt>
                <c:pt idx="3">
                  <c:v>6.3</c:v>
                </c:pt>
                <c:pt idx="4">
                  <c:v>6.1</c:v>
                </c:pt>
                <c:pt idx="5">
                  <c:v>5.95</c:v>
                </c:pt>
                <c:pt idx="6">
                  <c:v>5.85</c:v>
                </c:pt>
                <c:pt idx="7">
                  <c:v>5.78</c:v>
                </c:pt>
                <c:pt idx="8">
                  <c:v>5.72</c:v>
                </c:pt>
                <c:pt idx="9">
                  <c:v>5.67</c:v>
                </c:pt>
                <c:pt idx="10">
                  <c:v>5.63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solidFill>
              <a:srgbClr val="D11F3C"/>
            </a:solidFill>
            <a:ln w="38100" cap="flat">
              <a:solidFill>
                <a:srgbClr val="D11F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11F3C"/>
              </a:solidFill>
              <a:ln w="9525" cap="flat">
                <a:solidFill>
                  <a:srgbClr val="D11F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</c:v>
                  </c:pt>
                  <c:pt idx="1">
                    <c:v>4</c:v>
                  </c:pt>
                  <c:pt idx="2">
                    <c:v>6</c:v>
                  </c:pt>
                  <c:pt idx="3">
                    <c:v>8</c:v>
                  </c:pt>
                  <c:pt idx="4">
                    <c:v>10</c:v>
                  </c:pt>
                  <c:pt idx="5">
                    <c:v>12</c:v>
                  </c:pt>
                  <c:pt idx="6">
                    <c:v>14</c:v>
                  </c:pt>
                  <c:pt idx="7">
                    <c:v>16</c:v>
                  </c:pt>
                  <c:pt idx="8">
                    <c:v>18</c:v>
                  </c:pt>
                  <c:pt idx="9">
                    <c:v>20</c:v>
                  </c:pt>
                  <c:pt idx="10">
                    <c:v>22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7.4</c:v>
                </c:pt>
                <c:pt idx="1">
                  <c:v>6.9</c:v>
                </c:pt>
                <c:pt idx="2">
                  <c:v>6.65</c:v>
                </c:pt>
                <c:pt idx="3">
                  <c:v>6.5</c:v>
                </c:pt>
                <c:pt idx="4">
                  <c:v>6.42</c:v>
                </c:pt>
                <c:pt idx="5">
                  <c:v>6.38</c:v>
                </c:pt>
                <c:pt idx="6">
                  <c:v>6.36</c:v>
                </c:pt>
                <c:pt idx="7">
                  <c:v>6.35</c:v>
                </c:pt>
                <c:pt idx="8">
                  <c:v>6.4</c:v>
                </c:pt>
                <c:pt idx="9">
                  <c:v>6.49</c:v>
                </c:pt>
                <c:pt idx="10">
                  <c:v>6.6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E616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E6168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1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5"/>
        </c:scaling>
        <c:delete val="0"/>
        <c:axPos val="l"/>
        <c:majorGridlines>
          <c:spPr>
            <a:ln w="6350" cap="flat">
              <a:solidFill>
                <a:srgbClr val="E3DA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1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4F5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A151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4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HR@10</c:v>
                </c:pt>
              </c:strCache>
            </c:strRef>
          </c:tx>
          <c:spPr>
            <a:solidFill>
              <a:srgbClr val="9A8A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5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8A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11F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8A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 = 10</c:v>
                  </c:pt>
                  <c:pt idx="1">
                    <c:v>L = 20</c:v>
                  </c:pt>
                  <c:pt idx="2">
                    <c:v>L = 50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0.271</c:v>
                </c:pt>
                <c:pt idx="1">
                  <c:v>0.278</c:v>
                </c:pt>
                <c:pt idx="2">
                  <c:v>0.274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1A15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5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85"/>
          <c:min val="0.26"/>
        </c:scaling>
        <c:delete val="0"/>
        <c:axPos val="l"/>
        <c:majorGridlines>
          <c:spPr>
            <a:ln w="6350" cap="flat">
              <a:solidFill>
                <a:srgbClr val="E3DA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1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4F5"/>
        </a:solidFill>
        <a:ln>
          <a:noFill/>
        </a:ln>
        <a:effectLst/>
      </c:spPr>
    </c:plotArea>
    <c:plotVisOnly val="1"/>
    <c:dispBlanksAs val="span"/>
  </c:chart>
  <c:spPr>
    <a:solidFill>
      <a:srgbClr val="F7F4F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HR@10</c:v>
                </c:pt>
              </c:strCache>
            </c:strRef>
          </c:tx>
          <c:spPr>
            <a:solidFill>
              <a:srgbClr val="9A8A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5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8A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A5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C776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11F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id only</c:v>
                  </c:pt>
                  <c:pt idx="1">
                    <c:v>+ genre</c:v>
                  </c:pt>
                  <c:pt idx="2">
                    <c:v>+ rating only</c:v>
                  </c:pt>
                  <c:pt idx="3">
                    <c:v>full hybrid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0.277</c:v>
                </c:pt>
                <c:pt idx="1">
                  <c:v>0.281</c:v>
                </c:pt>
                <c:pt idx="2">
                  <c:v>0.256</c:v>
                </c:pt>
                <c:pt idx="3">
                  <c:v>0.274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1A15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5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9"/>
          <c:min val="0.24"/>
        </c:scaling>
        <c:delete val="0"/>
        <c:axPos val="l"/>
        <c:majorGridlines>
          <c:spPr>
            <a:ln w="6350" cap="flat">
              <a:solidFill>
                <a:srgbClr val="E3DA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1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4F5"/>
        </a:solidFill>
        <a:ln>
          <a:noFill/>
        </a:ln>
        <a:effectLst/>
      </c:spPr>
    </c:plotArea>
    <c:plotVisOnly val="1"/>
    <c:dispBlanksAs val="span"/>
  </c:chart>
  <c:spPr>
    <a:solidFill>
      <a:srgbClr val="F7F4F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HR@10</c:v>
                </c:pt>
              </c:strCache>
            </c:strRef>
          </c:tx>
          <c:spPr>
            <a:solidFill>
              <a:srgbClr val="D11F3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5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11F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8A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8A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Reverie GRU</c:v>
                  </c:pt>
                  <c:pt idx="1">
                    <c:v>item-kNN</c:v>
                  </c:pt>
                  <c:pt idx="2">
                    <c:v>most-popular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0.257</c:v>
                </c:pt>
                <c:pt idx="1">
                  <c:v>0.076</c:v>
                </c:pt>
                <c:pt idx="2">
                  <c:v>0.042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1A15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5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b"/>
        <c:majorGridlines>
          <c:spPr>
            <a:ln w="6350" cap="flat">
              <a:solidFill>
                <a:srgbClr val="E3DA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1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4F5"/>
        </a:solidFill>
        <a:ln>
          <a:noFill/>
        </a:ln>
        <a:effectLst/>
      </c:spPr>
    </c:plotArea>
    <c:plotVisOnly val="1"/>
    <c:dispBlanksAs val="span"/>
  </c:chart>
  <c:spPr>
    <a:solidFill>
      <a:srgbClr val="F7F4F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9A8A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5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8A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8A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8A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7BD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global mean</c:v>
                  </c:pt>
                  <c:pt idx="1">
                    <c:v>user mean</c:v>
                  </c:pt>
                  <c:pt idx="2">
                    <c:v>movie mean</c:v>
                  </c:pt>
                  <c:pt idx="3">
                    <c:v>neural net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2.072</c:v>
                </c:pt>
                <c:pt idx="1">
                  <c:v>1.963</c:v>
                </c:pt>
                <c:pt idx="2">
                  <c:v>1.619</c:v>
                </c:pt>
                <c:pt idx="3">
                  <c:v>1.372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1A15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5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b"/>
        <c:majorGridlines>
          <c:spPr>
            <a:ln w="6350" cap="flat">
              <a:solidFill>
                <a:srgbClr val="E3DA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1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4F5"/>
        </a:solidFill>
        <a:ln>
          <a:noFill/>
        </a:ln>
        <a:effectLst/>
      </c:spPr>
    </c:plotArea>
    <c:plotVisOnly val="1"/>
    <c:dispBlanksAs val="span"/>
  </c:chart>
  <c:spPr>
    <a:solidFill>
      <a:srgbClr val="F7F4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Reverie answers one question — what should I watch next? Don't read names. (Amaly)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decision fatigue. Frame it as a human pain first, then the business consequence: churn. (Amaly)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beats: frictionless import, instant ranking, and the Blend (our differentiator for two viewers). (Amaly)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proof: on the confident picks, precision is perfect. Conservative but trustworthy. Detail comes later in the confusion-matrix slide. (Amaly)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Illustrative, but grounded: the recommender is a churn lever, and churn is enormous money. Say 'illustrative' so no one thinks we're claiming these as our results. (Cécile)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technical section. (Stephan)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end-to-end map. Don't read every box — point out the two model families (green GRU, blue NCF) and that real data sources feed a real product. (Stephan)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architectures, two questions. GRU = what's next (sequence). NCF = how much will you like it (collaborative). This is why we satisfy the rubric twice over. (Stephan)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GRU as a cell that folds each film into a running memory. The softmax head picks the next film. Keep it intuitive. (Stephan)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ideas: all-prefix training multiplies our data, and leave-one-out keeps it honest. The config is the validated one. (Stephan)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NCF is a feed-forward net: user, movie, and content embeddings concatenate into hidden layers that predict a rating. MSE loss, RMSE reported. (Stephan)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design: don't make the network relearn averages. Biases handle the baseline; the MLP learns the personal residual on top. (Stephan)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honesty point: the obvious approach (cold fold-in) didn't work, so we rank by nearest favorites in embedding space. We reached this by testing, not assumption. (Stephan)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results. Lea takes over. (Lea)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curve: train keeps dropping, val turns up at 16. Early stopping restores best weights. This is real evidence of overfitting control, which is graded. (Lea)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E3: history 20 wins. Then E4 picked the smaller net for a tighter train-val gap, E5 picked GRU for efficiency. Every number from validation. (Lea)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Genre adds the most; rating alone hurts (noisy without context). We ship the full hybrid: best MRR and it makes the thumbs-down work. (Lea)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0.257 vs baselines; the frozen-test headline is 0.242 +/- 0.002. Non-overlapping CIs vs item-kNN. This is the rigorous number. (Lea)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NCF beats every rating baseline. 94% of users improved, median RMSE 1.32. Cold start remains hard — we're upfront. (Lea)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held-out viewer's recent films: precision 1.00 (FP=0). Conservative — misses some loves — but never cries wolf. Trust over recall. (Amaly)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live product. Em and Amaly drive. (Em)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closes in under a second. The thumbs-down is the key interaction — live re-rank, no retraining. (Em)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app. Pre-load a history. If it breaks, play the backup recording. Keep it under 2 minutes. (Em + Amaly)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honest columns: what we learned, what's still broken, what's next. Honesty reads as maturity. (Cécile)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is done; open for Q&amp;A with the cheat sheet in front of you. Credit the open datasets. (Cécile)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5-1.png"/><Relationship Id="rId3" Type="http://schemas.openxmlformats.org/officeDocument/2006/relationships/image" Target="../media/image-1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6-1.png"/><Relationship Id="rId3" Type="http://schemas.openxmlformats.org/officeDocument/2006/relationships/image" Target="../media/image-1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9-1.png"/><Relationship Id="rId3" Type="http://schemas.openxmlformats.org/officeDocument/2006/relationships/image" Target="../media/image-1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D11F3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2194560"/>
            <a:ext cx="5486400" cy="5486400"/>
          </a:xfrm>
          <a:prstGeom prst="ellipse">
            <a:avLst/>
          </a:prstGeom>
          <a:solidFill>
            <a:srgbClr val="8C142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868680" cy="86868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14602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94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spc="200" kern="0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REVERIE</a:t>
            </a:r>
            <a:endParaRPr lang="en-US" sz="7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watch next?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IE University · Functional MVP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Amaly Attia · Em Echeverria · Lea Sarouphim Hochar · Stephan Pentchev · Cécile Tambey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choice made watching harder, not easier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0E0B10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4688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 of thousands of titles.
</a:t>
            </a:r>
            <a:endParaRPr lang="en-US" sz="26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minutes deciding.
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1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you give up.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989320" y="1828800"/>
            <a:ext cx="55321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45352" y="2084832"/>
            <a:ext cx="502920" cy="5029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6111" y="2215591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85432" y="2121408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fatigue is real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45352" y="2743200"/>
            <a:ext cx="5020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choice didn't help — it overwhelmed. Endless scrolling replaced watching, and the joy of picking a film turned into a chore.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3931920"/>
            <a:ext cx="55321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45352" y="4187952"/>
            <a:ext cx="502920" cy="5029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111" y="4318711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85432" y="4224528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platforms, fatigue = churn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245352" y="4846320"/>
            <a:ext cx="5020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viewer can't decide, they close the app. Repeated, that indecision becomes cancelled subscriptions — the metric streaming services fear most.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next film, in under a second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0E0B1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57400"/>
            <a:ext cx="777240" cy="77724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225948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1783080"/>
            <a:ext cx="9326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what you've seen, and Reverie ranks the whole catalog to your taste — instantly.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3337560"/>
            <a:ext cx="3502152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593592"/>
            <a:ext cx="502920" cy="5029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" y="372435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36192" y="3630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your history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96112" y="4251960"/>
            <a:ext cx="29900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Letterboxd or Netflix history. No cold quiz, no manual rating — just upload and go.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33672" y="3337560"/>
            <a:ext cx="3502152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89704" y="3593592"/>
            <a:ext cx="502920" cy="5029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463" y="3724351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9784" y="3630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to your taste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489704" y="4251960"/>
            <a:ext cx="29900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scores every film in the catalog against what you actually love, then hands you a short, trustworthy list.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827264" y="3337560"/>
            <a:ext cx="3694176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83296" y="3593592"/>
            <a:ext cx="502920" cy="5029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055" y="3724351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23376" y="3630168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Blend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83296" y="4251960"/>
            <a:ext cx="31821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night for two? The Blend finds picks that satisfy both viewers at once — one list, two tastes.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286000"/>
            <a:ext cx="7315200" cy="7315200"/>
          </a:xfrm>
          <a:prstGeom prst="ellipse">
            <a:avLst/>
          </a:prstGeom>
          <a:solidFill>
            <a:srgbClr val="D11F3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D1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on the high-confidence “you will love it” picks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4800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held-out real viewers — when Reverie is sure, it has been right. Every film it flagged as a “love” was 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2286000"/>
            <a:ext cx="2194560" cy="219456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0186" y="2856586"/>
            <a:ext cx="1053389" cy="10533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· ILLUSTRATIVE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better recommendations pay for themselves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0E0B10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37744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D1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~$1B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attributes this to its recommender, via reduced churn.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237744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D1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~€1.8M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6172200" y="34290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402336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from a </a:t>
            </a:r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1-point churn cut</a:t>
            </a:r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1M subscribers at €15/mo. A tiny relevance gain pays for the whole system.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D11F3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2194560"/>
            <a:ext cx="5486400" cy="5486400"/>
          </a:xfrm>
          <a:prstGeom prst="ellipse">
            <a:avLst/>
          </a:prstGeom>
          <a:solidFill>
            <a:srgbClr val="8C142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D1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2834640" y="2514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built it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88036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system, end to end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→ Data → Models → Product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71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29000" y="1737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737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006840" y="1737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+ UI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514600" cy="603504"/>
          </a:xfrm>
          <a:prstGeom prst="roundRect">
            <a:avLst>
              <a:gd name="adj" fmla="val 10606"/>
            </a:avLst>
          </a:prstGeom>
          <a:solidFill>
            <a:srgbClr val="1C1620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48840"/>
            <a:ext cx="244144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sequences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825496"/>
            <a:ext cx="2514600" cy="603504"/>
          </a:xfrm>
          <a:prstGeom prst="roundRect">
            <a:avLst>
              <a:gd name="adj" fmla="val 10606"/>
            </a:avLst>
          </a:prstGeom>
          <a:solidFill>
            <a:srgbClr val="1C1620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2825496"/>
            <a:ext cx="244144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ratings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(samlearner, 9.9M)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502152"/>
            <a:ext cx="2514600" cy="603504"/>
          </a:xfrm>
          <a:prstGeom prst="roundRect">
            <a:avLst>
              <a:gd name="adj" fmla="val 10606"/>
            </a:avLst>
          </a:prstGeom>
          <a:solidFill>
            <a:srgbClr val="1C1620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502152"/>
            <a:ext cx="244144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metadata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78808"/>
            <a:ext cx="2514600" cy="603504"/>
          </a:xfrm>
          <a:prstGeom prst="roundRect">
            <a:avLst>
              <a:gd name="adj" fmla="val 10606"/>
            </a:avLst>
          </a:prstGeom>
          <a:solidFill>
            <a:srgbClr val="1C1620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4178808"/>
            <a:ext cx="244144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genres, ratings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855464"/>
            <a:ext cx="2514600" cy="603504"/>
          </a:xfrm>
          <a:prstGeom prst="roundRect">
            <a:avLst>
              <a:gd name="adj" fmla="val 10606"/>
            </a:avLst>
          </a:prstGeom>
          <a:solidFill>
            <a:srgbClr val="1C1620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4855464"/>
            <a:ext cx="2441448" cy="6035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upload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/ Netflix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29000" y="214884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1C1620"/>
          </a:solidFill>
          <a:ln/>
        </p:spPr>
      </p:sp>
      <p:sp>
        <p:nvSpPr>
          <p:cNvPr id="20" name="Text 18"/>
          <p:cNvSpPr/>
          <p:nvPr/>
        </p:nvSpPr>
        <p:spPr>
          <a:xfrm>
            <a:off x="3465576" y="2148840"/>
            <a:ext cx="2441448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build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+ catalog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315468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1C1620"/>
          </a:solidFill>
          <a:ln/>
        </p:spPr>
      </p:sp>
      <p:sp>
        <p:nvSpPr>
          <p:cNvPr id="22" name="Text 20"/>
          <p:cNvSpPr/>
          <p:nvPr/>
        </p:nvSpPr>
        <p:spPr>
          <a:xfrm>
            <a:off x="3465576" y="3154680"/>
            <a:ext cx="2441448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· embeddings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catalog.json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29000" y="416052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1C1620"/>
          </a:solidFill>
          <a:ln/>
        </p:spPr>
      </p:sp>
      <p:sp>
        <p:nvSpPr>
          <p:cNvPr id="24" name="Text 22"/>
          <p:cNvSpPr/>
          <p:nvPr/>
        </p:nvSpPr>
        <p:spPr>
          <a:xfrm>
            <a:off x="3465576" y="4160520"/>
            <a:ext cx="2441448" cy="868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history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· friends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2148840"/>
            <a:ext cx="2514600" cy="731520"/>
          </a:xfrm>
          <a:prstGeom prst="roundRect">
            <a:avLst>
              <a:gd name="adj" fmla="val 8750"/>
            </a:avLst>
          </a:prstGeom>
          <a:solidFill>
            <a:srgbClr val="2BA572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2148840"/>
            <a:ext cx="2441448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(RNN)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next-item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2999232"/>
            <a:ext cx="2514600" cy="731520"/>
          </a:xfrm>
          <a:prstGeom prst="roundRect">
            <a:avLst>
              <a:gd name="adj" fmla="val 8750"/>
            </a:avLst>
          </a:prstGeom>
          <a:solidFill>
            <a:srgbClr val="3E7BD4"/>
          </a:solidFill>
          <a:ln/>
        </p:spPr>
      </p:sp>
      <p:sp>
        <p:nvSpPr>
          <p:cNvPr id="28" name="Text 26"/>
          <p:cNvSpPr/>
          <p:nvPr/>
        </p:nvSpPr>
        <p:spPr>
          <a:xfrm>
            <a:off x="6254496" y="2999232"/>
            <a:ext cx="2441448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(ANN)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regression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849624"/>
            <a:ext cx="2514600" cy="731520"/>
          </a:xfrm>
          <a:prstGeom prst="roundRect">
            <a:avLst>
              <a:gd name="adj" fmla="val 8750"/>
            </a:avLst>
          </a:prstGeom>
          <a:solidFill>
            <a:srgbClr val="1C1620"/>
          </a:solidFill>
          <a:ln w="12700">
            <a:solidFill>
              <a:srgbClr val="D11F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3849624"/>
            <a:ext cx="2441448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Nearest-favorites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ranker (serving)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06840" y="2148840"/>
            <a:ext cx="2514600" cy="1280160"/>
          </a:xfrm>
          <a:prstGeom prst="roundRect">
            <a:avLst>
              <a:gd name="adj" fmla="val 5000"/>
            </a:avLst>
          </a:prstGeom>
          <a:solidFill>
            <a:srgbClr val="1C1620"/>
          </a:solidFill>
          <a:ln/>
        </p:spPr>
      </p:sp>
      <p:sp>
        <p:nvSpPr>
          <p:cNvPr id="32" name="Text 30"/>
          <p:cNvSpPr/>
          <p:nvPr/>
        </p:nvSpPr>
        <p:spPr>
          <a:xfrm>
            <a:off x="9043416" y="2148840"/>
            <a:ext cx="2441448" cy="1280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FastAPI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/recommend · /catalog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/import · /blend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 · /friends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06840" y="3566160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1C1620"/>
          </a:solidFill>
          <a:ln/>
        </p:spPr>
      </p:sp>
      <p:sp>
        <p:nvSpPr>
          <p:cNvPr id="34" name="Text 32"/>
          <p:cNvSpPr/>
          <p:nvPr/>
        </p:nvSpPr>
        <p:spPr>
          <a:xfrm>
            <a:off x="9043416" y="3566160"/>
            <a:ext cx="2441448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React + Vite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· swipe / cards</a:t>
            </a:r>
            <a:endParaRPr lang="en-US" sz="11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3200400"/>
            <a:ext cx="256032" cy="256032"/>
          </a:xfrm>
          <a:prstGeom prst="rect">
            <a:avLst/>
          </a:prstGeom>
        </p:spPr>
      </p:pic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3200400"/>
            <a:ext cx="256032" cy="256032"/>
          </a:xfrm>
          <a:prstGeom prst="rect">
            <a:avLst/>
          </a:prstGeom>
        </p:spPr>
      </p:pic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0"/>
            <a:ext cx="256032" cy="25603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predictive networks (an RNN and an ANN) feed a serving layer; a FastAPI backend and a React frontend make it a real product.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NETWORKS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product, two questions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9050">
            <a:solidFill>
              <a:srgbClr val="2BA57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2BA57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2238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03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· GRU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comes next in your sequence?”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34290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E6168"/>
                </a:solidFill>
              </a:rPr>
              <a:t>Recurrent network (RNN) — order matters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E6168"/>
                </a:solidFill>
              </a:rPr>
              <a:t>Sequential: reads your history in order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E6168"/>
                </a:solidFill>
              </a:rPr>
              <a:t>Classification: softmax over the catalog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E6168"/>
                </a:solidFill>
              </a:rPr>
              <a:t>Trained on MovieLens watch sequences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7830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9050">
            <a:solidFill>
              <a:srgbClr val="3E7BD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3E7BD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22238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103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NCF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46520" y="28803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much will you like this film?”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37960" y="34290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E6168"/>
                </a:solidFill>
              </a:rPr>
              <a:t>Feed-forward network (ANN) with embeddings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E6168"/>
                </a:solidFill>
              </a:rPr>
              <a:t>Collaborative: learns from everyone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E6168"/>
                </a:solidFill>
              </a:rPr>
              <a:t>Regression: a predicted rating 1–10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6E6168"/>
                </a:solidFill>
              </a:rPr>
              <a:t>Trained on 9.9M Letterboxd ratings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· GRU · THE RECURRENT NETWORK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cell that remembers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71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194560" cy="914400"/>
          </a:xfrm>
          <a:prstGeom prst="roundRect">
            <a:avLst>
              <a:gd name="adj" fmla="val 7000"/>
            </a:avLst>
          </a:prstGeom>
          <a:solidFill>
            <a:srgbClr val="1C1620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2011680"/>
            <a:ext cx="2121408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20 films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233172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29000" y="201168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1C1620"/>
          </a:solidFill>
          <a:ln/>
        </p:spPr>
      </p:sp>
      <p:sp>
        <p:nvSpPr>
          <p:cNvPr id="9" name="Text 6"/>
          <p:cNvSpPr/>
          <p:nvPr/>
        </p:nvSpPr>
        <p:spPr>
          <a:xfrm>
            <a:off x="3465576" y="2011680"/>
            <a:ext cx="2304288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step: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32 ⊕ genre ⊕ rating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33172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0" y="2011680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2BA572"/>
          </a:solidFill>
          <a:ln/>
        </p:spPr>
      </p:sp>
      <p:sp>
        <p:nvSpPr>
          <p:cNvPr id="12" name="Text 8"/>
          <p:cNvSpPr/>
          <p:nvPr/>
        </p:nvSpPr>
        <p:spPr>
          <a:xfrm>
            <a:off x="6437376" y="2011680"/>
            <a:ext cx="2212848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64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+ update gates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33172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281160" y="2011680"/>
            <a:ext cx="2240280" cy="914400"/>
          </a:xfrm>
          <a:prstGeom prst="roundRect">
            <a:avLst>
              <a:gd name="adj" fmla="val 7000"/>
            </a:avLst>
          </a:prstGeom>
          <a:solidFill>
            <a:srgbClr val="1C1620"/>
          </a:solidFill>
          <a:ln/>
        </p:spPr>
      </p:sp>
      <p:sp>
        <p:nvSpPr>
          <p:cNvPr id="15" name="Text 10"/>
          <p:cNvSpPr/>
          <p:nvPr/>
        </p:nvSpPr>
        <p:spPr>
          <a:xfrm>
            <a:off x="9317736" y="2011680"/>
            <a:ext cx="2167128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→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(next film)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C1620"/>
          </a:solidFill>
          <a:ln w="12700">
            <a:solidFill>
              <a:srgbClr val="2BA57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4400" y="338328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B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loop: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film's features update a hidden state h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is passed to the next step. The hidden state carries everything the model has seen so far.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is a classification over the catalog, trained with cross-entropy loss. (Concepts from class: embeddings, the memory loop, softmax.)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· GRU · UNROLLED &amp; TUNED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on every prefix, evaluated leave-one-out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271E2C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011680"/>
            <a:ext cx="1481328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1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2286000"/>
            <a:ext cx="256032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88920" y="201168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271E2C"/>
          </a:solidFill>
          <a:ln/>
        </p:spPr>
      </p:sp>
      <p:sp>
        <p:nvSpPr>
          <p:cNvPr id="9" name="Text 6"/>
          <p:cNvSpPr/>
          <p:nvPr/>
        </p:nvSpPr>
        <p:spPr>
          <a:xfrm>
            <a:off x="2825496" y="2011680"/>
            <a:ext cx="1481328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2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228600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0" y="201168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271E2C"/>
          </a:solidFill>
          <a:ln/>
        </p:spPr>
      </p:sp>
      <p:sp>
        <p:nvSpPr>
          <p:cNvPr id="12" name="Text 8"/>
          <p:cNvSpPr/>
          <p:nvPr/>
        </p:nvSpPr>
        <p:spPr>
          <a:xfrm>
            <a:off x="4791456" y="2011680"/>
            <a:ext cx="1481328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3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286000"/>
            <a:ext cx="25603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720840" y="201168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271E2C"/>
          </a:solidFill>
          <a:ln/>
        </p:spPr>
      </p:sp>
      <p:sp>
        <p:nvSpPr>
          <p:cNvPr id="15" name="Text 10"/>
          <p:cNvSpPr/>
          <p:nvPr/>
        </p:nvSpPr>
        <p:spPr>
          <a:xfrm>
            <a:off x="6757416" y="2011680"/>
            <a:ext cx="1481328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2286000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686800" y="201168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D11F3C"/>
          </a:solidFill>
          <a:ln/>
        </p:spPr>
      </p:sp>
      <p:sp>
        <p:nvSpPr>
          <p:cNvPr id="18" name="Text 12"/>
          <p:cNvSpPr/>
          <p:nvPr/>
        </p:nvSpPr>
        <p:spPr>
          <a:xfrm>
            <a:off x="8723376" y="2011680"/>
            <a:ext cx="1481328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next?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320040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96112" y="3456432"/>
            <a:ext cx="502920" cy="5029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71" y="3587191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36192" y="349300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All-prefix training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896112" y="4114800"/>
            <a:ext cx="4837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history we learn every prefix → next-film pair, so one viewer becomes many training examples.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 evaluation: the last film per user is held out and never seen in training.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72200" y="320040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28232" y="3456432"/>
            <a:ext cx="502920" cy="502920"/>
          </a:xfrm>
          <a:prstGeom prst="ellipse">
            <a:avLst/>
          </a:prstGeom>
          <a:solidFill>
            <a:srgbClr val="2BA57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991" y="3587191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68312" y="349300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chosen on validation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6428232" y="4114800"/>
            <a:ext cx="4837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20 history window, embedding 32, 64 GRU units.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chosen over LSTM — same score, fewer parameters.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Train-only statistics — no leakage into the held-out set.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NCF · THE FEED-FORWARD NETWORK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into hidden layers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71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286000" cy="640080"/>
          </a:xfrm>
          <a:prstGeom prst="roundRect">
            <a:avLst>
              <a:gd name="adj" fmla="val 10000"/>
            </a:avLst>
          </a:prstGeom>
          <a:solidFill>
            <a:srgbClr val="3E7BD4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965960"/>
            <a:ext cx="2212848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→ emb 50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2286000" cy="640080"/>
          </a:xfrm>
          <a:prstGeom prst="roundRect">
            <a:avLst>
              <a:gd name="adj" fmla="val 10000"/>
            </a:avLst>
          </a:prstGeom>
          <a:solidFill>
            <a:srgbClr val="3E7BD4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2697480"/>
            <a:ext cx="2212848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id → emb 50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1C1620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3429000"/>
            <a:ext cx="2212848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tower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genres + numerics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2880360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520440" y="269748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271E2C"/>
          </a:solidFill>
          <a:ln/>
        </p:spPr>
      </p:sp>
      <p:sp>
        <p:nvSpPr>
          <p:cNvPr id="13" name="Text 10"/>
          <p:cNvSpPr/>
          <p:nvPr/>
        </p:nvSpPr>
        <p:spPr>
          <a:xfrm>
            <a:off x="3557016" y="2697480"/>
            <a:ext cx="1664208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880360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852160" y="2286000"/>
            <a:ext cx="2286000" cy="640080"/>
          </a:xfrm>
          <a:prstGeom prst="roundRect">
            <a:avLst>
              <a:gd name="adj" fmla="val 10000"/>
            </a:avLst>
          </a:prstGeom>
          <a:solidFill>
            <a:srgbClr val="1C1620"/>
          </a:solidFill>
          <a:ln/>
        </p:spPr>
      </p:sp>
      <p:sp>
        <p:nvSpPr>
          <p:cNvPr id="16" name="Text 12"/>
          <p:cNvSpPr/>
          <p:nvPr/>
        </p:nvSpPr>
        <p:spPr>
          <a:xfrm>
            <a:off x="5888736" y="2286000"/>
            <a:ext cx="2212848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 · ReLU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852160" y="3017520"/>
            <a:ext cx="2286000" cy="640080"/>
          </a:xfrm>
          <a:prstGeom prst="roundRect">
            <a:avLst>
              <a:gd name="adj" fmla="val 10000"/>
            </a:avLst>
          </a:prstGeom>
          <a:solidFill>
            <a:srgbClr val="1C1620"/>
          </a:solidFill>
          <a:ln/>
        </p:spPr>
      </p:sp>
      <p:sp>
        <p:nvSpPr>
          <p:cNvPr id="18" name="Text 14"/>
          <p:cNvSpPr/>
          <p:nvPr/>
        </p:nvSpPr>
        <p:spPr>
          <a:xfrm>
            <a:off x="5888736" y="3017520"/>
            <a:ext cx="2212848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32 · ReLU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dropout</a:t>
            </a:r>
            <a:endParaRPr lang="en-US" sz="10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880360"/>
            <a:ext cx="274320" cy="2743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732520" y="2697480"/>
            <a:ext cx="2743200" cy="822960"/>
          </a:xfrm>
          <a:prstGeom prst="roundRect">
            <a:avLst>
              <a:gd name="adj" fmla="val 7778"/>
            </a:avLst>
          </a:prstGeom>
          <a:solidFill>
            <a:srgbClr val="D11F3C"/>
          </a:solidFill>
          <a:ln/>
        </p:spPr>
      </p:sp>
      <p:sp>
        <p:nvSpPr>
          <p:cNvPr id="21" name="Text 16"/>
          <p:cNvSpPr/>
          <p:nvPr/>
        </p:nvSpPr>
        <p:spPr>
          <a:xfrm>
            <a:off x="8769096" y="2697480"/>
            <a:ext cx="2670048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1–10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40080" y="45720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1C1620"/>
          </a:solidFill>
          <a:ln w="12700">
            <a:solidFill>
              <a:srgbClr val="3E7BD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14400" y="45720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Dense + ReLU layers are the hidden layers that learn what makes you you.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is MSE, reported as RMSE.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NCF · FORWARD PASS &amp;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Biases recover the baseline, embeddings learn the residual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0E0B1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 =  </a:t>
            </a:r>
            <a:pPr algn="ctr" indent="0" marL="0">
              <a:buNone/>
            </a:pPr>
            <a:r>
              <a:rPr lang="en-US" sz="2000" b="1" dirty="0">
                <a:solidFill>
                  <a:srgbClr val="E5B5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mean</a:t>
            </a:r>
            <a:pPr algn="ctr" indent="0" marL="0">
              <a:buNone/>
            </a:pPr>
            <a:r>
              <a:rPr lang="en-US" sz="2000" dirty="0">
                <a:solidFill>
                  <a:srgbClr val="B9A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pPr algn="ctr" indent="0" marL="0">
              <a:buNone/>
            </a:pPr>
            <a:r>
              <a:rPr lang="en-US" sz="2000" b="1" dirty="0">
                <a:solidFill>
                  <a:srgbClr val="3E7B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bias</a:t>
            </a:r>
            <a:pPr algn="ctr" indent="0" marL="0">
              <a:buNone/>
            </a:pPr>
            <a:r>
              <a:rPr lang="en-US" sz="2000" dirty="0">
                <a:solidFill>
                  <a:srgbClr val="B9A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pPr algn="ctr" indent="0" marL="0">
              <a:buNone/>
            </a:pPr>
            <a:r>
              <a:rPr lang="en-US" sz="2000" b="1" dirty="0">
                <a:solidFill>
                  <a:srgbClr val="3E7B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bias</a:t>
            </a:r>
            <a:pPr algn="ctr" indent="0" marL="0">
              <a:buNone/>
            </a:pPr>
            <a:r>
              <a:rPr lang="en-US" sz="2000" dirty="0">
                <a:solidFill>
                  <a:srgbClr val="B9A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pPr algn="ctr" indent="0" marL="0">
              <a:buNone/>
            </a:pPr>
            <a:r>
              <a:rPr lang="en-US" sz="2000" b="1" dirty="0">
                <a:solidFill>
                  <a:srgbClr val="D1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MLP(u, m, content)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4005072"/>
            <a:ext cx="502920" cy="5029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4135831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6192" y="404164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Biases do the easy work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96112" y="4663440"/>
            <a:ext cx="4837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mean plus per-user and per-movie biases recover the obvious baseline rating — cheaply and stably.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374904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28232" y="4005072"/>
            <a:ext cx="502920" cy="502920"/>
          </a:xfrm>
          <a:prstGeom prst="ellipse">
            <a:avLst/>
          </a:prstGeom>
          <a:solidFill>
            <a:srgbClr val="3E7BD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4135831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68312" y="404164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learn the rest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428232" y="4663440"/>
            <a:ext cx="4837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network (MLP) learns the residual — the subtle, personal signal that makes your taste yours.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· THE REAL RECOMMENDER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rank by your nearest favorites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7F4F5"/>
          </a:solidFill>
          <a:ln w="19050">
            <a:solidFill>
              <a:srgbClr val="E5B5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57400"/>
            <a:ext cx="731520" cy="731520"/>
          </a:xfrm>
          <a:prstGeom prst="ellipse">
            <a:avLst/>
          </a:prstGeom>
          <a:solidFill>
            <a:srgbClr val="E5B56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22475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783080"/>
            <a:ext cx="9326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design choice: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cold fold-in (building a fresh user vector from a few ratings) underperformed, so we don't ship 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337560"/>
            <a:ext cx="53492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593592"/>
            <a:ext cx="502920" cy="5029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" y="372435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36192" y="363016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 instead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96112" y="4251960"/>
            <a:ext cx="4837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each film by its similarity to your highest-rated films, in the learned movie-embedding space.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genre anchor and a recency nudge to keep it fresh.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3337560"/>
            <a:ext cx="53492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28232" y="3593592"/>
            <a:ext cx="502920" cy="502920"/>
          </a:xfrm>
          <a:prstGeom prst="ellipse">
            <a:avLst/>
          </a:prstGeom>
          <a:solidFill>
            <a:srgbClr val="E5B56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991" y="3724351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68312" y="363016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right call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28232" y="4251960"/>
            <a:ext cx="4837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movie-embedding space is well-trained and reliable.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user vector from only a few ratings is not — so we lean on what's trustworthy. A choice we reached by testing.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D11F3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2194560"/>
            <a:ext cx="5486400" cy="5486400"/>
          </a:xfrm>
          <a:prstGeom prst="ellipse">
            <a:avLst/>
          </a:prstGeom>
          <a:solidFill>
            <a:srgbClr val="8C142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D1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2834640" y="2514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88036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work?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PREVENTION · OUR REAL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watched it overfit, then stopped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8308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78308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45552" y="2039112"/>
            <a:ext cx="502920" cy="502920"/>
          </a:xfrm>
          <a:prstGeom prst="ellipse">
            <a:avLst/>
          </a:prstGeom>
          <a:solidFill>
            <a:srgbClr val="2BA57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311" y="2169871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85632" y="2075688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 · epoch 16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845552" y="26974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bottoms at epoch 16, then climbs. We stop there and restore the best weights.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589520" y="393192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845552" y="4187952"/>
            <a:ext cx="502920" cy="5029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311" y="4318711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85632" y="4224528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run, not theory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845552" y="484632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keeps falling while val turns up — the textbook overfitting signature, caught live.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· CHOSEN ON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length: 20 wins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82880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45552" y="2084832"/>
            <a:ext cx="502920" cy="5029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311" y="2215591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85632" y="2121408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history length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845552" y="2743200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beats 10 and 50 on HR@10 — recent taste carries the signal.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589520" y="393192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845552" y="4187952"/>
            <a:ext cx="502920" cy="502920"/>
          </a:xfrm>
          <a:prstGeom prst="ellipse">
            <a:avLst/>
          </a:prstGeom>
          <a:solidFill>
            <a:srgbClr val="2BA57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311" y="4318711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85632" y="4224528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+ E5 decisions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845552" y="4846320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d32 / u64 (smaller train–val gap than bigger nets); GRU over LSTM (same score, fewer params).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· E6 ABLATION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 helps. Rating alone hurts.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82880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45552" y="2084832"/>
            <a:ext cx="502920" cy="502920"/>
          </a:xfrm>
          <a:prstGeom prst="ellipse">
            <a:avLst/>
          </a:prstGeom>
          <a:solidFill>
            <a:srgbClr val="2BA57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311" y="2215591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85632" y="2121408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ship the hybrid?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845552" y="2743200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wins on MRR (0.135), the ranking-quality metric — and powers the live thumbs-down.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589520" y="393192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845552" y="4187952"/>
            <a:ext cx="502920" cy="5029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311" y="4318711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85632" y="4224528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earns its place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845552" y="4846320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rating channel is what lets a “no” re-rank instantly in the demo. Alone it's noisy; with genre it's gold.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RANKING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 beyond the baselines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828800"/>
            <a:ext cx="3931920" cy="4023360"/>
          </a:xfrm>
          <a:prstGeom prst="roundRect">
            <a:avLst>
              <a:gd name="adj" fmla="val 2791"/>
            </a:avLst>
          </a:prstGeom>
          <a:solidFill>
            <a:srgbClr val="0E0B10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0" y="23317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1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0.242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589520" y="3246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B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0.002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test set, 3 seeds.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42062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95% CIs vs item-kNN — the strong baseline shallow RNNs often lose to.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· RATING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RMSE than every baseline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82880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45552" y="2084832"/>
            <a:ext cx="502920" cy="502920"/>
          </a:xfrm>
          <a:prstGeom prst="ellipse">
            <a:avLst/>
          </a:prstGeom>
          <a:solidFill>
            <a:srgbClr val="3E7BD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311" y="2215591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85632" y="2121408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845552" y="2743200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net (1.372) beats the movie-mean baseline for 94% of users — median per-user RMSE 1.32.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589520" y="393192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845552" y="4187952"/>
            <a:ext cx="502920" cy="502920"/>
          </a:xfrm>
          <a:prstGeom prst="ellipse">
            <a:avLst/>
          </a:prstGeom>
          <a:solidFill>
            <a:srgbClr val="E5B56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311" y="4318711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85632" y="4224528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honest about it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845552" y="4846320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is still hard for brand-new viewers — and we say so rather than hide it.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YOU LOVE IT?” · THE CLASSIFICATION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false alarms → precision 1.00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not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love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65960" y="22860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37490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286000"/>
            <a:ext cx="1408176" cy="1408176"/>
          </a:xfrm>
          <a:prstGeom prst="rect">
            <a:avLst/>
          </a:prstGeom>
          <a:solidFill>
            <a:srgbClr val="271E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423160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32918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286000"/>
            <a:ext cx="1408176" cy="1408176"/>
          </a:xfrm>
          <a:prstGeom prst="rect">
            <a:avLst/>
          </a:prstGeom>
          <a:solidFill>
            <a:srgbClr val="2BA5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423160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937760" y="32918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3749040"/>
            <a:ext cx="1408176" cy="1408176"/>
          </a:xfrm>
          <a:prstGeom prst="rect">
            <a:avLst/>
          </a:prstGeom>
          <a:solidFill>
            <a:srgbClr val="CC776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886200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74720" y="475488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749040"/>
            <a:ext cx="1408176" cy="1408176"/>
          </a:xfrm>
          <a:prstGeom prst="rect">
            <a:avLst/>
          </a:prstGeom>
          <a:solidFill>
            <a:srgbClr val="D11F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886200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937760" y="475488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0" y="2194560"/>
            <a:ext cx="384048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36992" y="2450592"/>
            <a:ext cx="502920" cy="5029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7751" y="2581351"/>
            <a:ext cx="241402" cy="24140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577072" y="2487168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Conservative, but trustworthy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936992" y="3108960"/>
            <a:ext cx="33284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alarms: every film flagged as a “love” actually was one.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misses some (39 false negatives) — but the short list it gives you is one you can trust.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trustworthy short list is exactly what a recommender needs.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D11F3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2194560"/>
            <a:ext cx="5486400" cy="5486400"/>
          </a:xfrm>
          <a:prstGeom prst="ellipse">
            <a:avLst/>
          </a:prstGeom>
          <a:solidFill>
            <a:srgbClr val="8C142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D1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2834640" y="2514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MVP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88036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working product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 · REAL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talks to the model in under a second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71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68880" cy="1005840"/>
          </a:xfrm>
          <a:prstGeom prst="roundRect">
            <a:avLst>
              <a:gd name="adj" fmla="val 6364"/>
            </a:avLst>
          </a:prstGeom>
          <a:solidFill>
            <a:srgbClr val="1C1620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2286000"/>
            <a:ext cx="239572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· swipe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651760"/>
            <a:ext cx="29260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749040" y="228600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1C1620"/>
          </a:solidFill>
          <a:ln/>
        </p:spPr>
      </p:sp>
      <p:sp>
        <p:nvSpPr>
          <p:cNvPr id="9" name="Text 6"/>
          <p:cNvSpPr/>
          <p:nvPr/>
        </p:nvSpPr>
        <p:spPr>
          <a:xfrm>
            <a:off x="3785616" y="2286000"/>
            <a:ext cx="221284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/recommend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651760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75120" y="228600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3E7BD4"/>
          </a:solidFill>
          <a:ln/>
        </p:spPr>
      </p:sp>
      <p:sp>
        <p:nvSpPr>
          <p:cNvPr id="12" name="Text 8"/>
          <p:cNvSpPr/>
          <p:nvPr/>
        </p:nvSpPr>
        <p:spPr>
          <a:xfrm>
            <a:off x="6711696" y="2286000"/>
            <a:ext cx="221284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model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651760"/>
            <a:ext cx="292608" cy="29260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601200" y="2286000"/>
            <a:ext cx="1920240" cy="1005840"/>
          </a:xfrm>
          <a:prstGeom prst="roundRect">
            <a:avLst>
              <a:gd name="adj" fmla="val 6364"/>
            </a:avLst>
          </a:prstGeom>
          <a:solidFill>
            <a:srgbClr val="D11F3C"/>
          </a:solidFill>
          <a:ln/>
        </p:spPr>
      </p:sp>
      <p:sp>
        <p:nvSpPr>
          <p:cNvPr id="15" name="Text 10"/>
          <p:cNvSpPr/>
          <p:nvPr/>
        </p:nvSpPr>
        <p:spPr>
          <a:xfrm>
            <a:off x="9637776" y="2286000"/>
            <a:ext cx="184708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74904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C1620"/>
          </a:solidFill>
          <a:ln w="12700">
            <a:solidFill>
              <a:srgbClr val="D11F3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05840" y="4160520"/>
            <a:ext cx="731520" cy="7315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035" y="435071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011680" y="3749040"/>
            <a:ext cx="9326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thumbs-down appends to your live history and re-ranks instantly —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retraining.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7315200" cy="7315200"/>
          </a:xfrm>
          <a:prstGeom prst="ellipse">
            <a:avLst/>
          </a:prstGeom>
          <a:solidFill>
            <a:srgbClr val="D11F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1828800"/>
            <a:ext cx="2103120" cy="21031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6011" y="2375611"/>
            <a:ext cx="1009498" cy="10094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114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MVP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5B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if it doesn't play live, export demo.mov to .mp4 (H.264) and play the recording.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Lessons, known issues, next steps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411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3DA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02152" cy="416052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39112"/>
            <a:ext cx="502920" cy="502920"/>
          </a:xfrm>
          <a:prstGeom prst="ellipse">
            <a:avLst/>
          </a:prstGeom>
          <a:solidFill>
            <a:srgbClr val="2BA57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2169871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2075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2697480"/>
            <a:ext cx="299008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signal beats content — a single profile overfits.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“Drama” tags half of all films; rank by nearest favorites instead.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baselines matter more than one flashy number.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33672" y="1783080"/>
            <a:ext cx="3502152" cy="416052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2039112"/>
            <a:ext cx="502920" cy="502920"/>
          </a:xfrm>
          <a:prstGeom prst="ellipse">
            <a:avLst/>
          </a:prstGeom>
          <a:solidFill>
            <a:srgbClr val="E5B56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463" y="216987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9784" y="2075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89704" y="2697480"/>
            <a:ext cx="299008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start: a brand-new viewer sits near their average.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lean to a Letterboxd cinephile cluster.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 hotlink the Letterboxd CDN — a fragile dependency.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827264" y="1783080"/>
            <a:ext cx="3694176" cy="4160520"/>
          </a:xfrm>
          <a:prstGeom prst="roundRect">
            <a:avLst>
              <a:gd name="adj" fmla="val 2228"/>
            </a:avLst>
          </a:prstGeom>
          <a:solidFill>
            <a:srgbClr val="FFFFFF"/>
          </a:solidFill>
          <a:ln w="12700">
            <a:solidFill>
              <a:srgbClr val="E3DAD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83296" y="2039112"/>
            <a:ext cx="502920" cy="50292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055" y="2169871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23376" y="2075688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083296" y="2697480"/>
            <a:ext cx="318211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fine-tuning as a history grows.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mainstream-vs-deep-cuts dial.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E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Blend beyond two people.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D11F3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2194560"/>
            <a:ext cx="5486400" cy="5486400"/>
          </a:xfrm>
          <a:prstGeom prst="ellipse">
            <a:avLst/>
          </a:prstGeom>
          <a:solidFill>
            <a:srgbClr val="8C142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868680" cy="868680"/>
          </a:xfrm>
          <a:prstGeom prst="ellipse">
            <a:avLst/>
          </a:prstGeom>
          <a:solidFill>
            <a:srgbClr val="D11F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15974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68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1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 data: MovieLens · samlearner &amp; gsimonx37 (Letterboxd) · TMDB.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github.com/em-ech/reverie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Reverie — What should I watch next?</dc:title>
  <dc:subject>PptxGenJS Presentation</dc:subject>
  <dc:creator>Reverie Team — IE University</dc:creator>
  <cp:lastModifiedBy>Reverie Team — IE University</cp:lastModifiedBy>
  <cp:revision>1</cp:revision>
  <dcterms:created xsi:type="dcterms:W3CDTF">2026-06-30T13:12:44Z</dcterms:created>
  <dcterms:modified xsi:type="dcterms:W3CDTF">2026-06-30T13:12:44Z</dcterms:modified>
</cp:coreProperties>
</file>