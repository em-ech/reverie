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HR@10</c:v>
                </c:pt>
              </c:strCache>
            </c:strRef>
          </c:tx>
          <c:spPr>
            <a:solidFill>
              <a:srgbClr val="D11F3C"/>
            </a:solidFill>
            <a:effectLst/>
          </c:spPr>
          <c:invertIfNegative val="0"/>
          <c:dLbls>
            <c:numFmt formatCode="0.000" sourceLinked="0"/>
            <c:txPr>
              <a:bodyPr/>
              <a:lstStyle/>
              <a:p>
                <a:pPr>
                  <a:defRPr b="1" i="0" strike="noStrike" sz="1200" u="none">
                    <a:solidFill>
                      <a:srgbClr val="1A151D"/>
                    </a:solidFill>
                    <a:latin typeface="Arial"/>
                  </a:defRPr>
                </a:pPr>
              </a:p>
            </c:txPr>
            <c:showLegendKey val="0"/>
            <c:showVal val="1"/>
            <c:showCatName val="0"/>
            <c:showSerName val="0"/>
            <c:showPercent val="0"/>
            <c:showBubbleSize val="0"/>
            <c:showLeaderLines val="0"/>
          </c:dLbls>
          <c:dPt>
            <c:idx val="0"/>
            <c:invertIfNegative val="0"/>
            <c:bubble3D val="0"/>
            <c:spPr>
              <a:solidFill>
                <a:srgbClr val="D11F3C"/>
              </a:solidFill>
              <a:effectLst/>
            </c:spPr>
          </c:dPt>
          <c:dPt>
            <c:idx val="1"/>
            <c:invertIfNegative val="0"/>
            <c:bubble3D val="0"/>
            <c:spPr>
              <a:solidFill>
                <a:srgbClr val="9A8A90"/>
              </a:solidFill>
              <a:effectLst/>
            </c:spPr>
          </c:dPt>
          <c:dPt>
            <c:idx val="2"/>
            <c:invertIfNegative val="0"/>
            <c:bubble3D val="0"/>
            <c:spPr>
              <a:solidFill>
                <a:srgbClr val="9A8A90"/>
              </a:solidFill>
              <a:effectLst/>
            </c:spPr>
          </c:dPt>
          <c:dPt>
            <c:idx val="3"/>
            <c:invertIfNegative val="0"/>
            <c:bubble3D val="0"/>
            <c:spPr>
              <a:solidFill>
                <a:srgbClr val="9A8A90"/>
              </a:solidFill>
              <a:effectLst/>
            </c:spPr>
          </c:dPt>
          <c:cat>
            <c:multiLvlStrRef>
              <c:f>Sheet1!$A$2:$A$5</c:f>
              <c:multiLvlStrCache>
                <c:ptCount val="4"/>
                <c:lvl>
                  <c:pt idx="0">
                    <c:v>Reverie (GRU)</c:v>
                  </c:pt>
                  <c:pt idx="1">
                    <c:v>item-kNN</c:v>
                  </c:pt>
                  <c:pt idx="2">
                    <c:v>recent-genre</c:v>
                  </c:pt>
                  <c:pt idx="3">
                    <c:v>most-popular</c:v>
                  </c:pt>
                </c:lvl>
              </c:multiLvlStrCache>
            </c:multiLvlStrRef>
          </c:cat>
          <c:val>
            <c:numRef>
              <c:f>Sheet1!$B$2:$B$5</c:f>
              <c:numCache>
                <c:formatCode>General</c:formatCode>
                <c:ptCount val="4"/>
                <c:pt idx="0">
                  <c:v>0.2641</c:v>
                </c:pt>
                <c:pt idx="1">
                  <c:v>0.0759</c:v>
                </c:pt>
                <c:pt idx="2">
                  <c:v>0.0446</c:v>
                </c:pt>
                <c:pt idx="3">
                  <c:v>0.0419</c:v>
                </c:pt>
              </c:numCache>
            </c:numRef>
          </c:val>
        </c:ser>
        <c:dLbls>
          <c:numFmt formatCode="0.000" sourceLinked="0"/>
          <c:txPr>
            <a:bodyPr/>
            <a:lstStyle/>
            <a:p>
              <a:pPr>
                <a:defRPr b="1" i="0" strike="noStrike" sz="1200" u="none">
                  <a:solidFill>
                    <a:srgbClr val="1A151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151D"/>
                </a:solidFill>
                <a:latin typeface="Calibri"/>
              </a:defRPr>
            </a:pPr>
            <a:endParaRPr lang="en-US"/>
          </a:p>
        </c:txPr>
        <c:crossAx val="2094734552"/>
        <c:crosses val="autoZero"/>
        <c:auto val="1"/>
        <c:lblAlgn val="ctr"/>
        <c:noMultiLvlLbl val="1"/>
      </c:catAx>
      <c:valAx>
        <c:axId val="2094734552"/>
        <c:scaling>
          <c:orientation val="minMax"/>
          <c:max val="0.3"/>
          <c:min val="0"/>
        </c:scaling>
        <c:delete val="0"/>
        <c:axPos val="b"/>
        <c:majorGridlines>
          <c:spPr>
            <a:ln w="6350" cap="flat">
              <a:solidFill>
                <a:srgbClr val="E3DAD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168"/>
                </a:solidFill>
                <a:latin typeface="Arial"/>
              </a:defRPr>
            </a:pPr>
            <a:endParaRPr lang="en-US"/>
          </a:p>
        </c:txPr>
        <c:crossAx val="2094734554"/>
        <c:crosses val="autoZero"/>
        <c:crossBetween val="between"/>
      </c:valAx>
      <c:spPr>
        <a:solidFill>
          <a:srgbClr val="F7F4F5"/>
        </a:solidFill>
        <a:ln>
          <a:noFill/>
        </a:ln>
        <a:effectLst/>
      </c:spPr>
    </c:plotArea>
    <c:plotVisOnly val="1"/>
    <c:dispBlanksAs val="span"/>
  </c:chart>
  <c:spPr>
    <a:solidFill>
      <a:srgbClr val="F7F4F5"/>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Reverie predicts what you'll want to watch next by reading the order you watched things in, not just an average of your taste. Don't read the names — land the hook. (Amaly)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most systems treat taste as a static average; Reverie treats it as a sequence. Land the three messages: stale averages, ordered reading, instant correction. (Amaly)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leave-one-out guarantee: the test target is sealed from day 1. ml-1m chosen for density. Reference src/data_prep.py and data/data_notes.md. (Stephan)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Three input channels, GRU compresses, dropout regularizes, softmax ranks. If asked GRU vs LSTM/Transformer, defer to the E5 slide. Reference src/model.py build_hybrid_gru. (Stephan)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we ran ablations, we didn't guess. L=20 from E3, 32/64 from E4, GRU from E5. Key insight on E4: bigger is NOT better — d64/u256 overfits. Reference log.csv rows 9-19. (Lea)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add features for their own sake — each must earn its place. Full hybrid wins on MRR and NDCG, and the rating channel powers the demo's thumbs-down. Reference log.csv rows 23-26. (Lea)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must beat simple baselines to justify the complexity — it does, 6x over most-popular, and beats item-kNN. CIs are non-overlapping and Wilcoxon p ~ 0. Reference EXPERIMENTS.md, log.csv rows 1-3. (Lea)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slide — one number. 0.242 means the true next movie lands in the top 10 24.2% of the time on unseen data. The val-to-test drop (0.274-&gt;0.242) is normal and proves no overfitting. Reference log.csv rows 20-22, src/run_test.py. (Lea)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 Amaly drive. Test the full flow the night before. Pre-load a history so there's no cold-start awkwardness. The professor understands demos fail — have the recording ready; the 0.242 result is the real evidence. (Em + Amaly)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 the professor respects honesty over overselling. The TV bridge is a genre proxy, not trained. CPU-only on Windows limited experiments. None of these undermine the headline result. (Cécile)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as what we'd do next, not failures. E2 logit adjustment is the headline — one line, biggest impact, deliberately deferred to avoid changing output before the test. (Cécile)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three things: it works (0.242, 6x), every choice was empirical, and it runs end-to-end. Then open for Q&amp;A with the cheat sheet in front of you. (Cécile)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B10"/>
        </a:solidFill>
      </p:bgPr>
    </p:bg>
    <p:spTree>
      <p:nvGrpSpPr>
        <p:cNvPr id="1" name=""/>
        <p:cNvGrpSpPr/>
        <p:nvPr/>
      </p:nvGrpSpPr>
      <p:grpSpPr>
        <a:xfrm>
          <a:off x="0" y="0"/>
          <a:ext cx="0" cy="0"/>
          <a:chOff x="0" y="0"/>
          <a:chExt cx="0" cy="0"/>
        </a:xfrm>
      </p:grpSpPr>
      <p:sp>
        <p:nvSpPr>
          <p:cNvPr id="2" name="Shape 0"/>
          <p:cNvSpPr/>
          <p:nvPr/>
        </p:nvSpPr>
        <p:spPr>
          <a:xfrm>
            <a:off x="7863840" y="-2011680"/>
            <a:ext cx="7315200" cy="7315200"/>
          </a:xfrm>
          <a:prstGeom prst="ellipse">
            <a:avLst/>
          </a:prstGeom>
          <a:solidFill>
            <a:srgbClr val="D11F3C">
              <a:alpha val="14000"/>
            </a:srgbClr>
          </a:solidFill>
          <a:ln/>
        </p:spPr>
      </p:sp>
      <p:sp>
        <p:nvSpPr>
          <p:cNvPr id="3" name="Shape 1"/>
          <p:cNvSpPr/>
          <p:nvPr/>
        </p:nvSpPr>
        <p:spPr>
          <a:xfrm>
            <a:off x="8961120" y="2194560"/>
            <a:ext cx="5486400" cy="5486400"/>
          </a:xfrm>
          <a:prstGeom prst="ellipse">
            <a:avLst/>
          </a:prstGeom>
          <a:solidFill>
            <a:srgbClr val="8C1428">
              <a:alpha val="20000"/>
            </a:srgbClr>
          </a:solidFill>
          <a:ln/>
        </p:spPr>
      </p:sp>
      <p:sp>
        <p:nvSpPr>
          <p:cNvPr id="4" name="Shape 2"/>
          <p:cNvSpPr/>
          <p:nvPr/>
        </p:nvSpPr>
        <p:spPr>
          <a:xfrm>
            <a:off x="822960" y="1234440"/>
            <a:ext cx="868680" cy="868680"/>
          </a:xfrm>
          <a:prstGeom prst="ellipse">
            <a:avLst/>
          </a:prstGeom>
          <a:solidFill>
            <a:srgbClr val="D11F3C"/>
          </a:solidFill>
          <a:ln/>
        </p:spPr>
      </p:sp>
      <p:pic>
        <p:nvPicPr>
          <p:cNvPr id="5" name="Image 0" descr="preencoded.png">    </p:cNvPr>
          <p:cNvPicPr>
            <a:picLocks noChangeAspect="1"/>
          </p:cNvPicPr>
          <p:nvPr/>
        </p:nvPicPr>
        <p:blipFill>
          <a:blip r:embed="rId1"/>
          <a:stretch>
            <a:fillRect/>
          </a:stretch>
        </p:blipFill>
        <p:spPr>
          <a:xfrm>
            <a:off x="1048817" y="1460297"/>
            <a:ext cx="416966" cy="416966"/>
          </a:xfrm>
          <a:prstGeom prst="rect">
            <a:avLst/>
          </a:prstGeom>
        </p:spPr>
      </p:pic>
      <p:sp>
        <p:nvSpPr>
          <p:cNvPr id="6" name="Text 3"/>
          <p:cNvSpPr/>
          <p:nvPr/>
        </p:nvSpPr>
        <p:spPr>
          <a:xfrm>
            <a:off x="777240" y="2194560"/>
            <a:ext cx="8229600" cy="1280160"/>
          </a:xfrm>
          <a:prstGeom prst="rect">
            <a:avLst/>
          </a:prstGeom>
          <a:noFill/>
          <a:ln/>
        </p:spPr>
        <p:txBody>
          <a:bodyPr wrap="square" lIns="0" tIns="0" rIns="0" bIns="0" rtlCol="0" anchor="ctr"/>
          <a:lstStyle/>
          <a:p>
            <a:pPr indent="0" marL="0">
              <a:buNone/>
            </a:pPr>
            <a:r>
              <a:rPr lang="en-US" sz="7400" b="1" spc="200" kern="0" dirty="0">
                <a:solidFill>
                  <a:srgbClr val="F4EEF0"/>
                </a:solidFill>
                <a:latin typeface="Cambria" pitchFamily="34" charset="0"/>
                <a:ea typeface="Cambria" pitchFamily="34" charset="-122"/>
                <a:cs typeface="Cambria" pitchFamily="34" charset="-120"/>
              </a:rPr>
              <a:t>REVERIE</a:t>
            </a:r>
            <a:endParaRPr lang="en-US" sz="7400" dirty="0"/>
          </a:p>
        </p:txBody>
      </p:sp>
      <p:sp>
        <p:nvSpPr>
          <p:cNvPr id="7" name="Text 4"/>
          <p:cNvSpPr/>
          <p:nvPr/>
        </p:nvSpPr>
        <p:spPr>
          <a:xfrm>
            <a:off x="822960" y="3456432"/>
            <a:ext cx="9144000" cy="548640"/>
          </a:xfrm>
          <a:prstGeom prst="rect">
            <a:avLst/>
          </a:prstGeom>
          <a:noFill/>
          <a:ln/>
        </p:spPr>
        <p:txBody>
          <a:bodyPr wrap="square" lIns="0" tIns="0" rIns="0" bIns="0" rtlCol="0" anchor="ctr"/>
          <a:lstStyle/>
          <a:p>
            <a:pPr indent="0" marL="0">
              <a:buNone/>
            </a:pPr>
            <a:r>
              <a:rPr lang="en-US" sz="2200" b="1" dirty="0">
                <a:solidFill>
                  <a:srgbClr val="D11F3C"/>
                </a:solidFill>
                <a:latin typeface="Calibri" pitchFamily="34" charset="0"/>
                <a:ea typeface="Calibri" pitchFamily="34" charset="-122"/>
                <a:cs typeface="Calibri" pitchFamily="34" charset="-120"/>
              </a:rPr>
              <a:t>Sequential Movie &amp; TV Recommender</a:t>
            </a:r>
            <a:endParaRPr lang="en-US" sz="2200" dirty="0"/>
          </a:p>
        </p:txBody>
      </p:sp>
      <p:sp>
        <p:nvSpPr>
          <p:cNvPr id="8" name="Text 5"/>
          <p:cNvSpPr/>
          <p:nvPr/>
        </p:nvSpPr>
        <p:spPr>
          <a:xfrm>
            <a:off x="822960" y="4041648"/>
            <a:ext cx="8229600" cy="548640"/>
          </a:xfrm>
          <a:prstGeom prst="rect">
            <a:avLst/>
          </a:prstGeom>
          <a:noFill/>
          <a:ln/>
        </p:spPr>
        <p:txBody>
          <a:bodyPr wrap="square" lIns="0" tIns="0" rIns="0" bIns="0" rtlCol="0" anchor="ctr"/>
          <a:lstStyle/>
          <a:p>
            <a:pPr indent="0" marL="0">
              <a:lnSpc>
                <a:spcPct val="110000"/>
              </a:lnSpc>
              <a:buNone/>
            </a:pPr>
            <a:r>
              <a:rPr lang="en-US" sz="1500" i="1" dirty="0">
                <a:solidFill>
                  <a:srgbClr val="B9A9B0"/>
                </a:solidFill>
                <a:latin typeface="Calibri" pitchFamily="34" charset="0"/>
                <a:ea typeface="Calibri" pitchFamily="34" charset="-122"/>
                <a:cs typeface="Calibri" pitchFamily="34" charset="-120"/>
              </a:rPr>
              <a:t>A GRU-based next-item prediction model trained on MovieLens ml-1m.</a:t>
            </a:r>
            <a:endParaRPr lang="en-US" sz="1500" dirty="0"/>
          </a:p>
        </p:txBody>
      </p:sp>
      <p:sp>
        <p:nvSpPr>
          <p:cNvPr id="9" name="Text 6"/>
          <p:cNvSpPr/>
          <p:nvPr/>
        </p:nvSpPr>
        <p:spPr>
          <a:xfrm>
            <a:off x="822960" y="5806440"/>
            <a:ext cx="10515600" cy="731520"/>
          </a:xfrm>
          <a:prstGeom prst="rect">
            <a:avLst/>
          </a:prstGeom>
          <a:noFill/>
          <a:ln/>
        </p:spPr>
        <p:txBody>
          <a:bodyPr wrap="square" lIns="0" tIns="0" rIns="0" bIns="0" rtlCol="0" anchor="ctr"/>
          <a:lstStyle/>
          <a:p>
            <a:pPr indent="0" marL="0">
              <a:lnSpc>
                <a:spcPct val="110000"/>
              </a:lnSpc>
              <a:spcAft>
                <a:spcPts val="400"/>
              </a:spcAft>
              <a:buNone/>
            </a:pPr>
            <a:r>
              <a:rPr lang="en-US" sz="1300" b="1" dirty="0">
                <a:solidFill>
                  <a:srgbClr val="F4EEF0"/>
                </a:solidFill>
                <a:latin typeface="Calibri" pitchFamily="34" charset="0"/>
                <a:ea typeface="Calibri" pitchFamily="34" charset="-122"/>
                <a:cs typeface="Calibri" pitchFamily="34" charset="-120"/>
              </a:rPr>
              <a:t>IE University  ·  Deep Learning  ·  July 2026</a:t>
            </a:r>
            <a:endParaRPr lang="en-US" sz="1300" dirty="0"/>
          </a:p>
          <a:p>
            <a:pPr indent="0" marL="0">
              <a:lnSpc>
                <a:spcPct val="110000"/>
              </a:lnSpc>
              <a:buNone/>
            </a:pPr>
            <a:r>
              <a:rPr lang="en-US" sz="1200" dirty="0">
                <a:solidFill>
                  <a:srgbClr val="B9A9B0"/>
                </a:solidFill>
                <a:latin typeface="Calibri" pitchFamily="34" charset="0"/>
                <a:ea typeface="Calibri" pitchFamily="34" charset="-122"/>
                <a:cs typeface="Calibri" pitchFamily="34" charset="-120"/>
              </a:rPr>
              <a:t>Amaly Attia · Em Echeverria · Lea Sarouphim Hochar · Stephan Pentchev · Cécile Tambey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F5"/>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D11F3C"/>
                </a:solidFill>
                <a:latin typeface="Calibri" pitchFamily="34" charset="0"/>
                <a:ea typeface="Calibri" pitchFamily="34" charset="-122"/>
                <a:cs typeface="Calibri" pitchFamily="34" charset="-120"/>
              </a:rPr>
              <a:t>PROBLEM &amp; MOTIVATION</a:t>
            </a:r>
            <a:endParaRPr lang="en-US" sz="1200" dirty="0"/>
          </a:p>
        </p:txBody>
      </p:sp>
      <p:sp>
        <p:nvSpPr>
          <p:cNvPr id="3" name="Text 1"/>
          <p:cNvSpPr/>
          <p:nvPr/>
        </p:nvSpPr>
        <p:spPr>
          <a:xfrm>
            <a:off x="640080" y="658368"/>
            <a:ext cx="10881360" cy="822960"/>
          </a:xfrm>
          <a:prstGeom prst="rect">
            <a:avLst/>
          </a:prstGeom>
          <a:noFill/>
          <a:ln/>
        </p:spPr>
        <p:txBody>
          <a:bodyPr wrap="square" lIns="0" tIns="0" rIns="0" bIns="0" rtlCol="0" anchor="ctr"/>
          <a:lstStyle/>
          <a:p>
            <a:pPr indent="0" marL="0">
              <a:buNone/>
            </a:pPr>
            <a:r>
              <a:rPr lang="en-US" sz="2900" b="1" dirty="0">
                <a:solidFill>
                  <a:srgbClr val="1A151D"/>
                </a:solidFill>
                <a:latin typeface="Cambria" pitchFamily="34" charset="0"/>
                <a:ea typeface="Cambria" pitchFamily="34" charset="-122"/>
                <a:cs typeface="Cambria" pitchFamily="34" charset="-120"/>
              </a:rPr>
              <a:t>Most recommenders average your whole history</a:t>
            </a:r>
            <a:endParaRPr lang="en-US" sz="2900" dirty="0"/>
          </a:p>
        </p:txBody>
      </p:sp>
      <p:sp>
        <p:nvSpPr>
          <p:cNvPr id="4" name="Text 2"/>
          <p:cNvSpPr/>
          <p:nvPr/>
        </p:nvSpPr>
        <p:spPr>
          <a:xfrm>
            <a:off x="11155680" y="384048"/>
            <a:ext cx="731520" cy="457200"/>
          </a:xfrm>
          <a:prstGeom prst="rect">
            <a:avLst/>
          </a:prstGeom>
          <a:noFill/>
          <a:ln/>
        </p:spPr>
        <p:txBody>
          <a:bodyPr wrap="square" lIns="0" tIns="0" rIns="0" bIns="0" rtlCol="0" anchor="ctr"/>
          <a:lstStyle/>
          <a:p>
            <a:pPr algn="r" indent="0" marL="0">
              <a:buNone/>
            </a:pPr>
            <a:r>
              <a:rPr lang="en-US" sz="1600" b="1" dirty="0">
                <a:solidFill>
                  <a:srgbClr val="E3DADE"/>
                </a:solidFill>
                <a:latin typeface="Cambria" pitchFamily="34" charset="0"/>
                <a:ea typeface="Cambria" pitchFamily="34" charset="-122"/>
                <a:cs typeface="Cambria" pitchFamily="34" charset="-120"/>
              </a:rPr>
              <a:t>02</a:t>
            </a:r>
            <a:endParaRPr lang="en-US" sz="1600" dirty="0"/>
          </a:p>
        </p:txBody>
      </p:sp>
      <p:sp>
        <p:nvSpPr>
          <p:cNvPr id="5" name="Shape 3"/>
          <p:cNvSpPr/>
          <p:nvPr/>
        </p:nvSpPr>
        <p:spPr>
          <a:xfrm>
            <a:off x="640080" y="1783080"/>
            <a:ext cx="3657600" cy="4297680"/>
          </a:xfrm>
          <a:prstGeom prst="roundRect">
            <a:avLst>
              <a:gd name="adj" fmla="val 2500"/>
            </a:avLst>
          </a:prstGeom>
          <a:solidFill>
            <a:srgbClr val="0E0B10"/>
          </a:solidFill>
          <a:ln/>
          <a:effectLst>
            <a:outerShdw sx="100000" sy="100000" kx="0" ky="0" algn="bl" rotWithShape="0" blurRad="114300" dist="38100" dir="5400000">
              <a:srgbClr val="000000">
                <a:alpha val="20000"/>
              </a:srgbClr>
            </a:outerShdw>
          </a:effectLst>
        </p:spPr>
      </p:sp>
      <p:sp>
        <p:nvSpPr>
          <p:cNvPr id="6" name="Text 4"/>
          <p:cNvSpPr/>
          <p:nvPr/>
        </p:nvSpPr>
        <p:spPr>
          <a:xfrm>
            <a:off x="868680" y="2240280"/>
            <a:ext cx="3200400" cy="2377440"/>
          </a:xfrm>
          <a:prstGeom prst="rect">
            <a:avLst/>
          </a:prstGeom>
          <a:noFill/>
          <a:ln/>
        </p:spPr>
        <p:txBody>
          <a:bodyPr wrap="square" lIns="0" tIns="0" rIns="0" bIns="0" rtlCol="0" anchor="ctr"/>
          <a:lstStyle/>
          <a:p>
            <a:pPr indent="0" marL="0">
              <a:lnSpc>
                <a:spcPct val="102000"/>
              </a:lnSpc>
              <a:buNone/>
            </a:pPr>
            <a:r>
              <a:rPr lang="en-US" sz="3300" b="1" dirty="0">
                <a:solidFill>
                  <a:srgbClr val="F4EEF0"/>
                </a:solidFill>
                <a:latin typeface="Cambria" pitchFamily="34" charset="0"/>
                <a:ea typeface="Cambria" pitchFamily="34" charset="-122"/>
                <a:cs typeface="Cambria" pitchFamily="34" charset="-120"/>
              </a:rPr>
              <a:t>Taste is a</a:t>
            </a:r>
            <a:endParaRPr lang="en-US" sz="3300" dirty="0"/>
          </a:p>
          <a:p>
            <a:pPr indent="0" marL="0">
              <a:lnSpc>
                <a:spcPct val="102000"/>
              </a:lnSpc>
              <a:buNone/>
            </a:pPr>
            <a:r>
              <a:rPr lang="en-US" sz="3300" b="1" dirty="0">
                <a:solidFill>
                  <a:srgbClr val="F4EEF0"/>
                </a:solidFill>
                <a:latin typeface="Cambria" pitchFamily="34" charset="0"/>
                <a:ea typeface="Cambria" pitchFamily="34" charset="-122"/>
                <a:cs typeface="Cambria" pitchFamily="34" charset="-120"/>
              </a:rPr>
              <a:t>sequence,</a:t>
            </a:r>
            <a:endParaRPr lang="en-US" sz="3300" dirty="0"/>
          </a:p>
          <a:p>
            <a:pPr indent="0" marL="0">
              <a:lnSpc>
                <a:spcPct val="102000"/>
              </a:lnSpc>
              <a:buNone/>
            </a:pPr>
            <a:r>
              <a:rPr lang="en-US" sz="3300" b="1" dirty="0">
                <a:solidFill>
                  <a:srgbClr val="F4EEF0"/>
                </a:solidFill>
                <a:latin typeface="Cambria" pitchFamily="34" charset="0"/>
                <a:ea typeface="Cambria" pitchFamily="34" charset="-122"/>
                <a:cs typeface="Cambria" pitchFamily="34" charset="-120"/>
              </a:rPr>
              <a:t>not an</a:t>
            </a:r>
            <a:endParaRPr lang="en-US" sz="3300" dirty="0"/>
          </a:p>
          <a:p>
            <a:pPr indent="0" marL="0">
              <a:lnSpc>
                <a:spcPct val="102000"/>
              </a:lnSpc>
              <a:buNone/>
            </a:pPr>
            <a:r>
              <a:rPr lang="en-US" sz="3300" b="1" dirty="0">
                <a:solidFill>
                  <a:srgbClr val="F4EEF0"/>
                </a:solidFill>
                <a:latin typeface="Cambria" pitchFamily="34" charset="0"/>
                <a:ea typeface="Cambria" pitchFamily="34" charset="-122"/>
                <a:cs typeface="Cambria" pitchFamily="34" charset="-120"/>
              </a:rPr>
              <a:t>average.</a:t>
            </a:r>
            <a:endParaRPr lang="en-US" sz="3300" dirty="0"/>
          </a:p>
        </p:txBody>
      </p:sp>
      <p:sp>
        <p:nvSpPr>
          <p:cNvPr id="7" name="Text 5"/>
          <p:cNvSpPr/>
          <p:nvPr/>
        </p:nvSpPr>
        <p:spPr>
          <a:xfrm>
            <a:off x="868680" y="4892040"/>
            <a:ext cx="3200400" cy="914400"/>
          </a:xfrm>
          <a:prstGeom prst="rect">
            <a:avLst/>
          </a:prstGeom>
          <a:noFill/>
          <a:ln/>
        </p:spPr>
        <p:txBody>
          <a:bodyPr wrap="square" lIns="0" tIns="0" rIns="0" bIns="0" rtlCol="0" anchor="ctr"/>
          <a:lstStyle/>
          <a:p>
            <a:pPr indent="0" marL="0">
              <a:lnSpc>
                <a:spcPct val="115000"/>
              </a:lnSpc>
              <a:buNone/>
            </a:pPr>
            <a:r>
              <a:rPr lang="en-US" sz="1300" i="1" dirty="0">
                <a:solidFill>
                  <a:srgbClr val="E5B567"/>
                </a:solidFill>
                <a:latin typeface="Calibri" pitchFamily="34" charset="0"/>
                <a:ea typeface="Calibri" pitchFamily="34" charset="-122"/>
                <a:cs typeface="Calibri" pitchFamily="34" charset="-120"/>
              </a:rPr>
              <a:t>What you watched last week matters more than what you watched 3 years ago.</a:t>
            </a:r>
            <a:endParaRPr lang="en-US" sz="1300" dirty="0"/>
          </a:p>
        </p:txBody>
      </p:sp>
      <p:sp>
        <p:nvSpPr>
          <p:cNvPr id="8" name="Shape 6"/>
          <p:cNvSpPr/>
          <p:nvPr/>
        </p:nvSpPr>
        <p:spPr>
          <a:xfrm>
            <a:off x="4572000" y="1783080"/>
            <a:ext cx="6949440" cy="1325880"/>
          </a:xfrm>
          <a:prstGeom prst="roundRect">
            <a:avLst>
              <a:gd name="adj" fmla="val 6207"/>
            </a:avLst>
          </a:prstGeom>
          <a:solidFill>
            <a:srgbClr val="FFFFFF"/>
          </a:solidFill>
          <a:ln w="12700">
            <a:solidFill>
              <a:srgbClr val="E3DADE"/>
            </a:solidFill>
            <a:prstDash val="solid"/>
          </a:ln>
          <a:effectLst>
            <a:outerShdw sx="100000" sy="100000" kx="0" ky="0" algn="bl" rotWithShape="0" blurRad="114300" dist="38100" dir="5400000">
              <a:srgbClr val="000000">
                <a:alpha val="10000"/>
              </a:srgbClr>
            </a:outerShdw>
          </a:effectLst>
        </p:spPr>
      </p:sp>
      <p:sp>
        <p:nvSpPr>
          <p:cNvPr id="9" name="Shape 7"/>
          <p:cNvSpPr/>
          <p:nvPr/>
        </p:nvSpPr>
        <p:spPr>
          <a:xfrm>
            <a:off x="4828032" y="2039112"/>
            <a:ext cx="502920" cy="502920"/>
          </a:xfrm>
          <a:prstGeom prst="ellipse">
            <a:avLst/>
          </a:prstGeom>
          <a:solidFill>
            <a:srgbClr val="D11F3C"/>
          </a:solidFill>
          <a:ln/>
        </p:spPr>
      </p:sp>
      <p:pic>
        <p:nvPicPr>
          <p:cNvPr id="10" name="Image 0" descr="preencoded.png">    </p:cNvPr>
          <p:cNvPicPr>
            <a:picLocks noChangeAspect="1"/>
          </p:cNvPicPr>
          <p:nvPr/>
        </p:nvPicPr>
        <p:blipFill>
          <a:blip r:embed="rId1"/>
          <a:stretch>
            <a:fillRect/>
          </a:stretch>
        </p:blipFill>
        <p:spPr>
          <a:xfrm>
            <a:off x="4958791" y="2169871"/>
            <a:ext cx="241402" cy="241402"/>
          </a:xfrm>
          <a:prstGeom prst="rect">
            <a:avLst/>
          </a:prstGeom>
        </p:spPr>
      </p:pic>
      <p:sp>
        <p:nvSpPr>
          <p:cNvPr id="11" name="Text 8"/>
          <p:cNvSpPr/>
          <p:nvPr/>
        </p:nvSpPr>
        <p:spPr>
          <a:xfrm>
            <a:off x="5468112" y="2075688"/>
            <a:ext cx="5824728" cy="457200"/>
          </a:xfrm>
          <a:prstGeom prst="rect">
            <a:avLst/>
          </a:prstGeom>
          <a:noFill/>
          <a:ln/>
        </p:spPr>
        <p:txBody>
          <a:bodyPr wrap="square" lIns="0" tIns="0" rIns="0" bIns="0" rtlCol="0" anchor="ctr"/>
          <a:lstStyle/>
          <a:p>
            <a:pPr indent="0" marL="0">
              <a:buNone/>
            </a:pPr>
            <a:r>
              <a:rPr lang="en-US" sz="1500" b="1" dirty="0">
                <a:solidFill>
                  <a:srgbClr val="1A151D"/>
                </a:solidFill>
                <a:latin typeface="Calibri" pitchFamily="34" charset="0"/>
                <a:ea typeface="Calibri" pitchFamily="34" charset="-122"/>
                <a:cs typeface="Calibri" pitchFamily="34" charset="-120"/>
              </a:rPr>
              <a:t>Recommendations feel stale</a:t>
            </a:r>
            <a:endParaRPr lang="en-US" sz="1500" dirty="0"/>
          </a:p>
        </p:txBody>
      </p:sp>
      <p:sp>
        <p:nvSpPr>
          <p:cNvPr id="12" name="Text 9"/>
          <p:cNvSpPr/>
          <p:nvPr/>
        </p:nvSpPr>
        <p:spPr>
          <a:xfrm>
            <a:off x="4828032" y="2697480"/>
            <a:ext cx="6437376" cy="22860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250" dirty="0">
                <a:solidFill>
                  <a:srgbClr val="6E6168"/>
                </a:solidFill>
                <a:latin typeface="Calibri" pitchFamily="34" charset="0"/>
                <a:ea typeface="Calibri" pitchFamily="34" charset="-122"/>
                <a:cs typeface="Calibri" pitchFamily="34" charset="-120"/>
              </a:rPr>
              <a:t>Netflix / Spotify average your entire history, so the homepage stops feeling fresh.</a:t>
            </a:r>
            <a:endParaRPr lang="en-US" sz="1250" dirty="0"/>
          </a:p>
        </p:txBody>
      </p:sp>
      <p:sp>
        <p:nvSpPr>
          <p:cNvPr id="13" name="Shape 10"/>
          <p:cNvSpPr/>
          <p:nvPr/>
        </p:nvSpPr>
        <p:spPr>
          <a:xfrm>
            <a:off x="4572000" y="3246120"/>
            <a:ext cx="6949440" cy="1325880"/>
          </a:xfrm>
          <a:prstGeom prst="roundRect">
            <a:avLst>
              <a:gd name="adj" fmla="val 6207"/>
            </a:avLst>
          </a:prstGeom>
          <a:solidFill>
            <a:srgbClr val="FFFFFF"/>
          </a:solidFill>
          <a:ln w="12700">
            <a:solidFill>
              <a:srgbClr val="E3DADE"/>
            </a:solidFill>
            <a:prstDash val="solid"/>
          </a:ln>
          <a:effectLst>
            <a:outerShdw sx="100000" sy="100000" kx="0" ky="0" algn="bl" rotWithShape="0" blurRad="114300" dist="38100" dir="5400000">
              <a:srgbClr val="000000">
                <a:alpha val="10000"/>
              </a:srgbClr>
            </a:outerShdw>
          </a:effectLst>
        </p:spPr>
      </p:sp>
      <p:sp>
        <p:nvSpPr>
          <p:cNvPr id="14" name="Shape 11"/>
          <p:cNvSpPr/>
          <p:nvPr/>
        </p:nvSpPr>
        <p:spPr>
          <a:xfrm>
            <a:off x="4828032" y="3502152"/>
            <a:ext cx="502920" cy="502920"/>
          </a:xfrm>
          <a:prstGeom prst="ellipse">
            <a:avLst/>
          </a:prstGeom>
          <a:solidFill>
            <a:srgbClr val="D11F3C"/>
          </a:solidFill>
          <a:ln/>
        </p:spPr>
      </p:sp>
      <p:pic>
        <p:nvPicPr>
          <p:cNvPr id="15" name="Image 1" descr="preencoded.png">    </p:cNvPr>
          <p:cNvPicPr>
            <a:picLocks noChangeAspect="1"/>
          </p:cNvPicPr>
          <p:nvPr/>
        </p:nvPicPr>
        <p:blipFill>
          <a:blip r:embed="rId2"/>
          <a:stretch>
            <a:fillRect/>
          </a:stretch>
        </p:blipFill>
        <p:spPr>
          <a:xfrm>
            <a:off x="4958791" y="3632911"/>
            <a:ext cx="241402" cy="241402"/>
          </a:xfrm>
          <a:prstGeom prst="rect">
            <a:avLst/>
          </a:prstGeom>
        </p:spPr>
      </p:pic>
      <p:sp>
        <p:nvSpPr>
          <p:cNvPr id="16" name="Text 12"/>
          <p:cNvSpPr/>
          <p:nvPr/>
        </p:nvSpPr>
        <p:spPr>
          <a:xfrm>
            <a:off x="5468112" y="3538728"/>
            <a:ext cx="5824728" cy="457200"/>
          </a:xfrm>
          <a:prstGeom prst="rect">
            <a:avLst/>
          </a:prstGeom>
          <a:noFill/>
          <a:ln/>
        </p:spPr>
        <p:txBody>
          <a:bodyPr wrap="square" lIns="0" tIns="0" rIns="0" bIns="0" rtlCol="0" anchor="ctr"/>
          <a:lstStyle/>
          <a:p>
            <a:pPr indent="0" marL="0">
              <a:buNone/>
            </a:pPr>
            <a:r>
              <a:rPr lang="en-US" sz="1500" b="1" dirty="0">
                <a:solidFill>
                  <a:srgbClr val="1A151D"/>
                </a:solidFill>
                <a:latin typeface="Calibri" pitchFamily="34" charset="0"/>
                <a:ea typeface="Calibri" pitchFamily="34" charset="-122"/>
                <a:cs typeface="Calibri" pitchFamily="34" charset="-120"/>
              </a:rPr>
              <a:t>A recurrent model reads order</a:t>
            </a:r>
            <a:endParaRPr lang="en-US" sz="1500" dirty="0"/>
          </a:p>
        </p:txBody>
      </p:sp>
      <p:sp>
        <p:nvSpPr>
          <p:cNvPr id="17" name="Text 13"/>
          <p:cNvSpPr/>
          <p:nvPr/>
        </p:nvSpPr>
        <p:spPr>
          <a:xfrm>
            <a:off x="5468112" y="4160520"/>
            <a:ext cx="5852160" cy="640080"/>
          </a:xfrm>
          <a:prstGeom prst="rect">
            <a:avLst/>
          </a:prstGeom>
          <a:noFill/>
          <a:ln/>
        </p:spPr>
        <p:txBody>
          <a:bodyPr wrap="square" lIns="0" tIns="0" rIns="0" bIns="0" rtlCol="0" anchor="t"/>
          <a:lstStyle/>
          <a:p>
            <a:pPr indent="0" marL="0">
              <a:buNone/>
            </a:pPr>
            <a:r>
              <a:rPr lang="en-US" sz="1250" dirty="0">
                <a:solidFill>
                  <a:srgbClr val="6E6168"/>
                </a:solidFill>
                <a:latin typeface="Calibri" pitchFamily="34" charset="0"/>
                <a:ea typeface="Calibri" pitchFamily="34" charset="-122"/>
                <a:cs typeface="Calibri" pitchFamily="34" charset="-120"/>
              </a:rPr>
              <a:t>Reverie reads your history in order and predicts what comes next.</a:t>
            </a:r>
            <a:endParaRPr lang="en-US" sz="1250" dirty="0"/>
          </a:p>
        </p:txBody>
      </p:sp>
      <p:sp>
        <p:nvSpPr>
          <p:cNvPr id="18" name="Shape 14"/>
          <p:cNvSpPr/>
          <p:nvPr/>
        </p:nvSpPr>
        <p:spPr>
          <a:xfrm>
            <a:off x="4572000" y="4709160"/>
            <a:ext cx="6949440" cy="1325880"/>
          </a:xfrm>
          <a:prstGeom prst="roundRect">
            <a:avLst>
              <a:gd name="adj" fmla="val 6207"/>
            </a:avLst>
          </a:prstGeom>
          <a:solidFill>
            <a:srgbClr val="FFFFFF"/>
          </a:solidFill>
          <a:ln w="12700">
            <a:solidFill>
              <a:srgbClr val="E3DADE"/>
            </a:solidFill>
            <a:prstDash val="solid"/>
          </a:ln>
          <a:effectLst>
            <a:outerShdw sx="100000" sy="100000" kx="0" ky="0" algn="bl" rotWithShape="0" blurRad="114300" dist="38100" dir="5400000">
              <a:srgbClr val="000000">
                <a:alpha val="10000"/>
              </a:srgbClr>
            </a:outerShdw>
          </a:effectLst>
        </p:spPr>
      </p:sp>
      <p:sp>
        <p:nvSpPr>
          <p:cNvPr id="19" name="Shape 15"/>
          <p:cNvSpPr/>
          <p:nvPr/>
        </p:nvSpPr>
        <p:spPr>
          <a:xfrm>
            <a:off x="4828032" y="4965192"/>
            <a:ext cx="502920" cy="502920"/>
          </a:xfrm>
          <a:prstGeom prst="ellipse">
            <a:avLst/>
          </a:prstGeom>
          <a:solidFill>
            <a:srgbClr val="D11F3C"/>
          </a:solidFill>
          <a:ln/>
        </p:spPr>
      </p:sp>
      <p:pic>
        <p:nvPicPr>
          <p:cNvPr id="20" name="Image 2" descr="preencoded.png">    </p:cNvPr>
          <p:cNvPicPr>
            <a:picLocks noChangeAspect="1"/>
          </p:cNvPicPr>
          <p:nvPr/>
        </p:nvPicPr>
        <p:blipFill>
          <a:blip r:embed="rId3"/>
          <a:stretch>
            <a:fillRect/>
          </a:stretch>
        </p:blipFill>
        <p:spPr>
          <a:xfrm>
            <a:off x="4958791" y="5095951"/>
            <a:ext cx="241402" cy="241402"/>
          </a:xfrm>
          <a:prstGeom prst="rect">
            <a:avLst/>
          </a:prstGeom>
        </p:spPr>
      </p:pic>
      <p:sp>
        <p:nvSpPr>
          <p:cNvPr id="21" name="Text 16"/>
          <p:cNvSpPr/>
          <p:nvPr/>
        </p:nvSpPr>
        <p:spPr>
          <a:xfrm>
            <a:off x="5468112" y="5001768"/>
            <a:ext cx="5824728" cy="457200"/>
          </a:xfrm>
          <a:prstGeom prst="rect">
            <a:avLst/>
          </a:prstGeom>
          <a:noFill/>
          <a:ln/>
        </p:spPr>
        <p:txBody>
          <a:bodyPr wrap="square" lIns="0" tIns="0" rIns="0" bIns="0" rtlCol="0" anchor="ctr"/>
          <a:lstStyle/>
          <a:p>
            <a:pPr indent="0" marL="0">
              <a:buNone/>
            </a:pPr>
            <a:r>
              <a:rPr lang="en-US" sz="1500" b="1" dirty="0">
                <a:solidFill>
                  <a:srgbClr val="1A151D"/>
                </a:solidFill>
                <a:latin typeface="Calibri" pitchFamily="34" charset="0"/>
                <a:ea typeface="Calibri" pitchFamily="34" charset="-122"/>
                <a:cs typeface="Calibri" pitchFamily="34" charset="-120"/>
              </a:rPr>
              <a:t>It corrects itself instantly</a:t>
            </a:r>
            <a:endParaRPr lang="en-US" sz="1500" dirty="0"/>
          </a:p>
        </p:txBody>
      </p:sp>
      <p:sp>
        <p:nvSpPr>
          <p:cNvPr id="22" name="Text 17"/>
          <p:cNvSpPr/>
          <p:nvPr/>
        </p:nvSpPr>
        <p:spPr>
          <a:xfrm>
            <a:off x="4828032" y="5623560"/>
            <a:ext cx="6437376" cy="22860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250" dirty="0">
                <a:solidFill>
                  <a:srgbClr val="6E6168"/>
                </a:solidFill>
                <a:latin typeface="Calibri" pitchFamily="34" charset="0"/>
                <a:ea typeface="Calibri" pitchFamily="34" charset="-122"/>
                <a:cs typeface="Calibri" pitchFamily="34" charset="-120"/>
              </a:rPr>
              <a:t>Reject a recommendation and Reverie re-ranks on the spot — no retraining.</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F5"/>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D11F3C"/>
                </a:solidFill>
                <a:latin typeface="Calibri" pitchFamily="34" charset="0"/>
                <a:ea typeface="Calibri" pitchFamily="34" charset="-122"/>
                <a:cs typeface="Calibri" pitchFamily="34" charset="-120"/>
              </a:rPr>
              <a:t>DATASET &amp; DATA PIPELINE</a:t>
            </a:r>
            <a:endParaRPr lang="en-US" sz="1200" dirty="0"/>
          </a:p>
        </p:txBody>
      </p:sp>
      <p:sp>
        <p:nvSpPr>
          <p:cNvPr id="3" name="Text 1"/>
          <p:cNvSpPr/>
          <p:nvPr/>
        </p:nvSpPr>
        <p:spPr>
          <a:xfrm>
            <a:off x="640080" y="658368"/>
            <a:ext cx="10881360" cy="822960"/>
          </a:xfrm>
          <a:prstGeom prst="rect">
            <a:avLst/>
          </a:prstGeom>
          <a:noFill/>
          <a:ln/>
        </p:spPr>
        <p:txBody>
          <a:bodyPr wrap="square" lIns="0" tIns="0" rIns="0" bIns="0" rtlCol="0" anchor="ctr"/>
          <a:lstStyle/>
          <a:p>
            <a:pPr indent="0" marL="0">
              <a:buNone/>
            </a:pPr>
            <a:r>
              <a:rPr lang="en-US" sz="2900" b="1" dirty="0">
                <a:solidFill>
                  <a:srgbClr val="1A151D"/>
                </a:solidFill>
                <a:latin typeface="Cambria" pitchFamily="34" charset="0"/>
                <a:ea typeface="Cambria" pitchFamily="34" charset="-122"/>
                <a:cs typeface="Cambria" pitchFamily="34" charset="-120"/>
              </a:rPr>
              <a:t>MovieLens ml-1m, split leave-one-out</a:t>
            </a:r>
            <a:endParaRPr lang="en-US" sz="2900" dirty="0"/>
          </a:p>
        </p:txBody>
      </p:sp>
      <p:sp>
        <p:nvSpPr>
          <p:cNvPr id="4" name="Text 2"/>
          <p:cNvSpPr/>
          <p:nvPr/>
        </p:nvSpPr>
        <p:spPr>
          <a:xfrm>
            <a:off x="11155680" y="384048"/>
            <a:ext cx="731520" cy="457200"/>
          </a:xfrm>
          <a:prstGeom prst="rect">
            <a:avLst/>
          </a:prstGeom>
          <a:noFill/>
          <a:ln/>
        </p:spPr>
        <p:txBody>
          <a:bodyPr wrap="square" lIns="0" tIns="0" rIns="0" bIns="0" rtlCol="0" anchor="ctr"/>
          <a:lstStyle/>
          <a:p>
            <a:pPr algn="r" indent="0" marL="0">
              <a:buNone/>
            </a:pPr>
            <a:r>
              <a:rPr lang="en-US" sz="1600" b="1" dirty="0">
                <a:solidFill>
                  <a:srgbClr val="E3DADE"/>
                </a:solidFill>
                <a:latin typeface="Cambria" pitchFamily="34" charset="0"/>
                <a:ea typeface="Cambria" pitchFamily="34" charset="-122"/>
                <a:cs typeface="Cambria" pitchFamily="34" charset="-120"/>
              </a:rPr>
              <a:t>03</a:t>
            </a:r>
            <a:endParaRPr lang="en-US" sz="1600" dirty="0"/>
          </a:p>
        </p:txBody>
      </p:sp>
      <p:sp>
        <p:nvSpPr>
          <p:cNvPr id="5" name="Shape 3"/>
          <p:cNvSpPr/>
          <p:nvPr/>
        </p:nvSpPr>
        <p:spPr>
          <a:xfrm>
            <a:off x="640080" y="1783080"/>
            <a:ext cx="3502152" cy="1280160"/>
          </a:xfrm>
          <a:prstGeom prst="roundRect">
            <a:avLst>
              <a:gd name="adj" fmla="val 7143"/>
            </a:avLst>
          </a:prstGeom>
          <a:solidFill>
            <a:srgbClr val="FFFFFF"/>
          </a:solidFill>
          <a:ln w="12700">
            <a:solidFill>
              <a:srgbClr val="E3DADE"/>
            </a:solidFill>
            <a:prstDash val="solid"/>
          </a:ln>
          <a:effectLst>
            <a:outerShdw sx="100000" sy="100000" kx="0" ky="0" algn="bl" rotWithShape="0" blurRad="114300" dist="38100" dir="5400000">
              <a:srgbClr val="000000">
                <a:alpha val="10000"/>
              </a:srgbClr>
            </a:outerShdw>
          </a:effectLst>
        </p:spPr>
      </p:sp>
      <p:sp>
        <p:nvSpPr>
          <p:cNvPr id="6" name="Text 4"/>
          <p:cNvSpPr/>
          <p:nvPr/>
        </p:nvSpPr>
        <p:spPr>
          <a:xfrm>
            <a:off x="640080" y="1847088"/>
            <a:ext cx="3502152" cy="777240"/>
          </a:xfrm>
          <a:prstGeom prst="rect">
            <a:avLst/>
          </a:prstGeom>
          <a:noFill/>
          <a:ln/>
        </p:spPr>
        <p:txBody>
          <a:bodyPr wrap="square" lIns="0" tIns="0" rIns="0" bIns="0" rtlCol="0" anchor="ctr"/>
          <a:lstStyle/>
          <a:p>
            <a:pPr algn="ctr" indent="0" marL="0">
              <a:buNone/>
            </a:pPr>
            <a:r>
              <a:rPr lang="en-US" sz="3800" b="1" dirty="0">
                <a:solidFill>
                  <a:srgbClr val="D11F3C"/>
                </a:solidFill>
                <a:latin typeface="Cambria" pitchFamily="34" charset="0"/>
                <a:ea typeface="Cambria" pitchFamily="34" charset="-122"/>
                <a:cs typeface="Cambria" pitchFamily="34" charset="-120"/>
              </a:rPr>
              <a:t>1,000,209</a:t>
            </a:r>
            <a:endParaRPr lang="en-US" sz="3800" dirty="0"/>
          </a:p>
        </p:txBody>
      </p:sp>
      <p:sp>
        <p:nvSpPr>
          <p:cNvPr id="7" name="Text 5"/>
          <p:cNvSpPr/>
          <p:nvPr/>
        </p:nvSpPr>
        <p:spPr>
          <a:xfrm>
            <a:off x="640080" y="2615184"/>
            <a:ext cx="3502152" cy="365760"/>
          </a:xfrm>
          <a:prstGeom prst="rect">
            <a:avLst/>
          </a:prstGeom>
          <a:noFill/>
          <a:ln/>
        </p:spPr>
        <p:txBody>
          <a:bodyPr wrap="square" lIns="0" tIns="0" rIns="0" bIns="0" rtlCol="0" anchor="ctr"/>
          <a:lstStyle/>
          <a:p>
            <a:pPr algn="ctr" indent="0" marL="0">
              <a:buNone/>
            </a:pPr>
            <a:r>
              <a:rPr lang="en-US" sz="1200" b="1" spc="200" kern="0" dirty="0">
                <a:solidFill>
                  <a:srgbClr val="6E6168"/>
                </a:solidFill>
                <a:latin typeface="Calibri" pitchFamily="34" charset="0"/>
                <a:ea typeface="Calibri" pitchFamily="34" charset="-122"/>
                <a:cs typeface="Calibri" pitchFamily="34" charset="-120"/>
              </a:rPr>
              <a:t>RATINGS</a:t>
            </a:r>
            <a:endParaRPr lang="en-US" sz="1200" dirty="0"/>
          </a:p>
        </p:txBody>
      </p:sp>
      <p:sp>
        <p:nvSpPr>
          <p:cNvPr id="8" name="Shape 6"/>
          <p:cNvSpPr/>
          <p:nvPr/>
        </p:nvSpPr>
        <p:spPr>
          <a:xfrm>
            <a:off x="4238244" y="1783080"/>
            <a:ext cx="3502152" cy="1280160"/>
          </a:xfrm>
          <a:prstGeom prst="roundRect">
            <a:avLst>
              <a:gd name="adj" fmla="val 7143"/>
            </a:avLst>
          </a:prstGeom>
          <a:solidFill>
            <a:srgbClr val="FFFFFF"/>
          </a:solidFill>
          <a:ln w="12700">
            <a:solidFill>
              <a:srgbClr val="E3DADE"/>
            </a:solidFill>
            <a:prstDash val="solid"/>
          </a:ln>
          <a:effectLst>
            <a:outerShdw sx="100000" sy="100000" kx="0" ky="0" algn="bl" rotWithShape="0" blurRad="114300" dist="38100" dir="5400000">
              <a:srgbClr val="000000">
                <a:alpha val="10000"/>
              </a:srgbClr>
            </a:outerShdw>
          </a:effectLst>
        </p:spPr>
      </p:sp>
      <p:sp>
        <p:nvSpPr>
          <p:cNvPr id="9" name="Text 7"/>
          <p:cNvSpPr/>
          <p:nvPr/>
        </p:nvSpPr>
        <p:spPr>
          <a:xfrm>
            <a:off x="4238244" y="1847088"/>
            <a:ext cx="3502152" cy="777240"/>
          </a:xfrm>
          <a:prstGeom prst="rect">
            <a:avLst/>
          </a:prstGeom>
          <a:noFill/>
          <a:ln/>
        </p:spPr>
        <p:txBody>
          <a:bodyPr wrap="square" lIns="0" tIns="0" rIns="0" bIns="0" rtlCol="0" anchor="ctr"/>
          <a:lstStyle/>
          <a:p>
            <a:pPr algn="ctr" indent="0" marL="0">
              <a:buNone/>
            </a:pPr>
            <a:r>
              <a:rPr lang="en-US" sz="3800" b="1" dirty="0">
                <a:solidFill>
                  <a:srgbClr val="D11F3C"/>
                </a:solidFill>
                <a:latin typeface="Cambria" pitchFamily="34" charset="0"/>
                <a:ea typeface="Cambria" pitchFamily="34" charset="-122"/>
                <a:cs typeface="Cambria" pitchFamily="34" charset="-120"/>
              </a:rPr>
              <a:t>6,040</a:t>
            </a:r>
            <a:endParaRPr lang="en-US" sz="3800" dirty="0"/>
          </a:p>
        </p:txBody>
      </p:sp>
      <p:sp>
        <p:nvSpPr>
          <p:cNvPr id="10" name="Text 8"/>
          <p:cNvSpPr/>
          <p:nvPr/>
        </p:nvSpPr>
        <p:spPr>
          <a:xfrm>
            <a:off x="4238244" y="2615184"/>
            <a:ext cx="3502152" cy="365760"/>
          </a:xfrm>
          <a:prstGeom prst="rect">
            <a:avLst/>
          </a:prstGeom>
          <a:noFill/>
          <a:ln/>
        </p:spPr>
        <p:txBody>
          <a:bodyPr wrap="square" lIns="0" tIns="0" rIns="0" bIns="0" rtlCol="0" anchor="ctr"/>
          <a:lstStyle/>
          <a:p>
            <a:pPr algn="ctr" indent="0" marL="0">
              <a:buNone/>
            </a:pPr>
            <a:r>
              <a:rPr lang="en-US" sz="1200" b="1" spc="200" kern="0" dirty="0">
                <a:solidFill>
                  <a:srgbClr val="6E6168"/>
                </a:solidFill>
                <a:latin typeface="Calibri" pitchFamily="34" charset="0"/>
                <a:ea typeface="Calibri" pitchFamily="34" charset="-122"/>
                <a:cs typeface="Calibri" pitchFamily="34" charset="-120"/>
              </a:rPr>
              <a:t>USERS</a:t>
            </a:r>
            <a:endParaRPr lang="en-US" sz="1200" dirty="0"/>
          </a:p>
        </p:txBody>
      </p:sp>
      <p:sp>
        <p:nvSpPr>
          <p:cNvPr id="11" name="Shape 9"/>
          <p:cNvSpPr/>
          <p:nvPr/>
        </p:nvSpPr>
        <p:spPr>
          <a:xfrm>
            <a:off x="7836408" y="1783080"/>
            <a:ext cx="3502152" cy="1280160"/>
          </a:xfrm>
          <a:prstGeom prst="roundRect">
            <a:avLst>
              <a:gd name="adj" fmla="val 7143"/>
            </a:avLst>
          </a:prstGeom>
          <a:solidFill>
            <a:srgbClr val="FFFFFF"/>
          </a:solidFill>
          <a:ln w="12700">
            <a:solidFill>
              <a:srgbClr val="E3DADE"/>
            </a:solidFill>
            <a:prstDash val="solid"/>
          </a:ln>
          <a:effectLst>
            <a:outerShdw sx="100000" sy="100000" kx="0" ky="0" algn="bl" rotWithShape="0" blurRad="114300" dist="38100" dir="5400000">
              <a:srgbClr val="000000">
                <a:alpha val="10000"/>
              </a:srgbClr>
            </a:outerShdw>
          </a:effectLst>
        </p:spPr>
      </p:sp>
      <p:sp>
        <p:nvSpPr>
          <p:cNvPr id="12" name="Text 10"/>
          <p:cNvSpPr/>
          <p:nvPr/>
        </p:nvSpPr>
        <p:spPr>
          <a:xfrm>
            <a:off x="7836408" y="1847088"/>
            <a:ext cx="3502152" cy="777240"/>
          </a:xfrm>
          <a:prstGeom prst="rect">
            <a:avLst/>
          </a:prstGeom>
          <a:noFill/>
          <a:ln/>
        </p:spPr>
        <p:txBody>
          <a:bodyPr wrap="square" lIns="0" tIns="0" rIns="0" bIns="0" rtlCol="0" anchor="ctr"/>
          <a:lstStyle/>
          <a:p>
            <a:pPr algn="ctr" indent="0" marL="0">
              <a:buNone/>
            </a:pPr>
            <a:r>
              <a:rPr lang="en-US" sz="3800" b="1" dirty="0">
                <a:solidFill>
                  <a:srgbClr val="D11F3C"/>
                </a:solidFill>
                <a:latin typeface="Cambria" pitchFamily="34" charset="0"/>
                <a:ea typeface="Cambria" pitchFamily="34" charset="-122"/>
                <a:cs typeface="Cambria" pitchFamily="34" charset="-120"/>
              </a:rPr>
              <a:t>3,413</a:t>
            </a:r>
            <a:endParaRPr lang="en-US" sz="3800" dirty="0"/>
          </a:p>
        </p:txBody>
      </p:sp>
      <p:sp>
        <p:nvSpPr>
          <p:cNvPr id="13" name="Text 11"/>
          <p:cNvSpPr/>
          <p:nvPr/>
        </p:nvSpPr>
        <p:spPr>
          <a:xfrm>
            <a:off x="7836408" y="2615184"/>
            <a:ext cx="3502152" cy="365760"/>
          </a:xfrm>
          <a:prstGeom prst="rect">
            <a:avLst/>
          </a:prstGeom>
          <a:noFill/>
          <a:ln/>
        </p:spPr>
        <p:txBody>
          <a:bodyPr wrap="square" lIns="0" tIns="0" rIns="0" bIns="0" rtlCol="0" anchor="ctr"/>
          <a:lstStyle/>
          <a:p>
            <a:pPr algn="ctr" indent="0" marL="0">
              <a:buNone/>
            </a:pPr>
            <a:r>
              <a:rPr lang="en-US" sz="1200" b="1" spc="200" kern="0" dirty="0">
                <a:solidFill>
                  <a:srgbClr val="6E6168"/>
                </a:solidFill>
                <a:latin typeface="Calibri" pitchFamily="34" charset="0"/>
                <a:ea typeface="Calibri" pitchFamily="34" charset="-122"/>
                <a:cs typeface="Calibri" pitchFamily="34" charset="-120"/>
              </a:rPr>
              <a:t>MOVIES</a:t>
            </a:r>
            <a:endParaRPr lang="en-US" sz="1200" dirty="0"/>
          </a:p>
        </p:txBody>
      </p:sp>
      <p:sp>
        <p:nvSpPr>
          <p:cNvPr id="14" name="Shape 12"/>
          <p:cNvSpPr/>
          <p:nvPr/>
        </p:nvSpPr>
        <p:spPr>
          <a:xfrm>
            <a:off x="640080" y="3291840"/>
            <a:ext cx="6858000" cy="2743200"/>
          </a:xfrm>
          <a:prstGeom prst="roundRect">
            <a:avLst>
              <a:gd name="adj" fmla="val 3333"/>
            </a:avLst>
          </a:prstGeom>
          <a:solidFill>
            <a:srgbClr val="FFFFFF"/>
          </a:solidFill>
          <a:ln w="12700">
            <a:solidFill>
              <a:srgbClr val="E3DADE"/>
            </a:solidFill>
            <a:prstDash val="solid"/>
          </a:ln>
          <a:effectLst>
            <a:outerShdw sx="100000" sy="100000" kx="0" ky="0" algn="bl" rotWithShape="0" blurRad="114300" dist="38100" dir="5400000">
              <a:srgbClr val="000000">
                <a:alpha val="8000"/>
              </a:srgbClr>
            </a:outerShdw>
          </a:effectLst>
        </p:spPr>
      </p:sp>
      <p:sp>
        <p:nvSpPr>
          <p:cNvPr id="15" name="Text 13"/>
          <p:cNvSpPr/>
          <p:nvPr/>
        </p:nvSpPr>
        <p:spPr>
          <a:xfrm>
            <a:off x="914400" y="3474720"/>
            <a:ext cx="6400800" cy="365760"/>
          </a:xfrm>
          <a:prstGeom prst="rect">
            <a:avLst/>
          </a:prstGeom>
          <a:noFill/>
          <a:ln/>
        </p:spPr>
        <p:txBody>
          <a:bodyPr wrap="square" lIns="0" tIns="0" rIns="0" bIns="0" rtlCol="0" anchor="ctr"/>
          <a:lstStyle/>
          <a:p>
            <a:pPr indent="0" marL="0">
              <a:buNone/>
            </a:pPr>
            <a:r>
              <a:rPr lang="en-US" sz="1400" b="1" dirty="0">
                <a:solidFill>
                  <a:srgbClr val="1A151D"/>
                </a:solidFill>
                <a:latin typeface="Calibri" pitchFamily="34" charset="0"/>
                <a:ea typeface="Calibri" pitchFamily="34" charset="-122"/>
                <a:cs typeface="Calibri" pitchFamily="34" charset="-120"/>
              </a:rPr>
              <a:t>Leave-one-out, by timestamp</a:t>
            </a:r>
            <a:endParaRPr lang="en-US" sz="1400" dirty="0"/>
          </a:p>
        </p:txBody>
      </p:sp>
      <p:sp>
        <p:nvSpPr>
          <p:cNvPr id="16" name="Shape 14"/>
          <p:cNvSpPr/>
          <p:nvPr/>
        </p:nvSpPr>
        <p:spPr>
          <a:xfrm>
            <a:off x="914400" y="4023360"/>
            <a:ext cx="960120" cy="868680"/>
          </a:xfrm>
          <a:prstGeom prst="roundRect">
            <a:avLst>
              <a:gd name="adj" fmla="val 7368"/>
            </a:avLst>
          </a:prstGeom>
          <a:solidFill>
            <a:srgbClr val="271E2C"/>
          </a:solidFill>
          <a:ln/>
        </p:spPr>
      </p:sp>
      <p:sp>
        <p:nvSpPr>
          <p:cNvPr id="17" name="Text 15"/>
          <p:cNvSpPr/>
          <p:nvPr/>
        </p:nvSpPr>
        <p:spPr>
          <a:xfrm>
            <a:off x="914400" y="4023360"/>
            <a:ext cx="960120" cy="548640"/>
          </a:xfrm>
          <a:prstGeom prst="rect">
            <a:avLst/>
          </a:prstGeom>
          <a:noFill/>
          <a:ln/>
        </p:spPr>
        <p:txBody>
          <a:bodyPr wrap="square" lIns="0" tIns="0" rIns="0" bIns="0" rtlCol="0" anchor="ctr"/>
          <a:lstStyle/>
          <a:p>
            <a:pPr algn="ctr" indent="0" marL="0">
              <a:buNone/>
            </a:pPr>
            <a:r>
              <a:rPr lang="en-US" sz="1200" b="1" dirty="0">
                <a:solidFill>
                  <a:srgbClr val="F4EEF0"/>
                </a:solidFill>
                <a:latin typeface="Calibri" pitchFamily="34" charset="0"/>
                <a:ea typeface="Calibri" pitchFamily="34" charset="-122"/>
                <a:cs typeface="Calibri" pitchFamily="34" charset="-120"/>
              </a:rPr>
              <a:t>Movie A</a:t>
            </a:r>
            <a:endParaRPr lang="en-US" sz="1200" dirty="0"/>
          </a:p>
        </p:txBody>
      </p:sp>
      <p:sp>
        <p:nvSpPr>
          <p:cNvPr id="18" name="Text 16"/>
          <p:cNvSpPr/>
          <p:nvPr/>
        </p:nvSpPr>
        <p:spPr>
          <a:xfrm>
            <a:off x="914400" y="4480560"/>
            <a:ext cx="960120" cy="365760"/>
          </a:xfrm>
          <a:prstGeom prst="rect">
            <a:avLst/>
          </a:prstGeom>
          <a:noFill/>
          <a:ln/>
        </p:spPr>
        <p:txBody>
          <a:bodyPr wrap="square" lIns="0" tIns="0" rIns="0" bIns="0" rtlCol="0" anchor="ctr"/>
          <a:lstStyle/>
          <a:p>
            <a:pPr algn="ctr" indent="0" marL="0">
              <a:buNone/>
            </a:pPr>
            <a:r>
              <a:rPr lang="en-US" sz="1000" b="1" dirty="0">
                <a:solidFill>
                  <a:srgbClr val="B9A9B0"/>
                </a:solidFill>
                <a:latin typeface="Calibri" pitchFamily="34" charset="0"/>
                <a:ea typeface="Calibri" pitchFamily="34" charset="-122"/>
                <a:cs typeface="Calibri" pitchFamily="34" charset="-120"/>
              </a:rPr>
              <a:t>train</a:t>
            </a:r>
            <a:endParaRPr lang="en-US" sz="1000" dirty="0"/>
          </a:p>
        </p:txBody>
      </p:sp>
      <p:pic>
        <p:nvPicPr>
          <p:cNvPr id="19" name="Image 0" descr="preencoded.png">    </p:cNvPr>
          <p:cNvPicPr>
            <a:picLocks noChangeAspect="1"/>
          </p:cNvPicPr>
          <p:nvPr/>
        </p:nvPicPr>
        <p:blipFill>
          <a:blip r:embed="rId1"/>
          <a:stretch>
            <a:fillRect/>
          </a:stretch>
        </p:blipFill>
        <p:spPr>
          <a:xfrm>
            <a:off x="1856232" y="4334256"/>
            <a:ext cx="182880" cy="182880"/>
          </a:xfrm>
          <a:prstGeom prst="rect">
            <a:avLst/>
          </a:prstGeom>
        </p:spPr>
      </p:pic>
      <p:sp>
        <p:nvSpPr>
          <p:cNvPr id="20" name="Shape 17"/>
          <p:cNvSpPr/>
          <p:nvPr/>
        </p:nvSpPr>
        <p:spPr>
          <a:xfrm>
            <a:off x="1874520" y="4023360"/>
            <a:ext cx="960120" cy="868680"/>
          </a:xfrm>
          <a:prstGeom prst="roundRect">
            <a:avLst>
              <a:gd name="adj" fmla="val 7368"/>
            </a:avLst>
          </a:prstGeom>
          <a:solidFill>
            <a:srgbClr val="271E2C"/>
          </a:solidFill>
          <a:ln/>
        </p:spPr>
      </p:sp>
      <p:sp>
        <p:nvSpPr>
          <p:cNvPr id="21" name="Text 18"/>
          <p:cNvSpPr/>
          <p:nvPr/>
        </p:nvSpPr>
        <p:spPr>
          <a:xfrm>
            <a:off x="1874520" y="4023360"/>
            <a:ext cx="960120" cy="548640"/>
          </a:xfrm>
          <a:prstGeom prst="rect">
            <a:avLst/>
          </a:prstGeom>
          <a:noFill/>
          <a:ln/>
        </p:spPr>
        <p:txBody>
          <a:bodyPr wrap="square" lIns="0" tIns="0" rIns="0" bIns="0" rtlCol="0" anchor="ctr"/>
          <a:lstStyle/>
          <a:p>
            <a:pPr algn="ctr" indent="0" marL="0">
              <a:buNone/>
            </a:pPr>
            <a:r>
              <a:rPr lang="en-US" sz="1200" b="1" dirty="0">
                <a:solidFill>
                  <a:srgbClr val="F4EEF0"/>
                </a:solidFill>
                <a:latin typeface="Calibri" pitchFamily="34" charset="0"/>
                <a:ea typeface="Calibri" pitchFamily="34" charset="-122"/>
                <a:cs typeface="Calibri" pitchFamily="34" charset="-120"/>
              </a:rPr>
              <a:t>Movie B</a:t>
            </a:r>
            <a:endParaRPr lang="en-US" sz="1200" dirty="0"/>
          </a:p>
        </p:txBody>
      </p:sp>
      <p:sp>
        <p:nvSpPr>
          <p:cNvPr id="22" name="Text 19"/>
          <p:cNvSpPr/>
          <p:nvPr/>
        </p:nvSpPr>
        <p:spPr>
          <a:xfrm>
            <a:off x="1874520" y="4480560"/>
            <a:ext cx="960120" cy="365760"/>
          </a:xfrm>
          <a:prstGeom prst="rect">
            <a:avLst/>
          </a:prstGeom>
          <a:noFill/>
          <a:ln/>
        </p:spPr>
        <p:txBody>
          <a:bodyPr wrap="square" lIns="0" tIns="0" rIns="0" bIns="0" rtlCol="0" anchor="ctr"/>
          <a:lstStyle/>
          <a:p>
            <a:pPr algn="ctr" indent="0" marL="0">
              <a:buNone/>
            </a:pPr>
            <a:r>
              <a:rPr lang="en-US" sz="1000" b="1" dirty="0">
                <a:solidFill>
                  <a:srgbClr val="B9A9B0"/>
                </a:solidFill>
                <a:latin typeface="Calibri" pitchFamily="34" charset="0"/>
                <a:ea typeface="Calibri" pitchFamily="34" charset="-122"/>
                <a:cs typeface="Calibri" pitchFamily="34" charset="-120"/>
              </a:rPr>
              <a:t>train</a:t>
            </a:r>
            <a:endParaRPr lang="en-US" sz="1000" dirty="0"/>
          </a:p>
        </p:txBody>
      </p:sp>
      <p:pic>
        <p:nvPicPr>
          <p:cNvPr id="23" name="Image 1" descr="preencoded.png">    </p:cNvPr>
          <p:cNvPicPr>
            <a:picLocks noChangeAspect="1"/>
          </p:cNvPicPr>
          <p:nvPr/>
        </p:nvPicPr>
        <p:blipFill>
          <a:blip r:embed="rId2"/>
          <a:stretch>
            <a:fillRect/>
          </a:stretch>
        </p:blipFill>
        <p:spPr>
          <a:xfrm>
            <a:off x="2816352" y="4334256"/>
            <a:ext cx="182880" cy="182880"/>
          </a:xfrm>
          <a:prstGeom prst="rect">
            <a:avLst/>
          </a:prstGeom>
        </p:spPr>
      </p:pic>
      <p:sp>
        <p:nvSpPr>
          <p:cNvPr id="24" name="Shape 20"/>
          <p:cNvSpPr/>
          <p:nvPr/>
        </p:nvSpPr>
        <p:spPr>
          <a:xfrm>
            <a:off x="2834640" y="4023360"/>
            <a:ext cx="960120" cy="868680"/>
          </a:xfrm>
          <a:prstGeom prst="roundRect">
            <a:avLst>
              <a:gd name="adj" fmla="val 7368"/>
            </a:avLst>
          </a:prstGeom>
          <a:solidFill>
            <a:srgbClr val="271E2C"/>
          </a:solidFill>
          <a:ln/>
        </p:spPr>
      </p:sp>
      <p:sp>
        <p:nvSpPr>
          <p:cNvPr id="25" name="Text 21"/>
          <p:cNvSpPr/>
          <p:nvPr/>
        </p:nvSpPr>
        <p:spPr>
          <a:xfrm>
            <a:off x="2834640" y="4023360"/>
            <a:ext cx="960120" cy="548640"/>
          </a:xfrm>
          <a:prstGeom prst="rect">
            <a:avLst/>
          </a:prstGeom>
          <a:noFill/>
          <a:ln/>
        </p:spPr>
        <p:txBody>
          <a:bodyPr wrap="square" lIns="0" tIns="0" rIns="0" bIns="0" rtlCol="0" anchor="ctr"/>
          <a:lstStyle/>
          <a:p>
            <a:pPr algn="ctr" indent="0" marL="0">
              <a:buNone/>
            </a:pPr>
            <a:r>
              <a:rPr lang="en-US" sz="1200" b="1" dirty="0">
                <a:solidFill>
                  <a:srgbClr val="F4EEF0"/>
                </a:solidFill>
                <a:latin typeface="Calibri" pitchFamily="34" charset="0"/>
                <a:ea typeface="Calibri" pitchFamily="34" charset="-122"/>
                <a:cs typeface="Calibri" pitchFamily="34" charset="-120"/>
              </a:rPr>
              <a:t>Movie C</a:t>
            </a:r>
            <a:endParaRPr lang="en-US" sz="1200" dirty="0"/>
          </a:p>
        </p:txBody>
      </p:sp>
      <p:sp>
        <p:nvSpPr>
          <p:cNvPr id="26" name="Text 22"/>
          <p:cNvSpPr/>
          <p:nvPr/>
        </p:nvSpPr>
        <p:spPr>
          <a:xfrm>
            <a:off x="2834640" y="4480560"/>
            <a:ext cx="960120" cy="365760"/>
          </a:xfrm>
          <a:prstGeom prst="rect">
            <a:avLst/>
          </a:prstGeom>
          <a:noFill/>
          <a:ln/>
        </p:spPr>
        <p:txBody>
          <a:bodyPr wrap="square" lIns="0" tIns="0" rIns="0" bIns="0" rtlCol="0" anchor="ctr"/>
          <a:lstStyle/>
          <a:p>
            <a:pPr algn="ctr" indent="0" marL="0">
              <a:buNone/>
            </a:pPr>
            <a:r>
              <a:rPr lang="en-US" sz="1000" b="1" dirty="0">
                <a:solidFill>
                  <a:srgbClr val="B9A9B0"/>
                </a:solidFill>
                <a:latin typeface="Calibri" pitchFamily="34" charset="0"/>
                <a:ea typeface="Calibri" pitchFamily="34" charset="-122"/>
                <a:cs typeface="Calibri" pitchFamily="34" charset="-120"/>
              </a:rPr>
              <a:t>train</a:t>
            </a:r>
            <a:endParaRPr lang="en-US" sz="1000" dirty="0"/>
          </a:p>
        </p:txBody>
      </p:sp>
      <p:pic>
        <p:nvPicPr>
          <p:cNvPr id="27" name="Image 2" descr="preencoded.png">    </p:cNvPr>
          <p:cNvPicPr>
            <a:picLocks noChangeAspect="1"/>
          </p:cNvPicPr>
          <p:nvPr/>
        </p:nvPicPr>
        <p:blipFill>
          <a:blip r:embed="rId3"/>
          <a:stretch>
            <a:fillRect/>
          </a:stretch>
        </p:blipFill>
        <p:spPr>
          <a:xfrm>
            <a:off x="3776472" y="4334256"/>
            <a:ext cx="182880" cy="182880"/>
          </a:xfrm>
          <a:prstGeom prst="rect">
            <a:avLst/>
          </a:prstGeom>
        </p:spPr>
      </p:pic>
      <p:sp>
        <p:nvSpPr>
          <p:cNvPr id="28" name="Shape 23"/>
          <p:cNvSpPr/>
          <p:nvPr/>
        </p:nvSpPr>
        <p:spPr>
          <a:xfrm>
            <a:off x="3794760" y="4023360"/>
            <a:ext cx="960120" cy="868680"/>
          </a:xfrm>
          <a:prstGeom prst="roundRect">
            <a:avLst>
              <a:gd name="adj" fmla="val 7368"/>
            </a:avLst>
          </a:prstGeom>
          <a:solidFill>
            <a:srgbClr val="E5B567"/>
          </a:solidFill>
          <a:ln/>
        </p:spPr>
      </p:sp>
      <p:sp>
        <p:nvSpPr>
          <p:cNvPr id="29" name="Text 24"/>
          <p:cNvSpPr/>
          <p:nvPr/>
        </p:nvSpPr>
        <p:spPr>
          <a:xfrm>
            <a:off x="3794760" y="4023360"/>
            <a:ext cx="960120" cy="548640"/>
          </a:xfrm>
          <a:prstGeom prst="rect">
            <a:avLst/>
          </a:prstGeom>
          <a:noFill/>
          <a:ln/>
        </p:spPr>
        <p:txBody>
          <a:bodyPr wrap="square" lIns="0" tIns="0" rIns="0" bIns="0" rtlCol="0" anchor="ctr"/>
          <a:lstStyle/>
          <a:p>
            <a:pPr algn="ctr" indent="0" marL="0">
              <a:buNone/>
            </a:pPr>
            <a:r>
              <a:rPr lang="en-US" sz="1200" b="1" dirty="0">
                <a:solidFill>
                  <a:srgbClr val="F4EEF0"/>
                </a:solidFill>
                <a:latin typeface="Calibri" pitchFamily="34" charset="0"/>
                <a:ea typeface="Calibri" pitchFamily="34" charset="-122"/>
                <a:cs typeface="Calibri" pitchFamily="34" charset="-120"/>
              </a:rPr>
              <a:t>Movie D</a:t>
            </a:r>
            <a:endParaRPr lang="en-US" sz="1200" dirty="0"/>
          </a:p>
        </p:txBody>
      </p:sp>
      <p:sp>
        <p:nvSpPr>
          <p:cNvPr id="30" name="Text 25"/>
          <p:cNvSpPr/>
          <p:nvPr/>
        </p:nvSpPr>
        <p:spPr>
          <a:xfrm>
            <a:off x="3794760" y="4480560"/>
            <a:ext cx="9601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val</a:t>
            </a:r>
            <a:endParaRPr lang="en-US" sz="1000" dirty="0"/>
          </a:p>
        </p:txBody>
      </p:sp>
      <p:pic>
        <p:nvPicPr>
          <p:cNvPr id="31" name="Image 3" descr="preencoded.png">    </p:cNvPr>
          <p:cNvPicPr>
            <a:picLocks noChangeAspect="1"/>
          </p:cNvPicPr>
          <p:nvPr/>
        </p:nvPicPr>
        <p:blipFill>
          <a:blip r:embed="rId4"/>
          <a:stretch>
            <a:fillRect/>
          </a:stretch>
        </p:blipFill>
        <p:spPr>
          <a:xfrm>
            <a:off x="4736592" y="4334256"/>
            <a:ext cx="182880" cy="182880"/>
          </a:xfrm>
          <a:prstGeom prst="rect">
            <a:avLst/>
          </a:prstGeom>
        </p:spPr>
      </p:pic>
      <p:sp>
        <p:nvSpPr>
          <p:cNvPr id="32" name="Shape 26"/>
          <p:cNvSpPr/>
          <p:nvPr/>
        </p:nvSpPr>
        <p:spPr>
          <a:xfrm>
            <a:off x="4754880" y="4023360"/>
            <a:ext cx="960120" cy="868680"/>
          </a:xfrm>
          <a:prstGeom prst="roundRect">
            <a:avLst>
              <a:gd name="adj" fmla="val 7368"/>
            </a:avLst>
          </a:prstGeom>
          <a:solidFill>
            <a:srgbClr val="D11F3C"/>
          </a:solidFill>
          <a:ln/>
        </p:spPr>
      </p:sp>
      <p:sp>
        <p:nvSpPr>
          <p:cNvPr id="33" name="Text 27"/>
          <p:cNvSpPr/>
          <p:nvPr/>
        </p:nvSpPr>
        <p:spPr>
          <a:xfrm>
            <a:off x="4754880" y="4023360"/>
            <a:ext cx="960120" cy="548640"/>
          </a:xfrm>
          <a:prstGeom prst="rect">
            <a:avLst/>
          </a:prstGeom>
          <a:noFill/>
          <a:ln/>
        </p:spPr>
        <p:txBody>
          <a:bodyPr wrap="square" lIns="0" tIns="0" rIns="0" bIns="0" rtlCol="0" anchor="ctr"/>
          <a:lstStyle/>
          <a:p>
            <a:pPr algn="ctr" indent="0" marL="0">
              <a:buNone/>
            </a:pPr>
            <a:r>
              <a:rPr lang="en-US" sz="1200" b="1" dirty="0">
                <a:solidFill>
                  <a:srgbClr val="F4EEF0"/>
                </a:solidFill>
                <a:latin typeface="Calibri" pitchFamily="34" charset="0"/>
                <a:ea typeface="Calibri" pitchFamily="34" charset="-122"/>
                <a:cs typeface="Calibri" pitchFamily="34" charset="-120"/>
              </a:rPr>
              <a:t>Movie E</a:t>
            </a:r>
            <a:endParaRPr lang="en-US" sz="1200" dirty="0"/>
          </a:p>
        </p:txBody>
      </p:sp>
      <p:sp>
        <p:nvSpPr>
          <p:cNvPr id="34" name="Text 28"/>
          <p:cNvSpPr/>
          <p:nvPr/>
        </p:nvSpPr>
        <p:spPr>
          <a:xfrm>
            <a:off x="4754880" y="4480560"/>
            <a:ext cx="9601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test</a:t>
            </a:r>
            <a:endParaRPr lang="en-US" sz="1000" dirty="0"/>
          </a:p>
        </p:txBody>
      </p:sp>
      <p:sp>
        <p:nvSpPr>
          <p:cNvPr id="35" name="Text 29"/>
          <p:cNvSpPr/>
          <p:nvPr/>
        </p:nvSpPr>
        <p:spPr>
          <a:xfrm>
            <a:off x="914400" y="5166360"/>
            <a:ext cx="6400800" cy="731520"/>
          </a:xfrm>
          <a:prstGeom prst="rect">
            <a:avLst/>
          </a:prstGeom>
          <a:noFill/>
          <a:ln/>
        </p:spPr>
        <p:txBody>
          <a:bodyPr wrap="square" lIns="0" tIns="0" rIns="0" bIns="0" rtlCol="0" anchor="ctr"/>
          <a:lstStyle/>
          <a:p>
            <a:pPr indent="0" marL="0">
              <a:lnSpc>
                <a:spcPct val="110000"/>
              </a:lnSpc>
              <a:buNone/>
            </a:pPr>
            <a:r>
              <a:rPr lang="en-US" sz="1250" i="1" dirty="0">
                <a:solidFill>
                  <a:srgbClr val="6E6168"/>
                </a:solidFill>
                <a:latin typeface="Calibri" pitchFamily="34" charset="0"/>
                <a:ea typeface="Calibri" pitchFamily="34" charset="-122"/>
                <a:cs typeface="Calibri" pitchFamily="34" charset="-120"/>
              </a:rPr>
              <a:t>The test movie is sealed until the frozen config — the model never sees it during training or tuning.</a:t>
            </a:r>
            <a:endParaRPr lang="en-US" sz="1250" dirty="0"/>
          </a:p>
        </p:txBody>
      </p:sp>
      <p:sp>
        <p:nvSpPr>
          <p:cNvPr id="36" name="Shape 30"/>
          <p:cNvSpPr/>
          <p:nvPr/>
        </p:nvSpPr>
        <p:spPr>
          <a:xfrm>
            <a:off x="7680960" y="3291840"/>
            <a:ext cx="3840480" cy="2743200"/>
          </a:xfrm>
          <a:prstGeom prst="roundRect">
            <a:avLst>
              <a:gd name="adj" fmla="val 3000"/>
            </a:avLst>
          </a:prstGeom>
          <a:solidFill>
            <a:srgbClr val="FFFFFF"/>
          </a:solidFill>
          <a:ln w="12700">
            <a:solidFill>
              <a:srgbClr val="E3DADE"/>
            </a:solidFill>
            <a:prstDash val="solid"/>
          </a:ln>
          <a:effectLst>
            <a:outerShdw sx="100000" sy="100000" kx="0" ky="0" algn="bl" rotWithShape="0" blurRad="114300" dist="38100" dir="5400000">
              <a:srgbClr val="000000">
                <a:alpha val="10000"/>
              </a:srgbClr>
            </a:outerShdw>
          </a:effectLst>
        </p:spPr>
      </p:sp>
      <p:sp>
        <p:nvSpPr>
          <p:cNvPr id="37" name="Shape 31"/>
          <p:cNvSpPr/>
          <p:nvPr/>
        </p:nvSpPr>
        <p:spPr>
          <a:xfrm>
            <a:off x="7936992" y="3547872"/>
            <a:ext cx="502920" cy="502920"/>
          </a:xfrm>
          <a:prstGeom prst="ellipse">
            <a:avLst/>
          </a:prstGeom>
          <a:solidFill>
            <a:srgbClr val="D11F3C"/>
          </a:solidFill>
          <a:ln/>
        </p:spPr>
      </p:sp>
      <p:pic>
        <p:nvPicPr>
          <p:cNvPr id="38" name="Image 4" descr="preencoded.png">    </p:cNvPr>
          <p:cNvPicPr>
            <a:picLocks noChangeAspect="1"/>
          </p:cNvPicPr>
          <p:nvPr/>
        </p:nvPicPr>
        <p:blipFill>
          <a:blip r:embed="rId5"/>
          <a:stretch>
            <a:fillRect/>
          </a:stretch>
        </p:blipFill>
        <p:spPr>
          <a:xfrm>
            <a:off x="8067751" y="3678631"/>
            <a:ext cx="241402" cy="241402"/>
          </a:xfrm>
          <a:prstGeom prst="rect">
            <a:avLst/>
          </a:prstGeom>
        </p:spPr>
      </p:pic>
      <p:sp>
        <p:nvSpPr>
          <p:cNvPr id="39" name="Text 32"/>
          <p:cNvSpPr/>
          <p:nvPr/>
        </p:nvSpPr>
        <p:spPr>
          <a:xfrm>
            <a:off x="8577072" y="3584448"/>
            <a:ext cx="2715768" cy="457200"/>
          </a:xfrm>
          <a:prstGeom prst="rect">
            <a:avLst/>
          </a:prstGeom>
          <a:noFill/>
          <a:ln/>
        </p:spPr>
        <p:txBody>
          <a:bodyPr wrap="square" lIns="0" tIns="0" rIns="0" bIns="0" rtlCol="0" anchor="ctr"/>
          <a:lstStyle/>
          <a:p>
            <a:pPr indent="0" marL="0">
              <a:buNone/>
            </a:pPr>
            <a:r>
              <a:rPr lang="en-US" sz="1500" b="1" dirty="0">
                <a:solidFill>
                  <a:srgbClr val="1A151D"/>
                </a:solidFill>
                <a:latin typeface="Calibri" pitchFamily="34" charset="0"/>
                <a:ea typeface="Calibri" pitchFamily="34" charset="-122"/>
                <a:cs typeface="Calibri" pitchFamily="34" charset="-120"/>
              </a:rPr>
              <a:t>Why ml-1m?</a:t>
            </a:r>
            <a:endParaRPr lang="en-US" sz="1500" dirty="0"/>
          </a:p>
        </p:txBody>
      </p:sp>
      <p:sp>
        <p:nvSpPr>
          <p:cNvPr id="40" name="Text 33"/>
          <p:cNvSpPr/>
          <p:nvPr/>
        </p:nvSpPr>
        <p:spPr>
          <a:xfrm>
            <a:off x="7936992" y="4206240"/>
            <a:ext cx="3328416" cy="164592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250" dirty="0">
                <a:solidFill>
                  <a:srgbClr val="6E6168"/>
                </a:solidFill>
                <a:latin typeface="Calibri" pitchFamily="34" charset="0"/>
                <a:ea typeface="Calibri" pitchFamily="34" charset="-122"/>
                <a:cs typeface="Calibri" pitchFamily="34" charset="-120"/>
              </a:rPr>
              <a:t>10× more sequences than ml-latest-small (100K).</a:t>
            </a:r>
            <a:endParaRPr lang="en-US" sz="1250" dirty="0"/>
          </a:p>
          <a:p>
            <a:pPr marL="177800" indent="-177800">
              <a:lnSpc>
                <a:spcPct val="105000"/>
              </a:lnSpc>
              <a:spcAft>
                <a:spcPts val="500"/>
              </a:spcAft>
              <a:buSzPct val="100000"/>
              <a:buChar char="•"/>
            </a:pPr>
            <a:r>
              <a:rPr lang="en-US" sz="1250" dirty="0">
                <a:solidFill>
                  <a:srgbClr val="6E6168"/>
                </a:solidFill>
                <a:latin typeface="Calibri" pitchFamily="34" charset="0"/>
                <a:ea typeface="Calibri" pitchFamily="34" charset="-122"/>
                <a:cs typeface="Calibri" pitchFamily="34" charset="-120"/>
              </a:rPr>
              <a:t>A reliable softmax over thousands of movies needs dense data.</a:t>
            </a:r>
            <a:endParaRPr lang="en-US" sz="1250" dirty="0"/>
          </a:p>
          <a:p>
            <a:pPr marL="177800" indent="-177800">
              <a:lnSpc>
                <a:spcPct val="105000"/>
              </a:lnSpc>
              <a:spcAft>
                <a:spcPts val="500"/>
              </a:spcAft>
              <a:buSzPct val="100000"/>
              <a:buChar char="•"/>
            </a:pPr>
            <a:r>
              <a:rPr lang="en-US" sz="1250" dirty="0">
                <a:solidFill>
                  <a:srgbClr val="6E6168"/>
                </a:solidFill>
                <a:latin typeface="Calibri" pitchFamily="34" charset="0"/>
                <a:ea typeface="Calibri" pitchFamily="34" charset="-122"/>
                <a:cs typeface="Calibri" pitchFamily="34" charset="-120"/>
              </a:rPr>
              <a:t>Movies seen &lt; 5 times filtered out → 3,413 kept.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B10"/>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D11F3C"/>
                </a:solidFill>
                <a:latin typeface="Calibri" pitchFamily="34" charset="0"/>
                <a:ea typeface="Calibri" pitchFamily="34" charset="-122"/>
                <a:cs typeface="Calibri" pitchFamily="34" charset="-120"/>
              </a:rPr>
              <a:t>MODEL ARCHITECTURE</a:t>
            </a:r>
            <a:endParaRPr lang="en-US" sz="1200" dirty="0"/>
          </a:p>
        </p:txBody>
      </p:sp>
      <p:sp>
        <p:nvSpPr>
          <p:cNvPr id="3" name="Text 1"/>
          <p:cNvSpPr/>
          <p:nvPr/>
        </p:nvSpPr>
        <p:spPr>
          <a:xfrm>
            <a:off x="640080" y="658368"/>
            <a:ext cx="10881360" cy="822960"/>
          </a:xfrm>
          <a:prstGeom prst="rect">
            <a:avLst/>
          </a:prstGeom>
          <a:noFill/>
          <a:ln/>
        </p:spPr>
        <p:txBody>
          <a:bodyPr wrap="square" lIns="0" tIns="0" rIns="0" bIns="0" rtlCol="0" anchor="ctr"/>
          <a:lstStyle/>
          <a:p>
            <a:pPr indent="0" marL="0">
              <a:buNone/>
            </a:pPr>
            <a:r>
              <a:rPr lang="en-US" sz="2900" b="1" dirty="0">
                <a:solidFill>
                  <a:srgbClr val="F4EEF0"/>
                </a:solidFill>
                <a:latin typeface="Cambria" pitchFamily="34" charset="0"/>
                <a:ea typeface="Cambria" pitchFamily="34" charset="-122"/>
                <a:cs typeface="Cambria" pitchFamily="34" charset="-120"/>
              </a:rPr>
              <a:t>Hybrid GRU</a:t>
            </a:r>
            <a:endParaRPr lang="en-US" sz="2900" dirty="0"/>
          </a:p>
        </p:txBody>
      </p:sp>
      <p:sp>
        <p:nvSpPr>
          <p:cNvPr id="4" name="Text 2"/>
          <p:cNvSpPr/>
          <p:nvPr/>
        </p:nvSpPr>
        <p:spPr>
          <a:xfrm>
            <a:off x="11155680" y="384048"/>
            <a:ext cx="731520" cy="457200"/>
          </a:xfrm>
          <a:prstGeom prst="rect">
            <a:avLst/>
          </a:prstGeom>
          <a:noFill/>
          <a:ln/>
        </p:spPr>
        <p:txBody>
          <a:bodyPr wrap="square" lIns="0" tIns="0" rIns="0" bIns="0" rtlCol="0" anchor="ctr"/>
          <a:lstStyle/>
          <a:p>
            <a:pPr algn="r" indent="0" marL="0">
              <a:buNone/>
            </a:pPr>
            <a:r>
              <a:rPr lang="en-US" sz="1600" b="1" dirty="0">
                <a:solidFill>
                  <a:srgbClr val="271E2C"/>
                </a:solidFill>
                <a:latin typeface="Cambria" pitchFamily="34" charset="0"/>
                <a:ea typeface="Cambria" pitchFamily="34" charset="-122"/>
                <a:cs typeface="Cambria" pitchFamily="34" charset="-120"/>
              </a:rPr>
              <a:t>04</a:t>
            </a:r>
            <a:endParaRPr lang="en-US" sz="1600" dirty="0"/>
          </a:p>
        </p:txBody>
      </p:sp>
      <p:sp>
        <p:nvSpPr>
          <p:cNvPr id="5" name="Shape 3"/>
          <p:cNvSpPr/>
          <p:nvPr/>
        </p:nvSpPr>
        <p:spPr>
          <a:xfrm>
            <a:off x="640080" y="1874520"/>
            <a:ext cx="1892808" cy="1280160"/>
          </a:xfrm>
          <a:prstGeom prst="roundRect">
            <a:avLst>
              <a:gd name="adj" fmla="val 5714"/>
            </a:avLst>
          </a:prstGeom>
          <a:solidFill>
            <a:srgbClr val="271E2C"/>
          </a:solidFill>
          <a:ln w="12700">
            <a:solidFill>
              <a:srgbClr val="3A2F40"/>
            </a:solidFill>
            <a:prstDash val="solid"/>
          </a:ln>
          <a:effectLst>
            <a:outerShdw sx="100000" sy="100000" kx="0" ky="0" algn="bl" rotWithShape="0" blurRad="114300" dist="38100" dir="5400000">
              <a:srgbClr val="000000">
                <a:alpha val="25000"/>
              </a:srgbClr>
            </a:outerShdw>
          </a:effectLst>
        </p:spPr>
      </p:sp>
      <p:sp>
        <p:nvSpPr>
          <p:cNvPr id="6" name="Text 4"/>
          <p:cNvSpPr/>
          <p:nvPr/>
        </p:nvSpPr>
        <p:spPr>
          <a:xfrm>
            <a:off x="640080" y="1874520"/>
            <a:ext cx="1892808" cy="1280160"/>
          </a:xfrm>
          <a:prstGeom prst="rect">
            <a:avLst/>
          </a:prstGeom>
          <a:noFill/>
          <a:ln/>
        </p:spPr>
        <p:txBody>
          <a:bodyPr wrap="square" lIns="0" tIns="0" rIns="0" bIns="0" rtlCol="0" anchor="ctr"/>
          <a:lstStyle/>
          <a:p>
            <a:pPr algn="ctr" indent="0" marL="0">
              <a:buNone/>
            </a:pPr>
            <a:r>
              <a:rPr lang="en-US" sz="1300" b="1" dirty="0">
                <a:solidFill>
                  <a:srgbClr val="F4EEF0"/>
                </a:solidFill>
                <a:latin typeface="Calibri" pitchFamily="34" charset="0"/>
                <a:ea typeface="Calibri" pitchFamily="34" charset="-122"/>
                <a:cs typeface="Calibri" pitchFamily="34" charset="-120"/>
              </a:rPr>
              <a:t>Last 20</a:t>
            </a:r>
            <a:endParaRPr lang="en-US" sz="1300" dirty="0"/>
          </a:p>
          <a:p>
            <a:pPr algn="ctr" indent="0" marL="0">
              <a:buNone/>
            </a:pPr>
            <a:r>
              <a:rPr lang="en-US" sz="1300" b="1" dirty="0">
                <a:solidFill>
                  <a:srgbClr val="F4EEF0"/>
                </a:solidFill>
                <a:latin typeface="Calibri" pitchFamily="34" charset="0"/>
                <a:ea typeface="Calibri" pitchFamily="34" charset="-122"/>
                <a:cs typeface="Calibri" pitchFamily="34" charset="-120"/>
              </a:rPr>
              <a:t>movies</a:t>
            </a:r>
            <a:endParaRPr lang="en-US" sz="1300" dirty="0"/>
          </a:p>
        </p:txBody>
      </p:sp>
      <p:pic>
        <p:nvPicPr>
          <p:cNvPr id="7" name="Image 0" descr="preencoded.png">    </p:cNvPr>
          <p:cNvPicPr>
            <a:picLocks noChangeAspect="1"/>
          </p:cNvPicPr>
          <p:nvPr/>
        </p:nvPicPr>
        <p:blipFill>
          <a:blip r:embed="rId1"/>
          <a:stretch>
            <a:fillRect/>
          </a:stretch>
        </p:blipFill>
        <p:spPr>
          <a:xfrm>
            <a:off x="2606040" y="2404872"/>
            <a:ext cx="219456" cy="219456"/>
          </a:xfrm>
          <a:prstGeom prst="rect">
            <a:avLst/>
          </a:prstGeom>
        </p:spPr>
      </p:pic>
      <p:sp>
        <p:nvSpPr>
          <p:cNvPr id="8" name="Shape 5"/>
          <p:cNvSpPr/>
          <p:nvPr/>
        </p:nvSpPr>
        <p:spPr>
          <a:xfrm>
            <a:off x="2898648" y="1874520"/>
            <a:ext cx="1892808" cy="1280160"/>
          </a:xfrm>
          <a:prstGeom prst="roundRect">
            <a:avLst>
              <a:gd name="adj" fmla="val 5714"/>
            </a:avLst>
          </a:prstGeom>
          <a:solidFill>
            <a:srgbClr val="271E2C"/>
          </a:solidFill>
          <a:ln w="12700">
            <a:solidFill>
              <a:srgbClr val="3A2F40"/>
            </a:solidFill>
            <a:prstDash val="solid"/>
          </a:ln>
          <a:effectLst>
            <a:outerShdw sx="100000" sy="100000" kx="0" ky="0" algn="bl" rotWithShape="0" blurRad="114300" dist="38100" dir="5400000">
              <a:srgbClr val="000000">
                <a:alpha val="25000"/>
              </a:srgbClr>
            </a:outerShdw>
          </a:effectLst>
        </p:spPr>
      </p:sp>
      <p:sp>
        <p:nvSpPr>
          <p:cNvPr id="9" name="Text 6"/>
          <p:cNvSpPr/>
          <p:nvPr/>
        </p:nvSpPr>
        <p:spPr>
          <a:xfrm>
            <a:off x="2898648" y="1874520"/>
            <a:ext cx="1892808" cy="1280160"/>
          </a:xfrm>
          <a:prstGeom prst="rect">
            <a:avLst/>
          </a:prstGeom>
          <a:noFill/>
          <a:ln/>
        </p:spPr>
        <p:txBody>
          <a:bodyPr wrap="square" lIns="0" tIns="0" rIns="0" bIns="0" rtlCol="0" anchor="ctr"/>
          <a:lstStyle/>
          <a:p>
            <a:pPr algn="ctr" indent="0" marL="0">
              <a:buNone/>
            </a:pPr>
            <a:r>
              <a:rPr lang="en-US" sz="1300" b="1" dirty="0">
                <a:solidFill>
                  <a:srgbClr val="F4EEF0"/>
                </a:solidFill>
                <a:latin typeface="Calibri" pitchFamily="34" charset="0"/>
                <a:ea typeface="Calibri" pitchFamily="34" charset="-122"/>
                <a:cs typeface="Calibri" pitchFamily="34" charset="-120"/>
              </a:rPr>
              <a:t>Movie emb 32d</a:t>
            </a:r>
            <a:endParaRPr lang="en-US" sz="1300" dirty="0"/>
          </a:p>
          <a:p>
            <a:pPr algn="ctr" indent="0" marL="0">
              <a:buNone/>
            </a:pPr>
            <a:r>
              <a:rPr lang="en-US" sz="1300" b="1" dirty="0">
                <a:solidFill>
                  <a:srgbClr val="F4EEF0"/>
                </a:solidFill>
                <a:latin typeface="Calibri" pitchFamily="34" charset="0"/>
                <a:ea typeface="Calibri" pitchFamily="34" charset="-122"/>
                <a:cs typeface="Calibri" pitchFamily="34" charset="-120"/>
              </a:rPr>
              <a:t>⊕ genre ⊕ rating</a:t>
            </a:r>
            <a:endParaRPr lang="en-US" sz="1300" dirty="0"/>
          </a:p>
        </p:txBody>
      </p:sp>
      <p:pic>
        <p:nvPicPr>
          <p:cNvPr id="10" name="Image 1" descr="preencoded.png">    </p:cNvPr>
          <p:cNvPicPr>
            <a:picLocks noChangeAspect="1"/>
          </p:cNvPicPr>
          <p:nvPr/>
        </p:nvPicPr>
        <p:blipFill>
          <a:blip r:embed="rId2"/>
          <a:stretch>
            <a:fillRect/>
          </a:stretch>
        </p:blipFill>
        <p:spPr>
          <a:xfrm>
            <a:off x="4864608" y="2404872"/>
            <a:ext cx="219456" cy="219456"/>
          </a:xfrm>
          <a:prstGeom prst="rect">
            <a:avLst/>
          </a:prstGeom>
        </p:spPr>
      </p:pic>
      <p:sp>
        <p:nvSpPr>
          <p:cNvPr id="11" name="Shape 7"/>
          <p:cNvSpPr/>
          <p:nvPr/>
        </p:nvSpPr>
        <p:spPr>
          <a:xfrm>
            <a:off x="5157216" y="1874520"/>
            <a:ext cx="1892808" cy="1280160"/>
          </a:xfrm>
          <a:prstGeom prst="roundRect">
            <a:avLst>
              <a:gd name="adj" fmla="val 5714"/>
            </a:avLst>
          </a:prstGeom>
          <a:solidFill>
            <a:srgbClr val="D11F3C"/>
          </a:solidFill>
          <a:ln w="12700">
            <a:solidFill>
              <a:srgbClr val="D11F3C"/>
            </a:solidFill>
            <a:prstDash val="solid"/>
          </a:ln>
          <a:effectLst>
            <a:outerShdw sx="100000" sy="100000" kx="0" ky="0" algn="bl" rotWithShape="0" blurRad="114300" dist="38100" dir="5400000">
              <a:srgbClr val="000000">
                <a:alpha val="25000"/>
              </a:srgbClr>
            </a:outerShdw>
          </a:effectLst>
        </p:spPr>
      </p:sp>
      <p:sp>
        <p:nvSpPr>
          <p:cNvPr id="12" name="Text 8"/>
          <p:cNvSpPr/>
          <p:nvPr/>
        </p:nvSpPr>
        <p:spPr>
          <a:xfrm>
            <a:off x="5157216" y="1874520"/>
            <a:ext cx="1892808" cy="1280160"/>
          </a:xfrm>
          <a:prstGeom prst="rect">
            <a:avLst/>
          </a:prstGeom>
          <a:noFill/>
          <a:ln/>
        </p:spPr>
        <p:txBody>
          <a:bodyPr wrap="square" lIns="0" tIns="0" rIns="0" bIns="0" rtlCol="0" anchor="ctr"/>
          <a:lstStyle/>
          <a:p>
            <a:pPr algn="ctr" indent="0" marL="0">
              <a:buNone/>
            </a:pPr>
            <a:r>
              <a:rPr lang="en-US" sz="1300" b="1" dirty="0">
                <a:solidFill>
                  <a:srgbClr val="F4EEF0"/>
                </a:solidFill>
                <a:latin typeface="Calibri" pitchFamily="34" charset="0"/>
                <a:ea typeface="Calibri" pitchFamily="34" charset="-122"/>
                <a:cs typeface="Calibri" pitchFamily="34" charset="-120"/>
              </a:rPr>
              <a:t>GRU</a:t>
            </a:r>
            <a:endParaRPr lang="en-US" sz="1300" dirty="0"/>
          </a:p>
          <a:p>
            <a:pPr algn="ctr" indent="0" marL="0">
              <a:buNone/>
            </a:pPr>
            <a:r>
              <a:rPr lang="en-US" sz="1300" b="1" dirty="0">
                <a:solidFill>
                  <a:srgbClr val="F4EEF0"/>
                </a:solidFill>
                <a:latin typeface="Calibri" pitchFamily="34" charset="0"/>
                <a:ea typeface="Calibri" pitchFamily="34" charset="-122"/>
                <a:cs typeface="Calibri" pitchFamily="34" charset="-120"/>
              </a:rPr>
              <a:t>64 units</a:t>
            </a:r>
            <a:endParaRPr lang="en-US" sz="1300" dirty="0"/>
          </a:p>
        </p:txBody>
      </p:sp>
      <p:pic>
        <p:nvPicPr>
          <p:cNvPr id="13" name="Image 2" descr="preencoded.png">    </p:cNvPr>
          <p:cNvPicPr>
            <a:picLocks noChangeAspect="1"/>
          </p:cNvPicPr>
          <p:nvPr/>
        </p:nvPicPr>
        <p:blipFill>
          <a:blip r:embed="rId3"/>
          <a:stretch>
            <a:fillRect/>
          </a:stretch>
        </p:blipFill>
        <p:spPr>
          <a:xfrm>
            <a:off x="7123176" y="2404872"/>
            <a:ext cx="219456" cy="219456"/>
          </a:xfrm>
          <a:prstGeom prst="rect">
            <a:avLst/>
          </a:prstGeom>
        </p:spPr>
      </p:pic>
      <p:sp>
        <p:nvSpPr>
          <p:cNvPr id="14" name="Shape 9"/>
          <p:cNvSpPr/>
          <p:nvPr/>
        </p:nvSpPr>
        <p:spPr>
          <a:xfrm>
            <a:off x="7415784" y="1874520"/>
            <a:ext cx="1892808" cy="1280160"/>
          </a:xfrm>
          <a:prstGeom prst="roundRect">
            <a:avLst>
              <a:gd name="adj" fmla="val 5714"/>
            </a:avLst>
          </a:prstGeom>
          <a:solidFill>
            <a:srgbClr val="271E2C"/>
          </a:solidFill>
          <a:ln w="12700">
            <a:solidFill>
              <a:srgbClr val="3A2F40"/>
            </a:solidFill>
            <a:prstDash val="solid"/>
          </a:ln>
          <a:effectLst>
            <a:outerShdw sx="100000" sy="100000" kx="0" ky="0" algn="bl" rotWithShape="0" blurRad="114300" dist="38100" dir="5400000">
              <a:srgbClr val="000000">
                <a:alpha val="25000"/>
              </a:srgbClr>
            </a:outerShdw>
          </a:effectLst>
        </p:spPr>
      </p:sp>
      <p:sp>
        <p:nvSpPr>
          <p:cNvPr id="15" name="Text 10"/>
          <p:cNvSpPr/>
          <p:nvPr/>
        </p:nvSpPr>
        <p:spPr>
          <a:xfrm>
            <a:off x="7415784" y="1874520"/>
            <a:ext cx="1892808" cy="1280160"/>
          </a:xfrm>
          <a:prstGeom prst="rect">
            <a:avLst/>
          </a:prstGeom>
          <a:noFill/>
          <a:ln/>
        </p:spPr>
        <p:txBody>
          <a:bodyPr wrap="square" lIns="0" tIns="0" rIns="0" bIns="0" rtlCol="0" anchor="ctr"/>
          <a:lstStyle/>
          <a:p>
            <a:pPr algn="ctr" indent="0" marL="0">
              <a:buNone/>
            </a:pPr>
            <a:r>
              <a:rPr lang="en-US" sz="1300" b="1" dirty="0">
                <a:solidFill>
                  <a:srgbClr val="F4EEF0"/>
                </a:solidFill>
                <a:latin typeface="Calibri" pitchFamily="34" charset="0"/>
                <a:ea typeface="Calibri" pitchFamily="34" charset="-122"/>
                <a:cs typeface="Calibri" pitchFamily="34" charset="-120"/>
              </a:rPr>
              <a:t>Dropout</a:t>
            </a:r>
            <a:endParaRPr lang="en-US" sz="1300" dirty="0"/>
          </a:p>
          <a:p>
            <a:pPr algn="ctr" indent="0" marL="0">
              <a:buNone/>
            </a:pPr>
            <a:r>
              <a:rPr lang="en-US" sz="1300" b="1" dirty="0">
                <a:solidFill>
                  <a:srgbClr val="F4EEF0"/>
                </a:solidFill>
                <a:latin typeface="Calibri" pitchFamily="34" charset="0"/>
                <a:ea typeface="Calibri" pitchFamily="34" charset="-122"/>
                <a:cs typeface="Calibri" pitchFamily="34" charset="-120"/>
              </a:rPr>
              <a:t>0.3</a:t>
            </a:r>
            <a:endParaRPr lang="en-US" sz="1300" dirty="0"/>
          </a:p>
        </p:txBody>
      </p:sp>
      <p:pic>
        <p:nvPicPr>
          <p:cNvPr id="16" name="Image 3" descr="preencoded.png">    </p:cNvPr>
          <p:cNvPicPr>
            <a:picLocks noChangeAspect="1"/>
          </p:cNvPicPr>
          <p:nvPr/>
        </p:nvPicPr>
        <p:blipFill>
          <a:blip r:embed="rId4"/>
          <a:stretch>
            <a:fillRect/>
          </a:stretch>
        </p:blipFill>
        <p:spPr>
          <a:xfrm>
            <a:off x="9381744" y="2404872"/>
            <a:ext cx="219456" cy="219456"/>
          </a:xfrm>
          <a:prstGeom prst="rect">
            <a:avLst/>
          </a:prstGeom>
        </p:spPr>
      </p:pic>
      <p:sp>
        <p:nvSpPr>
          <p:cNvPr id="17" name="Shape 11"/>
          <p:cNvSpPr/>
          <p:nvPr/>
        </p:nvSpPr>
        <p:spPr>
          <a:xfrm>
            <a:off x="9674352" y="1874520"/>
            <a:ext cx="1892808" cy="1280160"/>
          </a:xfrm>
          <a:prstGeom prst="roundRect">
            <a:avLst>
              <a:gd name="adj" fmla="val 5714"/>
            </a:avLst>
          </a:prstGeom>
          <a:solidFill>
            <a:srgbClr val="271E2C"/>
          </a:solidFill>
          <a:ln w="12700">
            <a:solidFill>
              <a:srgbClr val="3A2F40"/>
            </a:solidFill>
            <a:prstDash val="solid"/>
          </a:ln>
          <a:effectLst>
            <a:outerShdw sx="100000" sy="100000" kx="0" ky="0" algn="bl" rotWithShape="0" blurRad="114300" dist="38100" dir="5400000">
              <a:srgbClr val="000000">
                <a:alpha val="25000"/>
              </a:srgbClr>
            </a:outerShdw>
          </a:effectLst>
        </p:spPr>
      </p:sp>
      <p:sp>
        <p:nvSpPr>
          <p:cNvPr id="18" name="Text 12"/>
          <p:cNvSpPr/>
          <p:nvPr/>
        </p:nvSpPr>
        <p:spPr>
          <a:xfrm>
            <a:off x="9674352" y="1874520"/>
            <a:ext cx="1892808" cy="1280160"/>
          </a:xfrm>
          <a:prstGeom prst="rect">
            <a:avLst/>
          </a:prstGeom>
          <a:noFill/>
          <a:ln/>
        </p:spPr>
        <p:txBody>
          <a:bodyPr wrap="square" lIns="0" tIns="0" rIns="0" bIns="0" rtlCol="0" anchor="ctr"/>
          <a:lstStyle/>
          <a:p>
            <a:pPr algn="ctr" indent="0" marL="0">
              <a:buNone/>
            </a:pPr>
            <a:r>
              <a:rPr lang="en-US" sz="1300" b="1" dirty="0">
                <a:solidFill>
                  <a:srgbClr val="F4EEF0"/>
                </a:solidFill>
                <a:latin typeface="Calibri" pitchFamily="34" charset="0"/>
                <a:ea typeface="Calibri" pitchFamily="34" charset="-122"/>
                <a:cs typeface="Calibri" pitchFamily="34" charset="-120"/>
              </a:rPr>
              <a:t>Softmax</a:t>
            </a:r>
            <a:endParaRPr lang="en-US" sz="1300" dirty="0"/>
          </a:p>
          <a:p>
            <a:pPr algn="ctr" indent="0" marL="0">
              <a:buNone/>
            </a:pPr>
            <a:r>
              <a:rPr lang="en-US" sz="1300" b="1" dirty="0">
                <a:solidFill>
                  <a:srgbClr val="F4EEF0"/>
                </a:solidFill>
                <a:latin typeface="Calibri" pitchFamily="34" charset="0"/>
                <a:ea typeface="Calibri" pitchFamily="34" charset="-122"/>
                <a:cs typeface="Calibri" pitchFamily="34" charset="-120"/>
              </a:rPr>
              <a:t>3,413 movies</a:t>
            </a:r>
            <a:endParaRPr lang="en-US" sz="1300" dirty="0"/>
          </a:p>
        </p:txBody>
      </p:sp>
      <p:sp>
        <p:nvSpPr>
          <p:cNvPr id="19" name="Shape 13"/>
          <p:cNvSpPr/>
          <p:nvPr/>
        </p:nvSpPr>
        <p:spPr>
          <a:xfrm>
            <a:off x="640080" y="3429000"/>
            <a:ext cx="3593592" cy="1325880"/>
          </a:xfrm>
          <a:prstGeom prst="roundRect">
            <a:avLst>
              <a:gd name="adj" fmla="val 4828"/>
            </a:avLst>
          </a:prstGeom>
          <a:solidFill>
            <a:srgbClr val="1C1620"/>
          </a:solidFill>
          <a:ln w="12700">
            <a:solidFill>
              <a:srgbClr val="3A2F40"/>
            </a:solidFill>
            <a:prstDash val="solid"/>
          </a:ln>
        </p:spPr>
      </p:sp>
      <p:sp>
        <p:nvSpPr>
          <p:cNvPr id="20" name="Text 14"/>
          <p:cNvSpPr/>
          <p:nvPr/>
        </p:nvSpPr>
        <p:spPr>
          <a:xfrm>
            <a:off x="841248" y="3575304"/>
            <a:ext cx="3227832" cy="365760"/>
          </a:xfrm>
          <a:prstGeom prst="rect">
            <a:avLst/>
          </a:prstGeom>
          <a:noFill/>
          <a:ln/>
        </p:spPr>
        <p:txBody>
          <a:bodyPr wrap="square" lIns="0" tIns="0" rIns="0" bIns="0" rtlCol="0" anchor="ctr"/>
          <a:lstStyle/>
          <a:p>
            <a:pPr indent="0" marL="0">
              <a:buNone/>
            </a:pPr>
            <a:r>
              <a:rPr lang="en-US" sz="1300" b="1" dirty="0">
                <a:solidFill>
                  <a:srgbClr val="F4EEF0"/>
                </a:solidFill>
                <a:latin typeface="Calibri" pitchFamily="34" charset="0"/>
                <a:ea typeface="Calibri" pitchFamily="34" charset="-122"/>
                <a:cs typeface="Calibri" pitchFamily="34" charset="-120"/>
              </a:rPr>
              <a:t>Movie embedding 32d</a:t>
            </a:r>
            <a:endParaRPr lang="en-US" sz="1300" dirty="0"/>
          </a:p>
        </p:txBody>
      </p:sp>
      <p:sp>
        <p:nvSpPr>
          <p:cNvPr id="21" name="Text 15"/>
          <p:cNvSpPr/>
          <p:nvPr/>
        </p:nvSpPr>
        <p:spPr>
          <a:xfrm>
            <a:off x="841248" y="3941064"/>
            <a:ext cx="3227832" cy="731520"/>
          </a:xfrm>
          <a:prstGeom prst="rect">
            <a:avLst/>
          </a:prstGeom>
          <a:noFill/>
          <a:ln/>
        </p:spPr>
        <p:txBody>
          <a:bodyPr wrap="square" lIns="0" tIns="0" rIns="0" bIns="0" rtlCol="0" anchor="ctr"/>
          <a:lstStyle/>
          <a:p>
            <a:pPr indent="0" marL="0">
              <a:lnSpc>
                <a:spcPct val="105000"/>
              </a:lnSpc>
              <a:buNone/>
            </a:pPr>
            <a:r>
              <a:rPr lang="en-US" sz="1150" dirty="0">
                <a:solidFill>
                  <a:srgbClr val="B9A9B0"/>
                </a:solidFill>
                <a:latin typeface="Calibri" pitchFamily="34" charset="0"/>
                <a:ea typeface="Calibri" pitchFamily="34" charset="-122"/>
                <a:cs typeface="Calibri" pitchFamily="34" charset="-120"/>
              </a:rPr>
              <a:t>Each movie ID → 32 learned numbers; similar movies sit close together.</a:t>
            </a:r>
            <a:endParaRPr lang="en-US" sz="1150" dirty="0"/>
          </a:p>
        </p:txBody>
      </p:sp>
      <p:sp>
        <p:nvSpPr>
          <p:cNvPr id="22" name="Shape 16"/>
          <p:cNvSpPr/>
          <p:nvPr/>
        </p:nvSpPr>
        <p:spPr>
          <a:xfrm>
            <a:off x="4329684" y="3429000"/>
            <a:ext cx="3593592" cy="1325880"/>
          </a:xfrm>
          <a:prstGeom prst="roundRect">
            <a:avLst>
              <a:gd name="adj" fmla="val 4828"/>
            </a:avLst>
          </a:prstGeom>
          <a:solidFill>
            <a:srgbClr val="1C1620"/>
          </a:solidFill>
          <a:ln w="12700">
            <a:solidFill>
              <a:srgbClr val="3A2F40"/>
            </a:solidFill>
            <a:prstDash val="solid"/>
          </a:ln>
        </p:spPr>
      </p:sp>
      <p:sp>
        <p:nvSpPr>
          <p:cNvPr id="23" name="Text 17"/>
          <p:cNvSpPr/>
          <p:nvPr/>
        </p:nvSpPr>
        <p:spPr>
          <a:xfrm>
            <a:off x="4530852" y="3575304"/>
            <a:ext cx="3227832" cy="365760"/>
          </a:xfrm>
          <a:prstGeom prst="rect">
            <a:avLst/>
          </a:prstGeom>
          <a:noFill/>
          <a:ln/>
        </p:spPr>
        <p:txBody>
          <a:bodyPr wrap="square" lIns="0" tIns="0" rIns="0" bIns="0" rtlCol="0" anchor="ctr"/>
          <a:lstStyle/>
          <a:p>
            <a:pPr indent="0" marL="0">
              <a:buNone/>
            </a:pPr>
            <a:r>
              <a:rPr lang="en-US" sz="1300" b="1" dirty="0">
                <a:solidFill>
                  <a:srgbClr val="F4EEF0"/>
                </a:solidFill>
                <a:latin typeface="Calibri" pitchFamily="34" charset="0"/>
                <a:ea typeface="Calibri" pitchFamily="34" charset="-122"/>
                <a:cs typeface="Calibri" pitchFamily="34" charset="-120"/>
              </a:rPr>
              <a:t>Genre lookup (frozen)</a:t>
            </a:r>
            <a:endParaRPr lang="en-US" sz="1300" dirty="0"/>
          </a:p>
        </p:txBody>
      </p:sp>
      <p:sp>
        <p:nvSpPr>
          <p:cNvPr id="24" name="Text 18"/>
          <p:cNvSpPr/>
          <p:nvPr/>
        </p:nvSpPr>
        <p:spPr>
          <a:xfrm>
            <a:off x="4530852" y="3941064"/>
            <a:ext cx="3227832" cy="731520"/>
          </a:xfrm>
          <a:prstGeom prst="rect">
            <a:avLst/>
          </a:prstGeom>
          <a:noFill/>
          <a:ln/>
        </p:spPr>
        <p:txBody>
          <a:bodyPr wrap="square" lIns="0" tIns="0" rIns="0" bIns="0" rtlCol="0" anchor="ctr"/>
          <a:lstStyle/>
          <a:p>
            <a:pPr indent="0" marL="0">
              <a:lnSpc>
                <a:spcPct val="105000"/>
              </a:lnSpc>
              <a:buNone/>
            </a:pPr>
            <a:r>
              <a:rPr lang="en-US" sz="1150" dirty="0">
                <a:solidFill>
                  <a:srgbClr val="B9A9B0"/>
                </a:solidFill>
                <a:latin typeface="Calibri" pitchFamily="34" charset="0"/>
                <a:ea typeface="Calibri" pitchFamily="34" charset="-122"/>
                <a:cs typeface="Calibri" pitchFamily="34" charset="-120"/>
              </a:rPr>
              <a:t>Appends genre tags (Action, Drama…) — fixed, not trained.</a:t>
            </a:r>
            <a:endParaRPr lang="en-US" sz="1150" dirty="0"/>
          </a:p>
        </p:txBody>
      </p:sp>
      <p:sp>
        <p:nvSpPr>
          <p:cNvPr id="25" name="Shape 19"/>
          <p:cNvSpPr/>
          <p:nvPr/>
        </p:nvSpPr>
        <p:spPr>
          <a:xfrm>
            <a:off x="8019288" y="3429000"/>
            <a:ext cx="3593592" cy="1325880"/>
          </a:xfrm>
          <a:prstGeom prst="roundRect">
            <a:avLst>
              <a:gd name="adj" fmla="val 4828"/>
            </a:avLst>
          </a:prstGeom>
          <a:solidFill>
            <a:srgbClr val="1C1620"/>
          </a:solidFill>
          <a:ln w="12700">
            <a:solidFill>
              <a:srgbClr val="3A2F40"/>
            </a:solidFill>
            <a:prstDash val="solid"/>
          </a:ln>
        </p:spPr>
      </p:sp>
      <p:sp>
        <p:nvSpPr>
          <p:cNvPr id="26" name="Text 20"/>
          <p:cNvSpPr/>
          <p:nvPr/>
        </p:nvSpPr>
        <p:spPr>
          <a:xfrm>
            <a:off x="8220456" y="3575304"/>
            <a:ext cx="3227832" cy="365760"/>
          </a:xfrm>
          <a:prstGeom prst="rect">
            <a:avLst/>
          </a:prstGeom>
          <a:noFill/>
          <a:ln/>
        </p:spPr>
        <p:txBody>
          <a:bodyPr wrap="square" lIns="0" tIns="0" rIns="0" bIns="0" rtlCol="0" anchor="ctr"/>
          <a:lstStyle/>
          <a:p>
            <a:pPr indent="0" marL="0">
              <a:buNone/>
            </a:pPr>
            <a:r>
              <a:rPr lang="en-US" sz="1300" b="1" dirty="0">
                <a:solidFill>
                  <a:srgbClr val="F4EEF0"/>
                </a:solidFill>
                <a:latin typeface="Calibri" pitchFamily="34" charset="0"/>
                <a:ea typeface="Calibri" pitchFamily="34" charset="-122"/>
                <a:cs typeface="Calibri" pitchFamily="34" charset="-120"/>
              </a:rPr>
              <a:t>Star-rating channel</a:t>
            </a:r>
            <a:endParaRPr lang="en-US" sz="1300" dirty="0"/>
          </a:p>
        </p:txBody>
      </p:sp>
      <p:sp>
        <p:nvSpPr>
          <p:cNvPr id="27" name="Text 21"/>
          <p:cNvSpPr/>
          <p:nvPr/>
        </p:nvSpPr>
        <p:spPr>
          <a:xfrm>
            <a:off x="8220456" y="3941064"/>
            <a:ext cx="3227832" cy="731520"/>
          </a:xfrm>
          <a:prstGeom prst="rect">
            <a:avLst/>
          </a:prstGeom>
          <a:noFill/>
          <a:ln/>
        </p:spPr>
        <p:txBody>
          <a:bodyPr wrap="square" lIns="0" tIns="0" rIns="0" bIns="0" rtlCol="0" anchor="ctr"/>
          <a:lstStyle/>
          <a:p>
            <a:pPr indent="0" marL="0">
              <a:lnSpc>
                <a:spcPct val="105000"/>
              </a:lnSpc>
              <a:buNone/>
            </a:pPr>
            <a:r>
              <a:rPr lang="en-US" sz="1150" dirty="0">
                <a:solidFill>
                  <a:srgbClr val="B9A9B0"/>
                </a:solidFill>
                <a:latin typeface="Calibri" pitchFamily="34" charset="0"/>
                <a:ea typeface="Calibri" pitchFamily="34" charset="-122"/>
                <a:cs typeface="Calibri" pitchFamily="34" charset="-120"/>
              </a:rPr>
              <a:t>Appends your rescaled 1–5 rating — loved it or hated it.</a:t>
            </a:r>
            <a:endParaRPr lang="en-US" sz="1150" dirty="0"/>
          </a:p>
        </p:txBody>
      </p:sp>
      <p:sp>
        <p:nvSpPr>
          <p:cNvPr id="28" name="Shape 22"/>
          <p:cNvSpPr/>
          <p:nvPr/>
        </p:nvSpPr>
        <p:spPr>
          <a:xfrm>
            <a:off x="640080" y="4864608"/>
            <a:ext cx="3593592" cy="1325880"/>
          </a:xfrm>
          <a:prstGeom prst="roundRect">
            <a:avLst>
              <a:gd name="adj" fmla="val 4828"/>
            </a:avLst>
          </a:prstGeom>
          <a:solidFill>
            <a:srgbClr val="1C1620"/>
          </a:solidFill>
          <a:ln w="12700">
            <a:solidFill>
              <a:srgbClr val="3A2F40"/>
            </a:solidFill>
            <a:prstDash val="solid"/>
          </a:ln>
        </p:spPr>
      </p:sp>
      <p:sp>
        <p:nvSpPr>
          <p:cNvPr id="29" name="Text 23"/>
          <p:cNvSpPr/>
          <p:nvPr/>
        </p:nvSpPr>
        <p:spPr>
          <a:xfrm>
            <a:off x="841248" y="5010912"/>
            <a:ext cx="3227832" cy="365760"/>
          </a:xfrm>
          <a:prstGeom prst="rect">
            <a:avLst/>
          </a:prstGeom>
          <a:noFill/>
          <a:ln/>
        </p:spPr>
        <p:txBody>
          <a:bodyPr wrap="square" lIns="0" tIns="0" rIns="0" bIns="0" rtlCol="0" anchor="ctr"/>
          <a:lstStyle/>
          <a:p>
            <a:pPr indent="0" marL="0">
              <a:buNone/>
            </a:pPr>
            <a:r>
              <a:rPr lang="en-US" sz="1300" b="1" dirty="0">
                <a:solidFill>
                  <a:srgbClr val="F4EEF0"/>
                </a:solidFill>
                <a:latin typeface="Calibri" pitchFamily="34" charset="0"/>
                <a:ea typeface="Calibri" pitchFamily="34" charset="-122"/>
                <a:cs typeface="Calibri" pitchFamily="34" charset="-120"/>
              </a:rPr>
              <a:t>GRU 64 units</a:t>
            </a:r>
            <a:endParaRPr lang="en-US" sz="1300" dirty="0"/>
          </a:p>
        </p:txBody>
      </p:sp>
      <p:sp>
        <p:nvSpPr>
          <p:cNvPr id="30" name="Text 24"/>
          <p:cNvSpPr/>
          <p:nvPr/>
        </p:nvSpPr>
        <p:spPr>
          <a:xfrm>
            <a:off x="841248" y="5376672"/>
            <a:ext cx="3227832" cy="731520"/>
          </a:xfrm>
          <a:prstGeom prst="rect">
            <a:avLst/>
          </a:prstGeom>
          <a:noFill/>
          <a:ln/>
        </p:spPr>
        <p:txBody>
          <a:bodyPr wrap="square" lIns="0" tIns="0" rIns="0" bIns="0" rtlCol="0" anchor="ctr"/>
          <a:lstStyle/>
          <a:p>
            <a:pPr indent="0" marL="0">
              <a:lnSpc>
                <a:spcPct val="105000"/>
              </a:lnSpc>
              <a:buNone/>
            </a:pPr>
            <a:r>
              <a:rPr lang="en-US" sz="1150" dirty="0">
                <a:solidFill>
                  <a:srgbClr val="B9A9B0"/>
                </a:solidFill>
                <a:latin typeface="Calibri" pitchFamily="34" charset="0"/>
                <a:ea typeface="Calibri" pitchFamily="34" charset="-122"/>
                <a:cs typeface="Calibri" pitchFamily="34" charset="-120"/>
              </a:rPr>
              <a:t>Reads the sequence left-to-right into one taste vector.</a:t>
            </a:r>
            <a:endParaRPr lang="en-US" sz="1150" dirty="0"/>
          </a:p>
        </p:txBody>
      </p:sp>
      <p:sp>
        <p:nvSpPr>
          <p:cNvPr id="31" name="Shape 25"/>
          <p:cNvSpPr/>
          <p:nvPr/>
        </p:nvSpPr>
        <p:spPr>
          <a:xfrm>
            <a:off x="4329684" y="4864608"/>
            <a:ext cx="3593592" cy="1325880"/>
          </a:xfrm>
          <a:prstGeom prst="roundRect">
            <a:avLst>
              <a:gd name="adj" fmla="val 4828"/>
            </a:avLst>
          </a:prstGeom>
          <a:solidFill>
            <a:srgbClr val="1C1620"/>
          </a:solidFill>
          <a:ln w="12700">
            <a:solidFill>
              <a:srgbClr val="3A2F40"/>
            </a:solidFill>
            <a:prstDash val="solid"/>
          </a:ln>
        </p:spPr>
      </p:sp>
      <p:sp>
        <p:nvSpPr>
          <p:cNvPr id="32" name="Text 26"/>
          <p:cNvSpPr/>
          <p:nvPr/>
        </p:nvSpPr>
        <p:spPr>
          <a:xfrm>
            <a:off x="4530852" y="5010912"/>
            <a:ext cx="3227832" cy="365760"/>
          </a:xfrm>
          <a:prstGeom prst="rect">
            <a:avLst/>
          </a:prstGeom>
          <a:noFill/>
          <a:ln/>
        </p:spPr>
        <p:txBody>
          <a:bodyPr wrap="square" lIns="0" tIns="0" rIns="0" bIns="0" rtlCol="0" anchor="ctr"/>
          <a:lstStyle/>
          <a:p>
            <a:pPr indent="0" marL="0">
              <a:buNone/>
            </a:pPr>
            <a:r>
              <a:rPr lang="en-US" sz="1300" b="1" dirty="0">
                <a:solidFill>
                  <a:srgbClr val="F4EEF0"/>
                </a:solidFill>
                <a:latin typeface="Calibri" pitchFamily="34" charset="0"/>
                <a:ea typeface="Calibri" pitchFamily="34" charset="-122"/>
                <a:cs typeface="Calibri" pitchFamily="34" charset="-120"/>
              </a:rPr>
              <a:t>Dropout 0.3</a:t>
            </a:r>
            <a:endParaRPr lang="en-US" sz="1300" dirty="0"/>
          </a:p>
        </p:txBody>
      </p:sp>
      <p:sp>
        <p:nvSpPr>
          <p:cNvPr id="33" name="Text 27"/>
          <p:cNvSpPr/>
          <p:nvPr/>
        </p:nvSpPr>
        <p:spPr>
          <a:xfrm>
            <a:off x="4530852" y="5376672"/>
            <a:ext cx="3227832" cy="731520"/>
          </a:xfrm>
          <a:prstGeom prst="rect">
            <a:avLst/>
          </a:prstGeom>
          <a:noFill/>
          <a:ln/>
        </p:spPr>
        <p:txBody>
          <a:bodyPr wrap="square" lIns="0" tIns="0" rIns="0" bIns="0" rtlCol="0" anchor="ctr"/>
          <a:lstStyle/>
          <a:p>
            <a:pPr indent="0" marL="0">
              <a:lnSpc>
                <a:spcPct val="105000"/>
              </a:lnSpc>
              <a:buNone/>
            </a:pPr>
            <a:r>
              <a:rPr lang="en-US" sz="1150" dirty="0">
                <a:solidFill>
                  <a:srgbClr val="B9A9B0"/>
                </a:solidFill>
                <a:latin typeface="Calibri" pitchFamily="34" charset="0"/>
                <a:ea typeface="Calibri" pitchFamily="34" charset="-122"/>
                <a:cs typeface="Calibri" pitchFamily="34" charset="-120"/>
              </a:rPr>
              <a:t>Zeroes 30% of neurons in training — prevents memorization.</a:t>
            </a:r>
            <a:endParaRPr lang="en-US" sz="1150" dirty="0"/>
          </a:p>
        </p:txBody>
      </p:sp>
      <p:sp>
        <p:nvSpPr>
          <p:cNvPr id="34" name="Shape 28"/>
          <p:cNvSpPr/>
          <p:nvPr/>
        </p:nvSpPr>
        <p:spPr>
          <a:xfrm>
            <a:off x="8019288" y="4864608"/>
            <a:ext cx="3593592" cy="1325880"/>
          </a:xfrm>
          <a:prstGeom prst="roundRect">
            <a:avLst>
              <a:gd name="adj" fmla="val 4828"/>
            </a:avLst>
          </a:prstGeom>
          <a:solidFill>
            <a:srgbClr val="1C1620"/>
          </a:solidFill>
          <a:ln w="12700">
            <a:solidFill>
              <a:srgbClr val="3A2F40"/>
            </a:solidFill>
            <a:prstDash val="solid"/>
          </a:ln>
        </p:spPr>
      </p:sp>
      <p:sp>
        <p:nvSpPr>
          <p:cNvPr id="35" name="Text 29"/>
          <p:cNvSpPr/>
          <p:nvPr/>
        </p:nvSpPr>
        <p:spPr>
          <a:xfrm>
            <a:off x="8220456" y="5010912"/>
            <a:ext cx="3227832" cy="365760"/>
          </a:xfrm>
          <a:prstGeom prst="rect">
            <a:avLst/>
          </a:prstGeom>
          <a:noFill/>
          <a:ln/>
        </p:spPr>
        <p:txBody>
          <a:bodyPr wrap="square" lIns="0" tIns="0" rIns="0" bIns="0" rtlCol="0" anchor="ctr"/>
          <a:lstStyle/>
          <a:p>
            <a:pPr indent="0" marL="0">
              <a:buNone/>
            </a:pPr>
            <a:r>
              <a:rPr lang="en-US" sz="1300" b="1" dirty="0">
                <a:solidFill>
                  <a:srgbClr val="F4EEF0"/>
                </a:solidFill>
                <a:latin typeface="Calibri" pitchFamily="34" charset="0"/>
                <a:ea typeface="Calibri" pitchFamily="34" charset="-122"/>
                <a:cs typeface="Calibri" pitchFamily="34" charset="-120"/>
              </a:rPr>
              <a:t>Softmax</a:t>
            </a:r>
            <a:endParaRPr lang="en-US" sz="1300" dirty="0"/>
          </a:p>
        </p:txBody>
      </p:sp>
      <p:sp>
        <p:nvSpPr>
          <p:cNvPr id="36" name="Text 30"/>
          <p:cNvSpPr/>
          <p:nvPr/>
        </p:nvSpPr>
        <p:spPr>
          <a:xfrm>
            <a:off x="8220456" y="5376672"/>
            <a:ext cx="3227832" cy="731520"/>
          </a:xfrm>
          <a:prstGeom prst="rect">
            <a:avLst/>
          </a:prstGeom>
          <a:noFill/>
          <a:ln/>
        </p:spPr>
        <p:txBody>
          <a:bodyPr wrap="square" lIns="0" tIns="0" rIns="0" bIns="0" rtlCol="0" anchor="ctr"/>
          <a:lstStyle/>
          <a:p>
            <a:pPr indent="0" marL="0">
              <a:lnSpc>
                <a:spcPct val="105000"/>
              </a:lnSpc>
              <a:buNone/>
            </a:pPr>
            <a:r>
              <a:rPr lang="en-US" sz="1150" dirty="0">
                <a:solidFill>
                  <a:srgbClr val="B9A9B0"/>
                </a:solidFill>
                <a:latin typeface="Calibri" pitchFamily="34" charset="0"/>
                <a:ea typeface="Calibri" pitchFamily="34" charset="-122"/>
                <a:cs typeface="Calibri" pitchFamily="34" charset="-120"/>
              </a:rPr>
              <a:t>A probability for every movie — highest = recommendation.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F5"/>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D11F3C"/>
                </a:solidFill>
                <a:latin typeface="Calibri" pitchFamily="34" charset="0"/>
                <a:ea typeface="Calibri" pitchFamily="34" charset="-122"/>
                <a:cs typeface="Calibri" pitchFamily="34" charset="-120"/>
              </a:rPr>
              <a:t>WHY THESE CHOICES?</a:t>
            </a:r>
            <a:endParaRPr lang="en-US" sz="1200" dirty="0"/>
          </a:p>
        </p:txBody>
      </p:sp>
      <p:sp>
        <p:nvSpPr>
          <p:cNvPr id="3" name="Text 1"/>
          <p:cNvSpPr/>
          <p:nvPr/>
        </p:nvSpPr>
        <p:spPr>
          <a:xfrm>
            <a:off x="640080" y="658368"/>
            <a:ext cx="10881360" cy="822960"/>
          </a:xfrm>
          <a:prstGeom prst="rect">
            <a:avLst/>
          </a:prstGeom>
          <a:noFill/>
          <a:ln/>
        </p:spPr>
        <p:txBody>
          <a:bodyPr wrap="square" lIns="0" tIns="0" rIns="0" bIns="0" rtlCol="0" anchor="ctr"/>
          <a:lstStyle/>
          <a:p>
            <a:pPr indent="0" marL="0">
              <a:buNone/>
            </a:pPr>
            <a:r>
              <a:rPr lang="en-US" sz="2900" b="1" dirty="0">
                <a:solidFill>
                  <a:srgbClr val="1A151D"/>
                </a:solidFill>
                <a:latin typeface="Cambria" pitchFamily="34" charset="0"/>
                <a:ea typeface="Cambria" pitchFamily="34" charset="-122"/>
                <a:cs typeface="Cambria" pitchFamily="34" charset="-120"/>
              </a:rPr>
              <a:t>Experiments E3 / E4 / E5 — nothing guessed</a:t>
            </a:r>
            <a:endParaRPr lang="en-US" sz="2900" dirty="0"/>
          </a:p>
        </p:txBody>
      </p:sp>
      <p:sp>
        <p:nvSpPr>
          <p:cNvPr id="4" name="Text 2"/>
          <p:cNvSpPr/>
          <p:nvPr/>
        </p:nvSpPr>
        <p:spPr>
          <a:xfrm>
            <a:off x="11155680" y="384048"/>
            <a:ext cx="731520" cy="457200"/>
          </a:xfrm>
          <a:prstGeom prst="rect">
            <a:avLst/>
          </a:prstGeom>
          <a:noFill/>
          <a:ln/>
        </p:spPr>
        <p:txBody>
          <a:bodyPr wrap="square" lIns="0" tIns="0" rIns="0" bIns="0" rtlCol="0" anchor="ctr"/>
          <a:lstStyle/>
          <a:p>
            <a:pPr algn="r" indent="0" marL="0">
              <a:buNone/>
            </a:pPr>
            <a:r>
              <a:rPr lang="en-US" sz="1600" b="1" dirty="0">
                <a:solidFill>
                  <a:srgbClr val="E3DADE"/>
                </a:solidFill>
                <a:latin typeface="Cambria" pitchFamily="34" charset="0"/>
                <a:ea typeface="Cambria" pitchFamily="34" charset="-122"/>
                <a:cs typeface="Cambria" pitchFamily="34" charset="-120"/>
              </a:rPr>
              <a:t>05</a:t>
            </a:r>
            <a:endParaRPr lang="en-US" sz="1600" dirty="0"/>
          </a:p>
        </p:txBody>
      </p:sp>
      <p:sp>
        <p:nvSpPr>
          <p:cNvPr id="5" name="Text 3"/>
          <p:cNvSpPr/>
          <p:nvPr/>
        </p:nvSpPr>
        <p:spPr>
          <a:xfrm>
            <a:off x="640080" y="1463040"/>
            <a:ext cx="3657600" cy="320040"/>
          </a:xfrm>
          <a:prstGeom prst="rect">
            <a:avLst/>
          </a:prstGeom>
          <a:noFill/>
          <a:ln/>
        </p:spPr>
        <p:txBody>
          <a:bodyPr wrap="square" lIns="0" tIns="0" rIns="0" bIns="0" rtlCol="0" anchor="ctr"/>
          <a:lstStyle/>
          <a:p>
            <a:pPr indent="0" marL="0">
              <a:buNone/>
            </a:pPr>
            <a:r>
              <a:rPr lang="en-US" sz="1300" b="1" dirty="0">
                <a:solidFill>
                  <a:srgbClr val="D11F3C"/>
                </a:solidFill>
                <a:latin typeface="Calibri" pitchFamily="34" charset="0"/>
                <a:ea typeface="Calibri" pitchFamily="34" charset="-122"/>
                <a:cs typeface="Calibri" pitchFamily="34" charset="-120"/>
              </a:rPr>
              <a:t>E3 — history length</a:t>
            </a:r>
            <a:endParaRPr lang="en-US" sz="1300" dirty="0"/>
          </a:p>
        </p:txBody>
      </p:sp>
      <p:sp>
        <p:nvSpPr>
          <p:cNvPr id="6" name="Shape 4"/>
          <p:cNvSpPr/>
          <p:nvPr/>
        </p:nvSpPr>
        <p:spPr>
          <a:xfrm>
            <a:off x="640080" y="1783080"/>
            <a:ext cx="1828800" cy="457200"/>
          </a:xfrm>
          <a:prstGeom prst="rect">
            <a:avLst/>
          </a:prstGeom>
          <a:solidFill>
            <a:srgbClr val="1A151D"/>
          </a:solidFill>
          <a:ln/>
        </p:spPr>
      </p:sp>
      <p:sp>
        <p:nvSpPr>
          <p:cNvPr id="7" name="Text 5"/>
          <p:cNvSpPr/>
          <p:nvPr/>
        </p:nvSpPr>
        <p:spPr>
          <a:xfrm>
            <a:off x="713232" y="1783080"/>
            <a:ext cx="1682496" cy="457200"/>
          </a:xfrm>
          <a:prstGeom prst="rect">
            <a:avLst/>
          </a:prstGeom>
          <a:noFill/>
          <a:ln/>
        </p:spPr>
        <p:txBody>
          <a:bodyPr wrap="square" lIns="0" tIns="0" rIns="0" bIns="0" rtlCol="0" anchor="ctr"/>
          <a:lstStyle/>
          <a:p>
            <a:pPr algn="l" indent="0" marL="0">
              <a:buNone/>
            </a:pPr>
            <a:r>
              <a:rPr lang="en-US" sz="1250" b="1" dirty="0">
                <a:solidFill>
                  <a:srgbClr val="F4EEF0"/>
                </a:solidFill>
                <a:latin typeface="Calibri" pitchFamily="34" charset="0"/>
                <a:ea typeface="Calibri" pitchFamily="34" charset="-122"/>
                <a:cs typeface="Calibri" pitchFamily="34" charset="-120"/>
              </a:rPr>
              <a:t>Length</a:t>
            </a:r>
            <a:endParaRPr lang="en-US" sz="1250" dirty="0"/>
          </a:p>
        </p:txBody>
      </p:sp>
      <p:sp>
        <p:nvSpPr>
          <p:cNvPr id="8" name="Shape 6"/>
          <p:cNvSpPr/>
          <p:nvPr/>
        </p:nvSpPr>
        <p:spPr>
          <a:xfrm>
            <a:off x="2468880" y="1783080"/>
            <a:ext cx="1737360" cy="457200"/>
          </a:xfrm>
          <a:prstGeom prst="rect">
            <a:avLst/>
          </a:prstGeom>
          <a:solidFill>
            <a:srgbClr val="1A151D"/>
          </a:solidFill>
          <a:ln/>
        </p:spPr>
      </p:sp>
      <p:sp>
        <p:nvSpPr>
          <p:cNvPr id="9" name="Text 7"/>
          <p:cNvSpPr/>
          <p:nvPr/>
        </p:nvSpPr>
        <p:spPr>
          <a:xfrm>
            <a:off x="2542032" y="1783080"/>
            <a:ext cx="1591056" cy="457200"/>
          </a:xfrm>
          <a:prstGeom prst="rect">
            <a:avLst/>
          </a:prstGeom>
          <a:noFill/>
          <a:ln/>
        </p:spPr>
        <p:txBody>
          <a:bodyPr wrap="square" lIns="0" tIns="0" rIns="0" bIns="0" rtlCol="0" anchor="ctr"/>
          <a:lstStyle/>
          <a:p>
            <a:pPr algn="ctr" indent="0" marL="0">
              <a:buNone/>
            </a:pPr>
            <a:r>
              <a:rPr lang="en-US" sz="1250" b="1" dirty="0">
                <a:solidFill>
                  <a:srgbClr val="F4EEF0"/>
                </a:solidFill>
                <a:latin typeface="Calibri" pitchFamily="34" charset="0"/>
                <a:ea typeface="Calibri" pitchFamily="34" charset="-122"/>
                <a:cs typeface="Calibri" pitchFamily="34" charset="-120"/>
              </a:rPr>
              <a:t>HR@10</a:t>
            </a:r>
            <a:endParaRPr lang="en-US" sz="1250" dirty="0"/>
          </a:p>
        </p:txBody>
      </p:sp>
      <p:sp>
        <p:nvSpPr>
          <p:cNvPr id="10" name="Shape 8"/>
          <p:cNvSpPr/>
          <p:nvPr/>
        </p:nvSpPr>
        <p:spPr>
          <a:xfrm>
            <a:off x="640080" y="2240280"/>
            <a:ext cx="1828800" cy="475488"/>
          </a:xfrm>
          <a:prstGeom prst="rect">
            <a:avLst/>
          </a:prstGeom>
          <a:solidFill>
            <a:srgbClr val="F4EEF0"/>
          </a:solidFill>
          <a:ln w="6350">
            <a:solidFill>
              <a:srgbClr val="E3DADE"/>
            </a:solidFill>
            <a:prstDash val="solid"/>
          </a:ln>
        </p:spPr>
      </p:sp>
      <p:sp>
        <p:nvSpPr>
          <p:cNvPr id="11" name="Text 9"/>
          <p:cNvSpPr/>
          <p:nvPr/>
        </p:nvSpPr>
        <p:spPr>
          <a:xfrm>
            <a:off x="713232" y="2240280"/>
            <a:ext cx="1682496" cy="475488"/>
          </a:xfrm>
          <a:prstGeom prst="rect">
            <a:avLst/>
          </a:prstGeom>
          <a:noFill/>
          <a:ln/>
        </p:spPr>
        <p:txBody>
          <a:bodyPr wrap="square" lIns="0" tIns="0" rIns="0" bIns="0" rtlCol="0" anchor="ctr"/>
          <a:lstStyle/>
          <a:p>
            <a:pPr algn="l" indent="0" marL="0">
              <a:buNone/>
            </a:pPr>
            <a:r>
              <a:rPr lang="en-US" sz="1250" b="1" dirty="0">
                <a:solidFill>
                  <a:srgbClr val="1A151D"/>
                </a:solidFill>
                <a:latin typeface="Calibri" pitchFamily="34" charset="0"/>
                <a:ea typeface="Calibri" pitchFamily="34" charset="-122"/>
                <a:cs typeface="Calibri" pitchFamily="34" charset="-120"/>
              </a:rPr>
              <a:t>L = 10</a:t>
            </a:r>
            <a:endParaRPr lang="en-US" sz="1250" dirty="0"/>
          </a:p>
        </p:txBody>
      </p:sp>
      <p:sp>
        <p:nvSpPr>
          <p:cNvPr id="12" name="Shape 10"/>
          <p:cNvSpPr/>
          <p:nvPr/>
        </p:nvSpPr>
        <p:spPr>
          <a:xfrm>
            <a:off x="2468880" y="2240280"/>
            <a:ext cx="1737360" cy="475488"/>
          </a:xfrm>
          <a:prstGeom prst="rect">
            <a:avLst/>
          </a:prstGeom>
          <a:solidFill>
            <a:srgbClr val="F4EEF0"/>
          </a:solidFill>
          <a:ln w="6350">
            <a:solidFill>
              <a:srgbClr val="E3DADE"/>
            </a:solidFill>
            <a:prstDash val="solid"/>
          </a:ln>
        </p:spPr>
      </p:sp>
      <p:sp>
        <p:nvSpPr>
          <p:cNvPr id="13" name="Text 11"/>
          <p:cNvSpPr/>
          <p:nvPr/>
        </p:nvSpPr>
        <p:spPr>
          <a:xfrm>
            <a:off x="2542032" y="2240280"/>
            <a:ext cx="15910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0.2707</a:t>
            </a:r>
            <a:endParaRPr lang="en-US" sz="1250" dirty="0"/>
          </a:p>
        </p:txBody>
      </p:sp>
      <p:sp>
        <p:nvSpPr>
          <p:cNvPr id="14" name="Shape 12"/>
          <p:cNvSpPr/>
          <p:nvPr/>
        </p:nvSpPr>
        <p:spPr>
          <a:xfrm>
            <a:off x="640080" y="2715768"/>
            <a:ext cx="1828800" cy="475488"/>
          </a:xfrm>
          <a:prstGeom prst="rect">
            <a:avLst/>
          </a:prstGeom>
          <a:solidFill>
            <a:srgbClr val="FBEEF1"/>
          </a:solidFill>
          <a:ln w="6350">
            <a:solidFill>
              <a:srgbClr val="E3DADE"/>
            </a:solidFill>
            <a:prstDash val="solid"/>
          </a:ln>
        </p:spPr>
      </p:sp>
      <p:sp>
        <p:nvSpPr>
          <p:cNvPr id="15" name="Text 13"/>
          <p:cNvSpPr/>
          <p:nvPr/>
        </p:nvSpPr>
        <p:spPr>
          <a:xfrm>
            <a:off x="713232" y="2715768"/>
            <a:ext cx="1682496" cy="475488"/>
          </a:xfrm>
          <a:prstGeom prst="rect">
            <a:avLst/>
          </a:prstGeom>
          <a:noFill/>
          <a:ln/>
        </p:spPr>
        <p:txBody>
          <a:bodyPr wrap="square" lIns="0" tIns="0" rIns="0" bIns="0" rtlCol="0" anchor="ctr"/>
          <a:lstStyle/>
          <a:p>
            <a:pPr algn="l" indent="0" marL="0">
              <a:buNone/>
            </a:pPr>
            <a:r>
              <a:rPr lang="en-US" sz="1250" b="1" dirty="0">
                <a:solidFill>
                  <a:srgbClr val="D11F3C"/>
                </a:solidFill>
                <a:latin typeface="Calibri" pitchFamily="34" charset="0"/>
                <a:ea typeface="Calibri" pitchFamily="34" charset="-122"/>
                <a:cs typeface="Calibri" pitchFamily="34" charset="-120"/>
              </a:rPr>
              <a:t>L = 20</a:t>
            </a:r>
            <a:endParaRPr lang="en-US" sz="1250" dirty="0"/>
          </a:p>
        </p:txBody>
      </p:sp>
      <p:sp>
        <p:nvSpPr>
          <p:cNvPr id="16" name="Shape 14"/>
          <p:cNvSpPr/>
          <p:nvPr/>
        </p:nvSpPr>
        <p:spPr>
          <a:xfrm>
            <a:off x="2468880" y="2715768"/>
            <a:ext cx="1737360" cy="475488"/>
          </a:xfrm>
          <a:prstGeom prst="rect">
            <a:avLst/>
          </a:prstGeom>
          <a:solidFill>
            <a:srgbClr val="FBEEF1"/>
          </a:solidFill>
          <a:ln w="6350">
            <a:solidFill>
              <a:srgbClr val="E3DADE"/>
            </a:solidFill>
            <a:prstDash val="solid"/>
          </a:ln>
        </p:spPr>
      </p:sp>
      <p:sp>
        <p:nvSpPr>
          <p:cNvPr id="17" name="Text 15"/>
          <p:cNvSpPr/>
          <p:nvPr/>
        </p:nvSpPr>
        <p:spPr>
          <a:xfrm>
            <a:off x="2542032" y="2715768"/>
            <a:ext cx="1591056" cy="475488"/>
          </a:xfrm>
          <a:prstGeom prst="rect">
            <a:avLst/>
          </a:prstGeom>
          <a:noFill/>
          <a:ln/>
        </p:spPr>
        <p:txBody>
          <a:bodyPr wrap="square" lIns="0" tIns="0" rIns="0" bIns="0" rtlCol="0" anchor="ctr"/>
          <a:lstStyle/>
          <a:p>
            <a:pPr algn="ctr" indent="0" marL="0">
              <a:buNone/>
            </a:pPr>
            <a:r>
              <a:rPr lang="en-US" sz="1250" b="1" dirty="0">
                <a:solidFill>
                  <a:srgbClr val="D11F3C"/>
                </a:solidFill>
                <a:latin typeface="Calibri" pitchFamily="34" charset="0"/>
                <a:ea typeface="Calibri" pitchFamily="34" charset="-122"/>
                <a:cs typeface="Calibri" pitchFamily="34" charset="-120"/>
              </a:rPr>
              <a:t>0.2779</a:t>
            </a:r>
            <a:endParaRPr lang="en-US" sz="1250" dirty="0"/>
          </a:p>
        </p:txBody>
      </p:sp>
      <p:sp>
        <p:nvSpPr>
          <p:cNvPr id="18" name="Shape 16"/>
          <p:cNvSpPr/>
          <p:nvPr/>
        </p:nvSpPr>
        <p:spPr>
          <a:xfrm>
            <a:off x="640080" y="3191256"/>
            <a:ext cx="1828800" cy="475488"/>
          </a:xfrm>
          <a:prstGeom prst="rect">
            <a:avLst/>
          </a:prstGeom>
          <a:solidFill>
            <a:srgbClr val="F4EEF0"/>
          </a:solidFill>
          <a:ln w="6350">
            <a:solidFill>
              <a:srgbClr val="E3DADE"/>
            </a:solidFill>
            <a:prstDash val="solid"/>
          </a:ln>
        </p:spPr>
      </p:sp>
      <p:sp>
        <p:nvSpPr>
          <p:cNvPr id="19" name="Text 17"/>
          <p:cNvSpPr/>
          <p:nvPr/>
        </p:nvSpPr>
        <p:spPr>
          <a:xfrm>
            <a:off x="713232" y="3191256"/>
            <a:ext cx="1682496" cy="475488"/>
          </a:xfrm>
          <a:prstGeom prst="rect">
            <a:avLst/>
          </a:prstGeom>
          <a:noFill/>
          <a:ln/>
        </p:spPr>
        <p:txBody>
          <a:bodyPr wrap="square" lIns="0" tIns="0" rIns="0" bIns="0" rtlCol="0" anchor="ctr"/>
          <a:lstStyle/>
          <a:p>
            <a:pPr algn="l" indent="0" marL="0">
              <a:buNone/>
            </a:pPr>
            <a:r>
              <a:rPr lang="en-US" sz="1250" b="1" dirty="0">
                <a:solidFill>
                  <a:srgbClr val="1A151D"/>
                </a:solidFill>
                <a:latin typeface="Calibri" pitchFamily="34" charset="0"/>
                <a:ea typeface="Calibri" pitchFamily="34" charset="-122"/>
                <a:cs typeface="Calibri" pitchFamily="34" charset="-120"/>
              </a:rPr>
              <a:t>L = 50</a:t>
            </a:r>
            <a:endParaRPr lang="en-US" sz="1250" dirty="0"/>
          </a:p>
        </p:txBody>
      </p:sp>
      <p:sp>
        <p:nvSpPr>
          <p:cNvPr id="20" name="Shape 18"/>
          <p:cNvSpPr/>
          <p:nvPr/>
        </p:nvSpPr>
        <p:spPr>
          <a:xfrm>
            <a:off x="2468880" y="3191256"/>
            <a:ext cx="1737360" cy="475488"/>
          </a:xfrm>
          <a:prstGeom prst="rect">
            <a:avLst/>
          </a:prstGeom>
          <a:solidFill>
            <a:srgbClr val="F4EEF0"/>
          </a:solidFill>
          <a:ln w="6350">
            <a:solidFill>
              <a:srgbClr val="E3DADE"/>
            </a:solidFill>
            <a:prstDash val="solid"/>
          </a:ln>
        </p:spPr>
      </p:sp>
      <p:sp>
        <p:nvSpPr>
          <p:cNvPr id="21" name="Text 19"/>
          <p:cNvSpPr/>
          <p:nvPr/>
        </p:nvSpPr>
        <p:spPr>
          <a:xfrm>
            <a:off x="2542032" y="3191256"/>
            <a:ext cx="15910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0.2739</a:t>
            </a:r>
            <a:endParaRPr lang="en-US" sz="1250" dirty="0"/>
          </a:p>
        </p:txBody>
      </p:sp>
      <p:sp>
        <p:nvSpPr>
          <p:cNvPr id="22" name="Text 20"/>
          <p:cNvSpPr/>
          <p:nvPr/>
        </p:nvSpPr>
        <p:spPr>
          <a:xfrm>
            <a:off x="640080" y="3520440"/>
            <a:ext cx="3566160" cy="548640"/>
          </a:xfrm>
          <a:prstGeom prst="rect">
            <a:avLst/>
          </a:prstGeom>
          <a:noFill/>
          <a:ln/>
        </p:spPr>
        <p:txBody>
          <a:bodyPr wrap="square" lIns="0" tIns="0" rIns="0" bIns="0" rtlCol="0" anchor="ctr"/>
          <a:lstStyle/>
          <a:p>
            <a:pPr indent="0" marL="0">
              <a:lnSpc>
                <a:spcPct val="105000"/>
              </a:lnSpc>
              <a:buNone/>
            </a:pPr>
            <a:r>
              <a:rPr lang="en-US" sz="1100" i="1" dirty="0">
                <a:solidFill>
                  <a:srgbClr val="6E6168"/>
                </a:solidFill>
                <a:latin typeface="Calibri" pitchFamily="34" charset="0"/>
                <a:ea typeface="Calibri" pitchFamily="34" charset="-122"/>
                <a:cs typeface="Calibri" pitchFamily="34" charset="-120"/>
              </a:rPr>
              <a:t>L=20 beats L=50 — recent taste &gt; old history.</a:t>
            </a:r>
            <a:endParaRPr lang="en-US" sz="1100" dirty="0"/>
          </a:p>
        </p:txBody>
      </p:sp>
      <p:sp>
        <p:nvSpPr>
          <p:cNvPr id="23" name="Text 21"/>
          <p:cNvSpPr/>
          <p:nvPr/>
        </p:nvSpPr>
        <p:spPr>
          <a:xfrm>
            <a:off x="4434840" y="1463040"/>
            <a:ext cx="3657600" cy="320040"/>
          </a:xfrm>
          <a:prstGeom prst="rect">
            <a:avLst/>
          </a:prstGeom>
          <a:noFill/>
          <a:ln/>
        </p:spPr>
        <p:txBody>
          <a:bodyPr wrap="square" lIns="0" tIns="0" rIns="0" bIns="0" rtlCol="0" anchor="ctr"/>
          <a:lstStyle/>
          <a:p>
            <a:pPr indent="0" marL="0">
              <a:buNone/>
            </a:pPr>
            <a:r>
              <a:rPr lang="en-US" sz="1300" b="1" dirty="0">
                <a:solidFill>
                  <a:srgbClr val="D11F3C"/>
                </a:solidFill>
                <a:latin typeface="Calibri" pitchFamily="34" charset="0"/>
                <a:ea typeface="Calibri" pitchFamily="34" charset="-122"/>
                <a:cs typeface="Calibri" pitchFamily="34" charset="-120"/>
              </a:rPr>
              <a:t>E4 — model size</a:t>
            </a:r>
            <a:endParaRPr lang="en-US" sz="1300" dirty="0"/>
          </a:p>
        </p:txBody>
      </p:sp>
      <p:sp>
        <p:nvSpPr>
          <p:cNvPr id="24" name="Shape 22"/>
          <p:cNvSpPr/>
          <p:nvPr/>
        </p:nvSpPr>
        <p:spPr>
          <a:xfrm>
            <a:off x="4434840" y="1783080"/>
            <a:ext cx="2194560" cy="457200"/>
          </a:xfrm>
          <a:prstGeom prst="rect">
            <a:avLst/>
          </a:prstGeom>
          <a:solidFill>
            <a:srgbClr val="1A151D"/>
          </a:solidFill>
          <a:ln/>
        </p:spPr>
      </p:sp>
      <p:sp>
        <p:nvSpPr>
          <p:cNvPr id="25" name="Text 23"/>
          <p:cNvSpPr/>
          <p:nvPr/>
        </p:nvSpPr>
        <p:spPr>
          <a:xfrm>
            <a:off x="4507992" y="1783080"/>
            <a:ext cx="2048256" cy="457200"/>
          </a:xfrm>
          <a:prstGeom prst="rect">
            <a:avLst/>
          </a:prstGeom>
          <a:noFill/>
          <a:ln/>
        </p:spPr>
        <p:txBody>
          <a:bodyPr wrap="square" lIns="0" tIns="0" rIns="0" bIns="0" rtlCol="0" anchor="ctr"/>
          <a:lstStyle/>
          <a:p>
            <a:pPr algn="l" indent="0" marL="0">
              <a:buNone/>
            </a:pPr>
            <a:r>
              <a:rPr lang="en-US" sz="1250" b="1" dirty="0">
                <a:solidFill>
                  <a:srgbClr val="F4EEF0"/>
                </a:solidFill>
                <a:latin typeface="Calibri" pitchFamily="34" charset="0"/>
                <a:ea typeface="Calibri" pitchFamily="34" charset="-122"/>
                <a:cs typeface="Calibri" pitchFamily="34" charset="-120"/>
              </a:rPr>
              <a:t>dim / units</a:t>
            </a:r>
            <a:endParaRPr lang="en-US" sz="1250" dirty="0"/>
          </a:p>
        </p:txBody>
      </p:sp>
      <p:sp>
        <p:nvSpPr>
          <p:cNvPr id="26" name="Shape 24"/>
          <p:cNvSpPr/>
          <p:nvPr/>
        </p:nvSpPr>
        <p:spPr>
          <a:xfrm>
            <a:off x="6629400" y="1783080"/>
            <a:ext cx="1737360" cy="457200"/>
          </a:xfrm>
          <a:prstGeom prst="rect">
            <a:avLst/>
          </a:prstGeom>
          <a:solidFill>
            <a:srgbClr val="1A151D"/>
          </a:solidFill>
          <a:ln/>
        </p:spPr>
      </p:sp>
      <p:sp>
        <p:nvSpPr>
          <p:cNvPr id="27" name="Text 25"/>
          <p:cNvSpPr/>
          <p:nvPr/>
        </p:nvSpPr>
        <p:spPr>
          <a:xfrm>
            <a:off x="6702552" y="1783080"/>
            <a:ext cx="1591056" cy="457200"/>
          </a:xfrm>
          <a:prstGeom prst="rect">
            <a:avLst/>
          </a:prstGeom>
          <a:noFill/>
          <a:ln/>
        </p:spPr>
        <p:txBody>
          <a:bodyPr wrap="square" lIns="0" tIns="0" rIns="0" bIns="0" rtlCol="0" anchor="ctr"/>
          <a:lstStyle/>
          <a:p>
            <a:pPr algn="ctr" indent="0" marL="0">
              <a:buNone/>
            </a:pPr>
            <a:r>
              <a:rPr lang="en-US" sz="1250" b="1" dirty="0">
                <a:solidFill>
                  <a:srgbClr val="F4EEF0"/>
                </a:solidFill>
                <a:latin typeface="Calibri" pitchFamily="34" charset="0"/>
                <a:ea typeface="Calibri" pitchFamily="34" charset="-122"/>
                <a:cs typeface="Calibri" pitchFamily="34" charset="-120"/>
              </a:rPr>
              <a:t>HR@10</a:t>
            </a:r>
            <a:endParaRPr lang="en-US" sz="1250" dirty="0"/>
          </a:p>
        </p:txBody>
      </p:sp>
      <p:sp>
        <p:nvSpPr>
          <p:cNvPr id="28" name="Shape 26"/>
          <p:cNvSpPr/>
          <p:nvPr/>
        </p:nvSpPr>
        <p:spPr>
          <a:xfrm>
            <a:off x="4434840" y="2240280"/>
            <a:ext cx="2194560" cy="475488"/>
          </a:xfrm>
          <a:prstGeom prst="rect">
            <a:avLst/>
          </a:prstGeom>
          <a:solidFill>
            <a:srgbClr val="F4EEF0"/>
          </a:solidFill>
          <a:ln w="6350">
            <a:solidFill>
              <a:srgbClr val="E3DADE"/>
            </a:solidFill>
            <a:prstDash val="solid"/>
          </a:ln>
        </p:spPr>
      </p:sp>
      <p:sp>
        <p:nvSpPr>
          <p:cNvPr id="29" name="Text 27"/>
          <p:cNvSpPr/>
          <p:nvPr/>
        </p:nvSpPr>
        <p:spPr>
          <a:xfrm>
            <a:off x="4507992" y="2240280"/>
            <a:ext cx="2048256" cy="475488"/>
          </a:xfrm>
          <a:prstGeom prst="rect">
            <a:avLst/>
          </a:prstGeom>
          <a:noFill/>
          <a:ln/>
        </p:spPr>
        <p:txBody>
          <a:bodyPr wrap="square" lIns="0" tIns="0" rIns="0" bIns="0" rtlCol="0" anchor="ctr"/>
          <a:lstStyle/>
          <a:p>
            <a:pPr algn="l" indent="0" marL="0">
              <a:buNone/>
            </a:pPr>
            <a:r>
              <a:rPr lang="en-US" sz="1250" b="1" dirty="0">
                <a:solidFill>
                  <a:srgbClr val="1A151D"/>
                </a:solidFill>
                <a:latin typeface="Calibri" pitchFamily="34" charset="0"/>
                <a:ea typeface="Calibri" pitchFamily="34" charset="-122"/>
                <a:cs typeface="Calibri" pitchFamily="34" charset="-120"/>
              </a:rPr>
              <a:t>16 / 64</a:t>
            </a:r>
            <a:endParaRPr lang="en-US" sz="1250" dirty="0"/>
          </a:p>
        </p:txBody>
      </p:sp>
      <p:sp>
        <p:nvSpPr>
          <p:cNvPr id="30" name="Shape 28"/>
          <p:cNvSpPr/>
          <p:nvPr/>
        </p:nvSpPr>
        <p:spPr>
          <a:xfrm>
            <a:off x="6629400" y="2240280"/>
            <a:ext cx="1737360" cy="475488"/>
          </a:xfrm>
          <a:prstGeom prst="rect">
            <a:avLst/>
          </a:prstGeom>
          <a:solidFill>
            <a:srgbClr val="F4EEF0"/>
          </a:solidFill>
          <a:ln w="6350">
            <a:solidFill>
              <a:srgbClr val="E3DADE"/>
            </a:solidFill>
            <a:prstDash val="solid"/>
          </a:ln>
        </p:spPr>
      </p:sp>
      <p:sp>
        <p:nvSpPr>
          <p:cNvPr id="31" name="Text 29"/>
          <p:cNvSpPr/>
          <p:nvPr/>
        </p:nvSpPr>
        <p:spPr>
          <a:xfrm>
            <a:off x="6702552" y="2240280"/>
            <a:ext cx="15910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0.2725</a:t>
            </a:r>
            <a:endParaRPr lang="en-US" sz="1250" dirty="0"/>
          </a:p>
        </p:txBody>
      </p:sp>
      <p:sp>
        <p:nvSpPr>
          <p:cNvPr id="32" name="Shape 30"/>
          <p:cNvSpPr/>
          <p:nvPr/>
        </p:nvSpPr>
        <p:spPr>
          <a:xfrm>
            <a:off x="4434840" y="2715768"/>
            <a:ext cx="2194560" cy="475488"/>
          </a:xfrm>
          <a:prstGeom prst="rect">
            <a:avLst/>
          </a:prstGeom>
          <a:solidFill>
            <a:srgbClr val="FBEEF1"/>
          </a:solidFill>
          <a:ln w="6350">
            <a:solidFill>
              <a:srgbClr val="E3DADE"/>
            </a:solidFill>
            <a:prstDash val="solid"/>
          </a:ln>
        </p:spPr>
      </p:sp>
      <p:sp>
        <p:nvSpPr>
          <p:cNvPr id="33" name="Text 31"/>
          <p:cNvSpPr/>
          <p:nvPr/>
        </p:nvSpPr>
        <p:spPr>
          <a:xfrm>
            <a:off x="4507992" y="2715768"/>
            <a:ext cx="2048256" cy="475488"/>
          </a:xfrm>
          <a:prstGeom prst="rect">
            <a:avLst/>
          </a:prstGeom>
          <a:noFill/>
          <a:ln/>
        </p:spPr>
        <p:txBody>
          <a:bodyPr wrap="square" lIns="0" tIns="0" rIns="0" bIns="0" rtlCol="0" anchor="ctr"/>
          <a:lstStyle/>
          <a:p>
            <a:pPr algn="l" indent="0" marL="0">
              <a:buNone/>
            </a:pPr>
            <a:r>
              <a:rPr lang="en-US" sz="1250" b="1" dirty="0">
                <a:solidFill>
                  <a:srgbClr val="D11F3C"/>
                </a:solidFill>
                <a:latin typeface="Calibri" pitchFamily="34" charset="0"/>
                <a:ea typeface="Calibri" pitchFamily="34" charset="-122"/>
                <a:cs typeface="Calibri" pitchFamily="34" charset="-120"/>
              </a:rPr>
              <a:t>32 / 64</a:t>
            </a:r>
            <a:endParaRPr lang="en-US" sz="1250" dirty="0"/>
          </a:p>
        </p:txBody>
      </p:sp>
      <p:sp>
        <p:nvSpPr>
          <p:cNvPr id="34" name="Shape 32"/>
          <p:cNvSpPr/>
          <p:nvPr/>
        </p:nvSpPr>
        <p:spPr>
          <a:xfrm>
            <a:off x="6629400" y="2715768"/>
            <a:ext cx="1737360" cy="475488"/>
          </a:xfrm>
          <a:prstGeom prst="rect">
            <a:avLst/>
          </a:prstGeom>
          <a:solidFill>
            <a:srgbClr val="FBEEF1"/>
          </a:solidFill>
          <a:ln w="6350">
            <a:solidFill>
              <a:srgbClr val="E3DADE"/>
            </a:solidFill>
            <a:prstDash val="solid"/>
          </a:ln>
        </p:spPr>
      </p:sp>
      <p:sp>
        <p:nvSpPr>
          <p:cNvPr id="35" name="Text 33"/>
          <p:cNvSpPr/>
          <p:nvPr/>
        </p:nvSpPr>
        <p:spPr>
          <a:xfrm>
            <a:off x="6702552" y="2715768"/>
            <a:ext cx="1591056" cy="475488"/>
          </a:xfrm>
          <a:prstGeom prst="rect">
            <a:avLst/>
          </a:prstGeom>
          <a:noFill/>
          <a:ln/>
        </p:spPr>
        <p:txBody>
          <a:bodyPr wrap="square" lIns="0" tIns="0" rIns="0" bIns="0" rtlCol="0" anchor="ctr"/>
          <a:lstStyle/>
          <a:p>
            <a:pPr algn="ctr" indent="0" marL="0">
              <a:buNone/>
            </a:pPr>
            <a:r>
              <a:rPr lang="en-US" sz="1250" b="1" dirty="0">
                <a:solidFill>
                  <a:srgbClr val="D11F3C"/>
                </a:solidFill>
                <a:latin typeface="Calibri" pitchFamily="34" charset="0"/>
                <a:ea typeface="Calibri" pitchFamily="34" charset="-122"/>
                <a:cs typeface="Calibri" pitchFamily="34" charset="-120"/>
              </a:rPr>
              <a:t>0.2740</a:t>
            </a:r>
            <a:endParaRPr lang="en-US" sz="1250" dirty="0"/>
          </a:p>
        </p:txBody>
      </p:sp>
      <p:sp>
        <p:nvSpPr>
          <p:cNvPr id="36" name="Shape 34"/>
          <p:cNvSpPr/>
          <p:nvPr/>
        </p:nvSpPr>
        <p:spPr>
          <a:xfrm>
            <a:off x="4434840" y="3191256"/>
            <a:ext cx="2194560" cy="475488"/>
          </a:xfrm>
          <a:prstGeom prst="rect">
            <a:avLst/>
          </a:prstGeom>
          <a:solidFill>
            <a:srgbClr val="F4EEF0"/>
          </a:solidFill>
          <a:ln w="6350">
            <a:solidFill>
              <a:srgbClr val="E3DADE"/>
            </a:solidFill>
            <a:prstDash val="solid"/>
          </a:ln>
        </p:spPr>
      </p:sp>
      <p:sp>
        <p:nvSpPr>
          <p:cNvPr id="37" name="Text 35"/>
          <p:cNvSpPr/>
          <p:nvPr/>
        </p:nvSpPr>
        <p:spPr>
          <a:xfrm>
            <a:off x="4507992" y="3191256"/>
            <a:ext cx="2048256" cy="475488"/>
          </a:xfrm>
          <a:prstGeom prst="rect">
            <a:avLst/>
          </a:prstGeom>
          <a:noFill/>
          <a:ln/>
        </p:spPr>
        <p:txBody>
          <a:bodyPr wrap="square" lIns="0" tIns="0" rIns="0" bIns="0" rtlCol="0" anchor="ctr"/>
          <a:lstStyle/>
          <a:p>
            <a:pPr algn="l" indent="0" marL="0">
              <a:buNone/>
            </a:pPr>
            <a:r>
              <a:rPr lang="en-US" sz="1250" b="1" dirty="0">
                <a:solidFill>
                  <a:srgbClr val="1A151D"/>
                </a:solidFill>
                <a:latin typeface="Calibri" pitchFamily="34" charset="0"/>
                <a:ea typeface="Calibri" pitchFamily="34" charset="-122"/>
                <a:cs typeface="Calibri" pitchFamily="34" charset="-120"/>
              </a:rPr>
              <a:t>32 / 128</a:t>
            </a:r>
            <a:endParaRPr lang="en-US" sz="1250" dirty="0"/>
          </a:p>
        </p:txBody>
      </p:sp>
      <p:sp>
        <p:nvSpPr>
          <p:cNvPr id="38" name="Shape 36"/>
          <p:cNvSpPr/>
          <p:nvPr/>
        </p:nvSpPr>
        <p:spPr>
          <a:xfrm>
            <a:off x="6629400" y="3191256"/>
            <a:ext cx="1737360" cy="475488"/>
          </a:xfrm>
          <a:prstGeom prst="rect">
            <a:avLst/>
          </a:prstGeom>
          <a:solidFill>
            <a:srgbClr val="F4EEF0"/>
          </a:solidFill>
          <a:ln w="6350">
            <a:solidFill>
              <a:srgbClr val="E3DADE"/>
            </a:solidFill>
            <a:prstDash val="solid"/>
          </a:ln>
        </p:spPr>
      </p:sp>
      <p:sp>
        <p:nvSpPr>
          <p:cNvPr id="39" name="Text 37"/>
          <p:cNvSpPr/>
          <p:nvPr/>
        </p:nvSpPr>
        <p:spPr>
          <a:xfrm>
            <a:off x="6702552" y="3191256"/>
            <a:ext cx="15910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0.2779</a:t>
            </a:r>
            <a:endParaRPr lang="en-US" sz="1250" dirty="0"/>
          </a:p>
        </p:txBody>
      </p:sp>
      <p:sp>
        <p:nvSpPr>
          <p:cNvPr id="40" name="Shape 38"/>
          <p:cNvSpPr/>
          <p:nvPr/>
        </p:nvSpPr>
        <p:spPr>
          <a:xfrm>
            <a:off x="4434840" y="3666744"/>
            <a:ext cx="2194560" cy="475488"/>
          </a:xfrm>
          <a:prstGeom prst="rect">
            <a:avLst/>
          </a:prstGeom>
          <a:solidFill>
            <a:srgbClr val="FFFFFF"/>
          </a:solidFill>
          <a:ln w="6350">
            <a:solidFill>
              <a:srgbClr val="E3DADE"/>
            </a:solidFill>
            <a:prstDash val="solid"/>
          </a:ln>
        </p:spPr>
      </p:sp>
      <p:sp>
        <p:nvSpPr>
          <p:cNvPr id="41" name="Text 39"/>
          <p:cNvSpPr/>
          <p:nvPr/>
        </p:nvSpPr>
        <p:spPr>
          <a:xfrm>
            <a:off x="4507992" y="3666744"/>
            <a:ext cx="2048256" cy="475488"/>
          </a:xfrm>
          <a:prstGeom prst="rect">
            <a:avLst/>
          </a:prstGeom>
          <a:noFill/>
          <a:ln/>
        </p:spPr>
        <p:txBody>
          <a:bodyPr wrap="square" lIns="0" tIns="0" rIns="0" bIns="0" rtlCol="0" anchor="ctr"/>
          <a:lstStyle/>
          <a:p>
            <a:pPr algn="l" indent="0" marL="0">
              <a:buNone/>
            </a:pPr>
            <a:r>
              <a:rPr lang="en-US" sz="1250" b="1" dirty="0">
                <a:solidFill>
                  <a:srgbClr val="1A151D"/>
                </a:solidFill>
                <a:latin typeface="Calibri" pitchFamily="34" charset="0"/>
                <a:ea typeface="Calibri" pitchFamily="34" charset="-122"/>
                <a:cs typeface="Calibri" pitchFamily="34" charset="-120"/>
              </a:rPr>
              <a:t>64 / 128</a:t>
            </a:r>
            <a:endParaRPr lang="en-US" sz="1250" dirty="0"/>
          </a:p>
        </p:txBody>
      </p:sp>
      <p:sp>
        <p:nvSpPr>
          <p:cNvPr id="42" name="Shape 40"/>
          <p:cNvSpPr/>
          <p:nvPr/>
        </p:nvSpPr>
        <p:spPr>
          <a:xfrm>
            <a:off x="6629400" y="3666744"/>
            <a:ext cx="1737360" cy="475488"/>
          </a:xfrm>
          <a:prstGeom prst="rect">
            <a:avLst/>
          </a:prstGeom>
          <a:solidFill>
            <a:srgbClr val="FFFFFF"/>
          </a:solidFill>
          <a:ln w="6350">
            <a:solidFill>
              <a:srgbClr val="E3DADE"/>
            </a:solidFill>
            <a:prstDash val="solid"/>
          </a:ln>
        </p:spPr>
      </p:sp>
      <p:sp>
        <p:nvSpPr>
          <p:cNvPr id="43" name="Text 41"/>
          <p:cNvSpPr/>
          <p:nvPr/>
        </p:nvSpPr>
        <p:spPr>
          <a:xfrm>
            <a:off x="6702552" y="3666744"/>
            <a:ext cx="15910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0.2782</a:t>
            </a:r>
            <a:endParaRPr lang="en-US" sz="1250" dirty="0"/>
          </a:p>
        </p:txBody>
      </p:sp>
      <p:sp>
        <p:nvSpPr>
          <p:cNvPr id="44" name="Shape 42"/>
          <p:cNvSpPr/>
          <p:nvPr/>
        </p:nvSpPr>
        <p:spPr>
          <a:xfrm>
            <a:off x="4434840" y="4142232"/>
            <a:ext cx="2194560" cy="475488"/>
          </a:xfrm>
          <a:prstGeom prst="rect">
            <a:avLst/>
          </a:prstGeom>
          <a:solidFill>
            <a:srgbClr val="F4EEF0"/>
          </a:solidFill>
          <a:ln w="6350">
            <a:solidFill>
              <a:srgbClr val="E3DADE"/>
            </a:solidFill>
            <a:prstDash val="solid"/>
          </a:ln>
        </p:spPr>
      </p:sp>
      <p:sp>
        <p:nvSpPr>
          <p:cNvPr id="45" name="Text 43"/>
          <p:cNvSpPr/>
          <p:nvPr/>
        </p:nvSpPr>
        <p:spPr>
          <a:xfrm>
            <a:off x="4507992" y="4142232"/>
            <a:ext cx="2048256" cy="475488"/>
          </a:xfrm>
          <a:prstGeom prst="rect">
            <a:avLst/>
          </a:prstGeom>
          <a:noFill/>
          <a:ln/>
        </p:spPr>
        <p:txBody>
          <a:bodyPr wrap="square" lIns="0" tIns="0" rIns="0" bIns="0" rtlCol="0" anchor="ctr"/>
          <a:lstStyle/>
          <a:p>
            <a:pPr algn="l" indent="0" marL="0">
              <a:buNone/>
            </a:pPr>
            <a:r>
              <a:rPr lang="en-US" sz="1250" b="1" dirty="0">
                <a:solidFill>
                  <a:srgbClr val="1A151D"/>
                </a:solidFill>
                <a:latin typeface="Calibri" pitchFamily="34" charset="0"/>
                <a:ea typeface="Calibri" pitchFamily="34" charset="-122"/>
                <a:cs typeface="Calibri" pitchFamily="34" charset="-120"/>
              </a:rPr>
              <a:t>64 / 256</a:t>
            </a:r>
            <a:endParaRPr lang="en-US" sz="1250" dirty="0"/>
          </a:p>
        </p:txBody>
      </p:sp>
      <p:sp>
        <p:nvSpPr>
          <p:cNvPr id="46" name="Shape 44"/>
          <p:cNvSpPr/>
          <p:nvPr/>
        </p:nvSpPr>
        <p:spPr>
          <a:xfrm>
            <a:off x="6629400" y="4142232"/>
            <a:ext cx="1737360" cy="475488"/>
          </a:xfrm>
          <a:prstGeom prst="rect">
            <a:avLst/>
          </a:prstGeom>
          <a:solidFill>
            <a:srgbClr val="F4EEF0"/>
          </a:solidFill>
          <a:ln w="6350">
            <a:solidFill>
              <a:srgbClr val="E3DADE"/>
            </a:solidFill>
            <a:prstDash val="solid"/>
          </a:ln>
        </p:spPr>
      </p:sp>
      <p:sp>
        <p:nvSpPr>
          <p:cNvPr id="47" name="Text 45"/>
          <p:cNvSpPr/>
          <p:nvPr/>
        </p:nvSpPr>
        <p:spPr>
          <a:xfrm>
            <a:off x="6702552" y="4142232"/>
            <a:ext cx="15910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0.2687</a:t>
            </a:r>
            <a:endParaRPr lang="en-US" sz="1250" dirty="0"/>
          </a:p>
        </p:txBody>
      </p:sp>
      <p:sp>
        <p:nvSpPr>
          <p:cNvPr id="48" name="Text 46"/>
          <p:cNvSpPr/>
          <p:nvPr/>
        </p:nvSpPr>
        <p:spPr>
          <a:xfrm>
            <a:off x="8595360" y="1463040"/>
            <a:ext cx="3657600" cy="320040"/>
          </a:xfrm>
          <a:prstGeom prst="rect">
            <a:avLst/>
          </a:prstGeom>
          <a:noFill/>
          <a:ln/>
        </p:spPr>
        <p:txBody>
          <a:bodyPr wrap="square" lIns="0" tIns="0" rIns="0" bIns="0" rtlCol="0" anchor="ctr"/>
          <a:lstStyle/>
          <a:p>
            <a:pPr indent="0" marL="0">
              <a:buNone/>
            </a:pPr>
            <a:r>
              <a:rPr lang="en-US" sz="1300" b="1" dirty="0">
                <a:solidFill>
                  <a:srgbClr val="D11F3C"/>
                </a:solidFill>
                <a:latin typeface="Calibri" pitchFamily="34" charset="0"/>
                <a:ea typeface="Calibri" pitchFamily="34" charset="-122"/>
                <a:cs typeface="Calibri" pitchFamily="34" charset="-120"/>
              </a:rPr>
              <a:t>E5 — cell type</a:t>
            </a:r>
            <a:endParaRPr lang="en-US" sz="1300" dirty="0"/>
          </a:p>
        </p:txBody>
      </p:sp>
      <p:sp>
        <p:nvSpPr>
          <p:cNvPr id="49" name="Shape 47"/>
          <p:cNvSpPr/>
          <p:nvPr/>
        </p:nvSpPr>
        <p:spPr>
          <a:xfrm>
            <a:off x="8595360" y="1783080"/>
            <a:ext cx="1463040" cy="457200"/>
          </a:xfrm>
          <a:prstGeom prst="rect">
            <a:avLst/>
          </a:prstGeom>
          <a:solidFill>
            <a:srgbClr val="1A151D"/>
          </a:solidFill>
          <a:ln/>
        </p:spPr>
      </p:sp>
      <p:sp>
        <p:nvSpPr>
          <p:cNvPr id="50" name="Text 48"/>
          <p:cNvSpPr/>
          <p:nvPr/>
        </p:nvSpPr>
        <p:spPr>
          <a:xfrm>
            <a:off x="8668512" y="1783080"/>
            <a:ext cx="1316736" cy="457200"/>
          </a:xfrm>
          <a:prstGeom prst="rect">
            <a:avLst/>
          </a:prstGeom>
          <a:noFill/>
          <a:ln/>
        </p:spPr>
        <p:txBody>
          <a:bodyPr wrap="square" lIns="0" tIns="0" rIns="0" bIns="0" rtlCol="0" anchor="ctr"/>
          <a:lstStyle/>
          <a:p>
            <a:pPr algn="l" indent="0" marL="0">
              <a:buNone/>
            </a:pPr>
            <a:r>
              <a:rPr lang="en-US" sz="1250" b="1" dirty="0">
                <a:solidFill>
                  <a:srgbClr val="F4EEF0"/>
                </a:solidFill>
                <a:latin typeface="Calibri" pitchFamily="34" charset="0"/>
                <a:ea typeface="Calibri" pitchFamily="34" charset="-122"/>
                <a:cs typeface="Calibri" pitchFamily="34" charset="-120"/>
              </a:rPr>
              <a:t>Cell</a:t>
            </a:r>
            <a:endParaRPr lang="en-US" sz="1250" dirty="0"/>
          </a:p>
        </p:txBody>
      </p:sp>
      <p:sp>
        <p:nvSpPr>
          <p:cNvPr id="51" name="Shape 49"/>
          <p:cNvSpPr/>
          <p:nvPr/>
        </p:nvSpPr>
        <p:spPr>
          <a:xfrm>
            <a:off x="10058400" y="1783080"/>
            <a:ext cx="1463040" cy="457200"/>
          </a:xfrm>
          <a:prstGeom prst="rect">
            <a:avLst/>
          </a:prstGeom>
          <a:solidFill>
            <a:srgbClr val="1A151D"/>
          </a:solidFill>
          <a:ln/>
        </p:spPr>
      </p:sp>
      <p:sp>
        <p:nvSpPr>
          <p:cNvPr id="52" name="Text 50"/>
          <p:cNvSpPr/>
          <p:nvPr/>
        </p:nvSpPr>
        <p:spPr>
          <a:xfrm>
            <a:off x="10131552" y="1783080"/>
            <a:ext cx="1316736" cy="457200"/>
          </a:xfrm>
          <a:prstGeom prst="rect">
            <a:avLst/>
          </a:prstGeom>
          <a:noFill/>
          <a:ln/>
        </p:spPr>
        <p:txBody>
          <a:bodyPr wrap="square" lIns="0" tIns="0" rIns="0" bIns="0" rtlCol="0" anchor="ctr"/>
          <a:lstStyle/>
          <a:p>
            <a:pPr algn="ctr" indent="0" marL="0">
              <a:buNone/>
            </a:pPr>
            <a:r>
              <a:rPr lang="en-US" sz="1250" b="1" dirty="0">
                <a:solidFill>
                  <a:srgbClr val="F4EEF0"/>
                </a:solidFill>
                <a:latin typeface="Calibri" pitchFamily="34" charset="0"/>
                <a:ea typeface="Calibri" pitchFamily="34" charset="-122"/>
                <a:cs typeface="Calibri" pitchFamily="34" charset="-120"/>
              </a:rPr>
              <a:t>HR@10</a:t>
            </a:r>
            <a:endParaRPr lang="en-US" sz="1250" dirty="0"/>
          </a:p>
        </p:txBody>
      </p:sp>
      <p:sp>
        <p:nvSpPr>
          <p:cNvPr id="53" name="Shape 51"/>
          <p:cNvSpPr/>
          <p:nvPr/>
        </p:nvSpPr>
        <p:spPr>
          <a:xfrm>
            <a:off x="8595360" y="2240280"/>
            <a:ext cx="1463040" cy="475488"/>
          </a:xfrm>
          <a:prstGeom prst="rect">
            <a:avLst/>
          </a:prstGeom>
          <a:solidFill>
            <a:srgbClr val="FBEEF1"/>
          </a:solidFill>
          <a:ln w="6350">
            <a:solidFill>
              <a:srgbClr val="E3DADE"/>
            </a:solidFill>
            <a:prstDash val="solid"/>
          </a:ln>
        </p:spPr>
      </p:sp>
      <p:sp>
        <p:nvSpPr>
          <p:cNvPr id="54" name="Text 52"/>
          <p:cNvSpPr/>
          <p:nvPr/>
        </p:nvSpPr>
        <p:spPr>
          <a:xfrm>
            <a:off x="8668512" y="2240280"/>
            <a:ext cx="1316736" cy="475488"/>
          </a:xfrm>
          <a:prstGeom prst="rect">
            <a:avLst/>
          </a:prstGeom>
          <a:noFill/>
          <a:ln/>
        </p:spPr>
        <p:txBody>
          <a:bodyPr wrap="square" lIns="0" tIns="0" rIns="0" bIns="0" rtlCol="0" anchor="ctr"/>
          <a:lstStyle/>
          <a:p>
            <a:pPr algn="l" indent="0" marL="0">
              <a:buNone/>
            </a:pPr>
            <a:r>
              <a:rPr lang="en-US" sz="1250" b="1" dirty="0">
                <a:solidFill>
                  <a:srgbClr val="D11F3C"/>
                </a:solidFill>
                <a:latin typeface="Calibri" pitchFamily="34" charset="0"/>
                <a:ea typeface="Calibri" pitchFamily="34" charset="-122"/>
                <a:cs typeface="Calibri" pitchFamily="34" charset="-120"/>
              </a:rPr>
              <a:t>GRU</a:t>
            </a:r>
            <a:endParaRPr lang="en-US" sz="1250" dirty="0"/>
          </a:p>
        </p:txBody>
      </p:sp>
      <p:sp>
        <p:nvSpPr>
          <p:cNvPr id="55" name="Shape 53"/>
          <p:cNvSpPr/>
          <p:nvPr/>
        </p:nvSpPr>
        <p:spPr>
          <a:xfrm>
            <a:off x="10058400" y="2240280"/>
            <a:ext cx="1463040" cy="475488"/>
          </a:xfrm>
          <a:prstGeom prst="rect">
            <a:avLst/>
          </a:prstGeom>
          <a:solidFill>
            <a:srgbClr val="FBEEF1"/>
          </a:solidFill>
          <a:ln w="6350">
            <a:solidFill>
              <a:srgbClr val="E3DADE"/>
            </a:solidFill>
            <a:prstDash val="solid"/>
          </a:ln>
        </p:spPr>
      </p:sp>
      <p:sp>
        <p:nvSpPr>
          <p:cNvPr id="56" name="Text 54"/>
          <p:cNvSpPr/>
          <p:nvPr/>
        </p:nvSpPr>
        <p:spPr>
          <a:xfrm>
            <a:off x="10131552" y="2240280"/>
            <a:ext cx="1316736" cy="475488"/>
          </a:xfrm>
          <a:prstGeom prst="rect">
            <a:avLst/>
          </a:prstGeom>
          <a:noFill/>
          <a:ln/>
        </p:spPr>
        <p:txBody>
          <a:bodyPr wrap="square" lIns="0" tIns="0" rIns="0" bIns="0" rtlCol="0" anchor="ctr"/>
          <a:lstStyle/>
          <a:p>
            <a:pPr algn="ctr" indent="0" marL="0">
              <a:buNone/>
            </a:pPr>
            <a:r>
              <a:rPr lang="en-US" sz="1250" b="1" dirty="0">
                <a:solidFill>
                  <a:srgbClr val="D11F3C"/>
                </a:solidFill>
                <a:latin typeface="Calibri" pitchFamily="34" charset="0"/>
                <a:ea typeface="Calibri" pitchFamily="34" charset="-122"/>
                <a:cs typeface="Calibri" pitchFamily="34" charset="-120"/>
              </a:rPr>
              <a:t>0.2740</a:t>
            </a:r>
            <a:endParaRPr lang="en-US" sz="1250" dirty="0"/>
          </a:p>
        </p:txBody>
      </p:sp>
      <p:sp>
        <p:nvSpPr>
          <p:cNvPr id="57" name="Shape 55"/>
          <p:cNvSpPr/>
          <p:nvPr/>
        </p:nvSpPr>
        <p:spPr>
          <a:xfrm>
            <a:off x="8595360" y="2715768"/>
            <a:ext cx="1463040" cy="475488"/>
          </a:xfrm>
          <a:prstGeom prst="rect">
            <a:avLst/>
          </a:prstGeom>
          <a:solidFill>
            <a:srgbClr val="FFFFFF"/>
          </a:solidFill>
          <a:ln w="6350">
            <a:solidFill>
              <a:srgbClr val="E3DADE"/>
            </a:solidFill>
            <a:prstDash val="solid"/>
          </a:ln>
        </p:spPr>
      </p:sp>
      <p:sp>
        <p:nvSpPr>
          <p:cNvPr id="58" name="Text 56"/>
          <p:cNvSpPr/>
          <p:nvPr/>
        </p:nvSpPr>
        <p:spPr>
          <a:xfrm>
            <a:off x="8668512" y="2715768"/>
            <a:ext cx="1316736" cy="475488"/>
          </a:xfrm>
          <a:prstGeom prst="rect">
            <a:avLst/>
          </a:prstGeom>
          <a:noFill/>
          <a:ln/>
        </p:spPr>
        <p:txBody>
          <a:bodyPr wrap="square" lIns="0" tIns="0" rIns="0" bIns="0" rtlCol="0" anchor="ctr"/>
          <a:lstStyle/>
          <a:p>
            <a:pPr algn="l" indent="0" marL="0">
              <a:buNone/>
            </a:pPr>
            <a:r>
              <a:rPr lang="en-US" sz="1250" b="1" dirty="0">
                <a:solidFill>
                  <a:srgbClr val="1A151D"/>
                </a:solidFill>
                <a:latin typeface="Calibri" pitchFamily="34" charset="0"/>
                <a:ea typeface="Calibri" pitchFamily="34" charset="-122"/>
                <a:cs typeface="Calibri" pitchFamily="34" charset="-120"/>
              </a:rPr>
              <a:t>LSTM</a:t>
            </a:r>
            <a:endParaRPr lang="en-US" sz="1250" dirty="0"/>
          </a:p>
        </p:txBody>
      </p:sp>
      <p:sp>
        <p:nvSpPr>
          <p:cNvPr id="59" name="Shape 57"/>
          <p:cNvSpPr/>
          <p:nvPr/>
        </p:nvSpPr>
        <p:spPr>
          <a:xfrm>
            <a:off x="10058400" y="2715768"/>
            <a:ext cx="1463040" cy="475488"/>
          </a:xfrm>
          <a:prstGeom prst="rect">
            <a:avLst/>
          </a:prstGeom>
          <a:solidFill>
            <a:srgbClr val="FFFFFF"/>
          </a:solidFill>
          <a:ln w="6350">
            <a:solidFill>
              <a:srgbClr val="E3DADE"/>
            </a:solidFill>
            <a:prstDash val="solid"/>
          </a:ln>
        </p:spPr>
      </p:sp>
      <p:sp>
        <p:nvSpPr>
          <p:cNvPr id="60" name="Text 58"/>
          <p:cNvSpPr/>
          <p:nvPr/>
        </p:nvSpPr>
        <p:spPr>
          <a:xfrm>
            <a:off x="10131552" y="2715768"/>
            <a:ext cx="131673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0.2730</a:t>
            </a:r>
            <a:endParaRPr lang="en-US" sz="1250" dirty="0"/>
          </a:p>
        </p:txBody>
      </p:sp>
      <p:sp>
        <p:nvSpPr>
          <p:cNvPr id="61" name="Text 59"/>
          <p:cNvSpPr/>
          <p:nvPr/>
        </p:nvSpPr>
        <p:spPr>
          <a:xfrm>
            <a:off x="8595360" y="3063240"/>
            <a:ext cx="2926080" cy="640080"/>
          </a:xfrm>
          <a:prstGeom prst="rect">
            <a:avLst/>
          </a:prstGeom>
          <a:noFill/>
          <a:ln/>
        </p:spPr>
        <p:txBody>
          <a:bodyPr wrap="square" lIns="0" tIns="0" rIns="0" bIns="0" rtlCol="0" anchor="ctr"/>
          <a:lstStyle/>
          <a:p>
            <a:pPr indent="0" marL="0">
              <a:lnSpc>
                <a:spcPct val="105000"/>
              </a:lnSpc>
              <a:buNone/>
            </a:pPr>
            <a:r>
              <a:rPr lang="en-US" sz="1100" i="1" dirty="0">
                <a:solidFill>
                  <a:srgbClr val="6E6168"/>
                </a:solidFill>
                <a:latin typeface="Calibri" pitchFamily="34" charset="0"/>
                <a:ea typeface="Calibri" pitchFamily="34" charset="-122"/>
                <a:cs typeface="Calibri" pitchFamily="34" charset="-120"/>
              </a:rPr>
              <a:t>Tied within 0.001 — GRU wins on fewer parameters.</a:t>
            </a:r>
            <a:endParaRPr lang="en-US" sz="1100" dirty="0"/>
          </a:p>
        </p:txBody>
      </p:sp>
      <p:sp>
        <p:nvSpPr>
          <p:cNvPr id="62" name="Shape 60"/>
          <p:cNvSpPr/>
          <p:nvPr/>
        </p:nvSpPr>
        <p:spPr>
          <a:xfrm>
            <a:off x="640080" y="4663440"/>
            <a:ext cx="10881360" cy="1325880"/>
          </a:xfrm>
          <a:prstGeom prst="roundRect">
            <a:avLst>
              <a:gd name="adj" fmla="val 6897"/>
            </a:avLst>
          </a:prstGeom>
          <a:solidFill>
            <a:srgbClr val="0E0B10"/>
          </a:solidFill>
          <a:ln/>
          <a:effectLst>
            <a:outerShdw sx="100000" sy="100000" kx="0" ky="0" algn="bl" rotWithShape="0" blurRad="114300" dist="38100" dir="5400000">
              <a:srgbClr val="000000">
                <a:alpha val="18000"/>
              </a:srgbClr>
            </a:outerShdw>
          </a:effectLst>
        </p:spPr>
      </p:sp>
      <p:sp>
        <p:nvSpPr>
          <p:cNvPr id="63" name="Text 61"/>
          <p:cNvSpPr/>
          <p:nvPr/>
        </p:nvSpPr>
        <p:spPr>
          <a:xfrm>
            <a:off x="914400" y="4846320"/>
            <a:ext cx="10332720" cy="457200"/>
          </a:xfrm>
          <a:prstGeom prst="rect">
            <a:avLst/>
          </a:prstGeom>
          <a:noFill/>
          <a:ln/>
        </p:spPr>
        <p:txBody>
          <a:bodyPr wrap="square" lIns="0" tIns="0" rIns="0" bIns="0" rtlCol="0" anchor="ctr"/>
          <a:lstStyle/>
          <a:p>
            <a:pPr indent="0" marL="0">
              <a:buNone/>
            </a:pPr>
            <a:r>
              <a:rPr lang="en-US" sz="1600" b="1" dirty="0">
                <a:solidFill>
                  <a:srgbClr val="F4EEF0"/>
                </a:solidFill>
                <a:latin typeface="Calibri" pitchFamily="34" charset="0"/>
                <a:ea typeface="Calibri" pitchFamily="34" charset="-122"/>
                <a:cs typeface="Calibri" pitchFamily="34" charset="-120"/>
              </a:rPr>
              <a:t>Locked config:  </a:t>
            </a:r>
            <a:pPr indent="0" marL="0">
              <a:buNone/>
            </a:pPr>
            <a:r>
              <a:rPr lang="en-US" sz="1600" b="1" dirty="0">
                <a:solidFill>
                  <a:srgbClr val="E5B567"/>
                </a:solidFill>
                <a:latin typeface="Calibri" pitchFamily="34" charset="0"/>
                <a:ea typeface="Calibri" pitchFamily="34" charset="-122"/>
                <a:cs typeface="Calibri" pitchFamily="34" charset="-120"/>
              </a:rPr>
              <a:t>history 20  ·  embed 32  ·  64 GRU units  ·  GRU cell</a:t>
            </a:r>
            <a:endParaRPr lang="en-US" sz="1600" dirty="0"/>
          </a:p>
        </p:txBody>
      </p:sp>
      <p:sp>
        <p:nvSpPr>
          <p:cNvPr id="64" name="Text 62"/>
          <p:cNvSpPr/>
          <p:nvPr/>
        </p:nvSpPr>
        <p:spPr>
          <a:xfrm>
            <a:off x="914400" y="5285232"/>
            <a:ext cx="10332720" cy="548640"/>
          </a:xfrm>
          <a:prstGeom prst="rect">
            <a:avLst/>
          </a:prstGeom>
          <a:noFill/>
          <a:ln/>
        </p:spPr>
        <p:txBody>
          <a:bodyPr wrap="square" lIns="0" tIns="0" rIns="0" bIns="0" rtlCol="0" anchor="ctr"/>
          <a:lstStyle/>
          <a:p>
            <a:pPr indent="0" marL="0">
              <a:lnSpc>
                <a:spcPct val="105000"/>
              </a:lnSpc>
              <a:buNone/>
            </a:pPr>
            <a:r>
              <a:rPr lang="en-US" sz="1250" i="1" dirty="0">
                <a:solidFill>
                  <a:srgbClr val="B9A9B0"/>
                </a:solidFill>
                <a:latin typeface="Calibri" pitchFamily="34" charset="0"/>
                <a:ea typeface="Calibri" pitchFamily="34" charset="-122"/>
                <a:cs typeface="Calibri" pitchFamily="34" charset="-120"/>
              </a:rPr>
              <a:t>We picked the smallest config within noise of the best — bigger isn't better (d64/u256 overfits). Every choice is an empirical result on the validation set.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F5"/>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D11F3C"/>
                </a:solidFill>
                <a:latin typeface="Calibri" pitchFamily="34" charset="0"/>
                <a:ea typeface="Calibri" pitchFamily="34" charset="-122"/>
                <a:cs typeface="Calibri" pitchFamily="34" charset="-120"/>
              </a:rPr>
              <a:t>ARE THE INPUT FEATURES JUSTIFIED?</a:t>
            </a:r>
            <a:endParaRPr lang="en-US" sz="1200" dirty="0"/>
          </a:p>
        </p:txBody>
      </p:sp>
      <p:sp>
        <p:nvSpPr>
          <p:cNvPr id="3" name="Text 1"/>
          <p:cNvSpPr/>
          <p:nvPr/>
        </p:nvSpPr>
        <p:spPr>
          <a:xfrm>
            <a:off x="640080" y="658368"/>
            <a:ext cx="10881360" cy="822960"/>
          </a:xfrm>
          <a:prstGeom prst="rect">
            <a:avLst/>
          </a:prstGeom>
          <a:noFill/>
          <a:ln/>
        </p:spPr>
        <p:txBody>
          <a:bodyPr wrap="square" lIns="0" tIns="0" rIns="0" bIns="0" rtlCol="0" anchor="ctr"/>
          <a:lstStyle/>
          <a:p>
            <a:pPr indent="0" marL="0">
              <a:buNone/>
            </a:pPr>
            <a:r>
              <a:rPr lang="en-US" sz="2900" b="1" dirty="0">
                <a:solidFill>
                  <a:srgbClr val="1A151D"/>
                </a:solidFill>
                <a:latin typeface="Cambria" pitchFamily="34" charset="0"/>
                <a:ea typeface="Cambria" pitchFamily="34" charset="-122"/>
                <a:cs typeface="Cambria" pitchFamily="34" charset="-120"/>
              </a:rPr>
              <a:t>Experiment E6 — feature ablation</a:t>
            </a:r>
            <a:endParaRPr lang="en-US" sz="2900" dirty="0"/>
          </a:p>
        </p:txBody>
      </p:sp>
      <p:sp>
        <p:nvSpPr>
          <p:cNvPr id="4" name="Text 2"/>
          <p:cNvSpPr/>
          <p:nvPr/>
        </p:nvSpPr>
        <p:spPr>
          <a:xfrm>
            <a:off x="11155680" y="384048"/>
            <a:ext cx="731520" cy="457200"/>
          </a:xfrm>
          <a:prstGeom prst="rect">
            <a:avLst/>
          </a:prstGeom>
          <a:noFill/>
          <a:ln/>
        </p:spPr>
        <p:txBody>
          <a:bodyPr wrap="square" lIns="0" tIns="0" rIns="0" bIns="0" rtlCol="0" anchor="ctr"/>
          <a:lstStyle/>
          <a:p>
            <a:pPr algn="r" indent="0" marL="0">
              <a:buNone/>
            </a:pPr>
            <a:r>
              <a:rPr lang="en-US" sz="1600" b="1" dirty="0">
                <a:solidFill>
                  <a:srgbClr val="E3DADE"/>
                </a:solidFill>
                <a:latin typeface="Cambria" pitchFamily="34" charset="0"/>
                <a:ea typeface="Cambria" pitchFamily="34" charset="-122"/>
                <a:cs typeface="Cambria" pitchFamily="34" charset="-120"/>
              </a:rPr>
              <a:t>06</a:t>
            </a:r>
            <a:endParaRPr lang="en-US" sz="1600" dirty="0"/>
          </a:p>
        </p:txBody>
      </p:sp>
      <p:sp>
        <p:nvSpPr>
          <p:cNvPr id="5" name="Shape 3"/>
          <p:cNvSpPr/>
          <p:nvPr/>
        </p:nvSpPr>
        <p:spPr>
          <a:xfrm>
            <a:off x="640080" y="1737360"/>
            <a:ext cx="3017520" cy="457200"/>
          </a:xfrm>
          <a:prstGeom prst="rect">
            <a:avLst/>
          </a:prstGeom>
          <a:solidFill>
            <a:srgbClr val="1A151D"/>
          </a:solidFill>
          <a:ln/>
        </p:spPr>
      </p:sp>
      <p:sp>
        <p:nvSpPr>
          <p:cNvPr id="6" name="Text 4"/>
          <p:cNvSpPr/>
          <p:nvPr/>
        </p:nvSpPr>
        <p:spPr>
          <a:xfrm>
            <a:off x="713232" y="1737360"/>
            <a:ext cx="2871216" cy="457200"/>
          </a:xfrm>
          <a:prstGeom prst="rect">
            <a:avLst/>
          </a:prstGeom>
          <a:noFill/>
          <a:ln/>
        </p:spPr>
        <p:txBody>
          <a:bodyPr wrap="square" lIns="0" tIns="0" rIns="0" bIns="0" rtlCol="0" anchor="ctr"/>
          <a:lstStyle/>
          <a:p>
            <a:pPr algn="l" indent="0" marL="0">
              <a:buNone/>
            </a:pPr>
            <a:r>
              <a:rPr lang="en-US" sz="1250" b="1" dirty="0">
                <a:solidFill>
                  <a:srgbClr val="F4EEF0"/>
                </a:solidFill>
                <a:latin typeface="Calibri" pitchFamily="34" charset="0"/>
                <a:ea typeface="Calibri" pitchFamily="34" charset="-122"/>
                <a:cs typeface="Calibri" pitchFamily="34" charset="-120"/>
              </a:rPr>
              <a:t>Input variant</a:t>
            </a:r>
            <a:endParaRPr lang="en-US" sz="1250" dirty="0"/>
          </a:p>
        </p:txBody>
      </p:sp>
      <p:sp>
        <p:nvSpPr>
          <p:cNvPr id="7" name="Shape 5"/>
          <p:cNvSpPr/>
          <p:nvPr/>
        </p:nvSpPr>
        <p:spPr>
          <a:xfrm>
            <a:off x="3657600" y="1737360"/>
            <a:ext cx="1280160" cy="457200"/>
          </a:xfrm>
          <a:prstGeom prst="rect">
            <a:avLst/>
          </a:prstGeom>
          <a:solidFill>
            <a:srgbClr val="1A151D"/>
          </a:solidFill>
          <a:ln/>
        </p:spPr>
      </p:sp>
      <p:sp>
        <p:nvSpPr>
          <p:cNvPr id="8" name="Text 6"/>
          <p:cNvSpPr/>
          <p:nvPr/>
        </p:nvSpPr>
        <p:spPr>
          <a:xfrm>
            <a:off x="3730752" y="1737360"/>
            <a:ext cx="1133856" cy="457200"/>
          </a:xfrm>
          <a:prstGeom prst="rect">
            <a:avLst/>
          </a:prstGeom>
          <a:noFill/>
          <a:ln/>
        </p:spPr>
        <p:txBody>
          <a:bodyPr wrap="square" lIns="0" tIns="0" rIns="0" bIns="0" rtlCol="0" anchor="ctr"/>
          <a:lstStyle/>
          <a:p>
            <a:pPr algn="ctr" indent="0" marL="0">
              <a:buNone/>
            </a:pPr>
            <a:r>
              <a:rPr lang="en-US" sz="1250" b="1" dirty="0">
                <a:solidFill>
                  <a:srgbClr val="F4EEF0"/>
                </a:solidFill>
                <a:latin typeface="Calibri" pitchFamily="34" charset="0"/>
                <a:ea typeface="Calibri" pitchFamily="34" charset="-122"/>
                <a:cs typeface="Calibri" pitchFamily="34" charset="-120"/>
              </a:rPr>
              <a:t>HR@10</a:t>
            </a:r>
            <a:endParaRPr lang="en-US" sz="1250" dirty="0"/>
          </a:p>
        </p:txBody>
      </p:sp>
      <p:sp>
        <p:nvSpPr>
          <p:cNvPr id="9" name="Shape 7"/>
          <p:cNvSpPr/>
          <p:nvPr/>
        </p:nvSpPr>
        <p:spPr>
          <a:xfrm>
            <a:off x="4937760" y="1737360"/>
            <a:ext cx="1280160" cy="457200"/>
          </a:xfrm>
          <a:prstGeom prst="rect">
            <a:avLst/>
          </a:prstGeom>
          <a:solidFill>
            <a:srgbClr val="1A151D"/>
          </a:solidFill>
          <a:ln/>
        </p:spPr>
      </p:sp>
      <p:sp>
        <p:nvSpPr>
          <p:cNvPr id="10" name="Text 8"/>
          <p:cNvSpPr/>
          <p:nvPr/>
        </p:nvSpPr>
        <p:spPr>
          <a:xfrm>
            <a:off x="5010912" y="1737360"/>
            <a:ext cx="1133856" cy="457200"/>
          </a:xfrm>
          <a:prstGeom prst="rect">
            <a:avLst/>
          </a:prstGeom>
          <a:noFill/>
          <a:ln/>
        </p:spPr>
        <p:txBody>
          <a:bodyPr wrap="square" lIns="0" tIns="0" rIns="0" bIns="0" rtlCol="0" anchor="ctr"/>
          <a:lstStyle/>
          <a:p>
            <a:pPr algn="ctr" indent="0" marL="0">
              <a:buNone/>
            </a:pPr>
            <a:r>
              <a:rPr lang="en-US" sz="1250" b="1" dirty="0">
                <a:solidFill>
                  <a:srgbClr val="F4EEF0"/>
                </a:solidFill>
                <a:latin typeface="Calibri" pitchFamily="34" charset="0"/>
                <a:ea typeface="Calibri" pitchFamily="34" charset="-122"/>
                <a:cs typeface="Calibri" pitchFamily="34" charset="-120"/>
              </a:rPr>
              <a:t>MRR</a:t>
            </a:r>
            <a:endParaRPr lang="en-US" sz="1250" dirty="0"/>
          </a:p>
        </p:txBody>
      </p:sp>
      <p:sp>
        <p:nvSpPr>
          <p:cNvPr id="11" name="Shape 9"/>
          <p:cNvSpPr/>
          <p:nvPr/>
        </p:nvSpPr>
        <p:spPr>
          <a:xfrm>
            <a:off x="6217920" y="1737360"/>
            <a:ext cx="1280160" cy="457200"/>
          </a:xfrm>
          <a:prstGeom prst="rect">
            <a:avLst/>
          </a:prstGeom>
          <a:solidFill>
            <a:srgbClr val="1A151D"/>
          </a:solidFill>
          <a:ln/>
        </p:spPr>
      </p:sp>
      <p:sp>
        <p:nvSpPr>
          <p:cNvPr id="12" name="Text 10"/>
          <p:cNvSpPr/>
          <p:nvPr/>
        </p:nvSpPr>
        <p:spPr>
          <a:xfrm>
            <a:off x="6291072" y="1737360"/>
            <a:ext cx="1133856" cy="457200"/>
          </a:xfrm>
          <a:prstGeom prst="rect">
            <a:avLst/>
          </a:prstGeom>
          <a:noFill/>
          <a:ln/>
        </p:spPr>
        <p:txBody>
          <a:bodyPr wrap="square" lIns="0" tIns="0" rIns="0" bIns="0" rtlCol="0" anchor="ctr"/>
          <a:lstStyle/>
          <a:p>
            <a:pPr algn="ctr" indent="0" marL="0">
              <a:buNone/>
            </a:pPr>
            <a:r>
              <a:rPr lang="en-US" sz="1250" b="1" dirty="0">
                <a:solidFill>
                  <a:srgbClr val="F4EEF0"/>
                </a:solidFill>
                <a:latin typeface="Calibri" pitchFamily="34" charset="0"/>
                <a:ea typeface="Calibri" pitchFamily="34" charset="-122"/>
                <a:cs typeface="Calibri" pitchFamily="34" charset="-120"/>
              </a:rPr>
              <a:t>NDCG@10</a:t>
            </a:r>
            <a:endParaRPr lang="en-US" sz="1250" dirty="0"/>
          </a:p>
        </p:txBody>
      </p:sp>
      <p:sp>
        <p:nvSpPr>
          <p:cNvPr id="13" name="Shape 11"/>
          <p:cNvSpPr/>
          <p:nvPr/>
        </p:nvSpPr>
        <p:spPr>
          <a:xfrm>
            <a:off x="640080" y="2194560"/>
            <a:ext cx="3017520" cy="475488"/>
          </a:xfrm>
          <a:prstGeom prst="rect">
            <a:avLst/>
          </a:prstGeom>
          <a:solidFill>
            <a:srgbClr val="F4EEF0"/>
          </a:solidFill>
          <a:ln w="6350">
            <a:solidFill>
              <a:srgbClr val="E3DADE"/>
            </a:solidFill>
            <a:prstDash val="solid"/>
          </a:ln>
        </p:spPr>
      </p:sp>
      <p:sp>
        <p:nvSpPr>
          <p:cNvPr id="14" name="Text 12"/>
          <p:cNvSpPr/>
          <p:nvPr/>
        </p:nvSpPr>
        <p:spPr>
          <a:xfrm>
            <a:off x="713232" y="2194560"/>
            <a:ext cx="2871216" cy="475488"/>
          </a:xfrm>
          <a:prstGeom prst="rect">
            <a:avLst/>
          </a:prstGeom>
          <a:noFill/>
          <a:ln/>
        </p:spPr>
        <p:txBody>
          <a:bodyPr wrap="square" lIns="0" tIns="0" rIns="0" bIns="0" rtlCol="0" anchor="ctr"/>
          <a:lstStyle/>
          <a:p>
            <a:pPr algn="l" indent="0" marL="0">
              <a:buNone/>
            </a:pPr>
            <a:r>
              <a:rPr lang="en-US" sz="1250" b="1" dirty="0">
                <a:solidFill>
                  <a:srgbClr val="1A151D"/>
                </a:solidFill>
                <a:latin typeface="Calibri" pitchFamily="34" charset="0"/>
                <a:ea typeface="Calibri" pitchFamily="34" charset="-122"/>
                <a:cs typeface="Calibri" pitchFamily="34" charset="-120"/>
              </a:rPr>
              <a:t>Movie ID only</a:t>
            </a:r>
            <a:endParaRPr lang="en-US" sz="1250" dirty="0"/>
          </a:p>
        </p:txBody>
      </p:sp>
      <p:sp>
        <p:nvSpPr>
          <p:cNvPr id="15" name="Shape 13"/>
          <p:cNvSpPr/>
          <p:nvPr/>
        </p:nvSpPr>
        <p:spPr>
          <a:xfrm>
            <a:off x="3657600" y="2194560"/>
            <a:ext cx="1280160" cy="475488"/>
          </a:xfrm>
          <a:prstGeom prst="rect">
            <a:avLst/>
          </a:prstGeom>
          <a:solidFill>
            <a:srgbClr val="F4EEF0"/>
          </a:solidFill>
          <a:ln w="6350">
            <a:solidFill>
              <a:srgbClr val="E3DADE"/>
            </a:solidFill>
            <a:prstDash val="solid"/>
          </a:ln>
        </p:spPr>
      </p:sp>
      <p:sp>
        <p:nvSpPr>
          <p:cNvPr id="16" name="Text 14"/>
          <p:cNvSpPr/>
          <p:nvPr/>
        </p:nvSpPr>
        <p:spPr>
          <a:xfrm>
            <a:off x="3730752" y="2194560"/>
            <a:ext cx="11338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0.2765</a:t>
            </a:r>
            <a:endParaRPr lang="en-US" sz="1250" dirty="0"/>
          </a:p>
        </p:txBody>
      </p:sp>
      <p:sp>
        <p:nvSpPr>
          <p:cNvPr id="17" name="Shape 15"/>
          <p:cNvSpPr/>
          <p:nvPr/>
        </p:nvSpPr>
        <p:spPr>
          <a:xfrm>
            <a:off x="4937760" y="2194560"/>
            <a:ext cx="1280160" cy="475488"/>
          </a:xfrm>
          <a:prstGeom prst="rect">
            <a:avLst/>
          </a:prstGeom>
          <a:solidFill>
            <a:srgbClr val="F4EEF0"/>
          </a:solidFill>
          <a:ln w="6350">
            <a:solidFill>
              <a:srgbClr val="E3DADE"/>
            </a:solidFill>
            <a:prstDash val="solid"/>
          </a:ln>
        </p:spPr>
      </p:sp>
      <p:sp>
        <p:nvSpPr>
          <p:cNvPr id="18" name="Text 16"/>
          <p:cNvSpPr/>
          <p:nvPr/>
        </p:nvSpPr>
        <p:spPr>
          <a:xfrm>
            <a:off x="5010912" y="2194560"/>
            <a:ext cx="11338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0.1310</a:t>
            </a:r>
            <a:endParaRPr lang="en-US" sz="1250" dirty="0"/>
          </a:p>
        </p:txBody>
      </p:sp>
      <p:sp>
        <p:nvSpPr>
          <p:cNvPr id="19" name="Shape 17"/>
          <p:cNvSpPr/>
          <p:nvPr/>
        </p:nvSpPr>
        <p:spPr>
          <a:xfrm>
            <a:off x="6217920" y="2194560"/>
            <a:ext cx="1280160" cy="475488"/>
          </a:xfrm>
          <a:prstGeom prst="rect">
            <a:avLst/>
          </a:prstGeom>
          <a:solidFill>
            <a:srgbClr val="F4EEF0"/>
          </a:solidFill>
          <a:ln w="6350">
            <a:solidFill>
              <a:srgbClr val="E3DADE"/>
            </a:solidFill>
            <a:prstDash val="solid"/>
          </a:ln>
        </p:spPr>
      </p:sp>
      <p:sp>
        <p:nvSpPr>
          <p:cNvPr id="20" name="Text 18"/>
          <p:cNvSpPr/>
          <p:nvPr/>
        </p:nvSpPr>
        <p:spPr>
          <a:xfrm>
            <a:off x="6291072" y="2194560"/>
            <a:ext cx="11338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0.1539</a:t>
            </a:r>
            <a:endParaRPr lang="en-US" sz="1250" dirty="0"/>
          </a:p>
        </p:txBody>
      </p:sp>
      <p:sp>
        <p:nvSpPr>
          <p:cNvPr id="21" name="Shape 19"/>
          <p:cNvSpPr/>
          <p:nvPr/>
        </p:nvSpPr>
        <p:spPr>
          <a:xfrm>
            <a:off x="640080" y="2670048"/>
            <a:ext cx="3017520" cy="475488"/>
          </a:xfrm>
          <a:prstGeom prst="rect">
            <a:avLst/>
          </a:prstGeom>
          <a:solidFill>
            <a:srgbClr val="FFFFFF"/>
          </a:solidFill>
          <a:ln w="6350">
            <a:solidFill>
              <a:srgbClr val="E3DADE"/>
            </a:solidFill>
            <a:prstDash val="solid"/>
          </a:ln>
        </p:spPr>
      </p:sp>
      <p:sp>
        <p:nvSpPr>
          <p:cNvPr id="22" name="Text 20"/>
          <p:cNvSpPr/>
          <p:nvPr/>
        </p:nvSpPr>
        <p:spPr>
          <a:xfrm>
            <a:off x="713232" y="2670048"/>
            <a:ext cx="2871216" cy="475488"/>
          </a:xfrm>
          <a:prstGeom prst="rect">
            <a:avLst/>
          </a:prstGeom>
          <a:noFill/>
          <a:ln/>
        </p:spPr>
        <p:txBody>
          <a:bodyPr wrap="square" lIns="0" tIns="0" rIns="0" bIns="0" rtlCol="0" anchor="ctr"/>
          <a:lstStyle/>
          <a:p>
            <a:pPr algn="l" indent="0" marL="0">
              <a:buNone/>
            </a:pPr>
            <a:r>
              <a:rPr lang="en-US" sz="1250" b="1" dirty="0">
                <a:solidFill>
                  <a:srgbClr val="1A151D"/>
                </a:solidFill>
                <a:latin typeface="Calibri" pitchFamily="34" charset="0"/>
                <a:ea typeface="Calibri" pitchFamily="34" charset="-122"/>
                <a:cs typeface="Calibri" pitchFamily="34" charset="-120"/>
              </a:rPr>
              <a:t>+ Genre (frozen)</a:t>
            </a:r>
            <a:endParaRPr lang="en-US" sz="1250" dirty="0"/>
          </a:p>
        </p:txBody>
      </p:sp>
      <p:sp>
        <p:nvSpPr>
          <p:cNvPr id="23" name="Shape 21"/>
          <p:cNvSpPr/>
          <p:nvPr/>
        </p:nvSpPr>
        <p:spPr>
          <a:xfrm>
            <a:off x="3657600" y="2670048"/>
            <a:ext cx="1280160" cy="475488"/>
          </a:xfrm>
          <a:prstGeom prst="rect">
            <a:avLst/>
          </a:prstGeom>
          <a:solidFill>
            <a:srgbClr val="FFFFFF"/>
          </a:solidFill>
          <a:ln w="6350">
            <a:solidFill>
              <a:srgbClr val="E3DADE"/>
            </a:solidFill>
            <a:prstDash val="solid"/>
          </a:ln>
        </p:spPr>
      </p:sp>
      <p:sp>
        <p:nvSpPr>
          <p:cNvPr id="24" name="Text 22"/>
          <p:cNvSpPr/>
          <p:nvPr/>
        </p:nvSpPr>
        <p:spPr>
          <a:xfrm>
            <a:off x="3730752" y="2670048"/>
            <a:ext cx="11338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0.2812</a:t>
            </a:r>
            <a:endParaRPr lang="en-US" sz="1250" dirty="0"/>
          </a:p>
        </p:txBody>
      </p:sp>
      <p:sp>
        <p:nvSpPr>
          <p:cNvPr id="25" name="Shape 23"/>
          <p:cNvSpPr/>
          <p:nvPr/>
        </p:nvSpPr>
        <p:spPr>
          <a:xfrm>
            <a:off x="4937760" y="2670048"/>
            <a:ext cx="1280160" cy="475488"/>
          </a:xfrm>
          <a:prstGeom prst="rect">
            <a:avLst/>
          </a:prstGeom>
          <a:solidFill>
            <a:srgbClr val="FFFFFF"/>
          </a:solidFill>
          <a:ln w="6350">
            <a:solidFill>
              <a:srgbClr val="E3DADE"/>
            </a:solidFill>
            <a:prstDash val="solid"/>
          </a:ln>
        </p:spPr>
      </p:sp>
      <p:sp>
        <p:nvSpPr>
          <p:cNvPr id="26" name="Text 24"/>
          <p:cNvSpPr/>
          <p:nvPr/>
        </p:nvSpPr>
        <p:spPr>
          <a:xfrm>
            <a:off x="5010912" y="2670048"/>
            <a:ext cx="11338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0.1324</a:t>
            </a:r>
            <a:endParaRPr lang="en-US" sz="1250" dirty="0"/>
          </a:p>
        </p:txBody>
      </p:sp>
      <p:sp>
        <p:nvSpPr>
          <p:cNvPr id="27" name="Shape 25"/>
          <p:cNvSpPr/>
          <p:nvPr/>
        </p:nvSpPr>
        <p:spPr>
          <a:xfrm>
            <a:off x="6217920" y="2670048"/>
            <a:ext cx="1280160" cy="475488"/>
          </a:xfrm>
          <a:prstGeom prst="rect">
            <a:avLst/>
          </a:prstGeom>
          <a:solidFill>
            <a:srgbClr val="FFFFFF"/>
          </a:solidFill>
          <a:ln w="6350">
            <a:solidFill>
              <a:srgbClr val="E3DADE"/>
            </a:solidFill>
            <a:prstDash val="solid"/>
          </a:ln>
        </p:spPr>
      </p:sp>
      <p:sp>
        <p:nvSpPr>
          <p:cNvPr id="28" name="Text 26"/>
          <p:cNvSpPr/>
          <p:nvPr/>
        </p:nvSpPr>
        <p:spPr>
          <a:xfrm>
            <a:off x="6291072" y="2670048"/>
            <a:ext cx="11338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0.1561</a:t>
            </a:r>
            <a:endParaRPr lang="en-US" sz="1250" dirty="0"/>
          </a:p>
        </p:txBody>
      </p:sp>
      <p:sp>
        <p:nvSpPr>
          <p:cNvPr id="29" name="Shape 27"/>
          <p:cNvSpPr/>
          <p:nvPr/>
        </p:nvSpPr>
        <p:spPr>
          <a:xfrm>
            <a:off x="640080" y="3145536"/>
            <a:ext cx="3017520" cy="475488"/>
          </a:xfrm>
          <a:prstGeom prst="rect">
            <a:avLst/>
          </a:prstGeom>
          <a:solidFill>
            <a:srgbClr val="F4EEF0"/>
          </a:solidFill>
          <a:ln w="6350">
            <a:solidFill>
              <a:srgbClr val="E3DADE"/>
            </a:solidFill>
            <a:prstDash val="solid"/>
          </a:ln>
        </p:spPr>
      </p:sp>
      <p:sp>
        <p:nvSpPr>
          <p:cNvPr id="30" name="Text 28"/>
          <p:cNvSpPr/>
          <p:nvPr/>
        </p:nvSpPr>
        <p:spPr>
          <a:xfrm>
            <a:off x="713232" y="3145536"/>
            <a:ext cx="2871216" cy="475488"/>
          </a:xfrm>
          <a:prstGeom prst="rect">
            <a:avLst/>
          </a:prstGeom>
          <a:noFill/>
          <a:ln/>
        </p:spPr>
        <p:txBody>
          <a:bodyPr wrap="square" lIns="0" tIns="0" rIns="0" bIns="0" rtlCol="0" anchor="ctr"/>
          <a:lstStyle/>
          <a:p>
            <a:pPr algn="l" indent="0" marL="0">
              <a:buNone/>
            </a:pPr>
            <a:r>
              <a:rPr lang="en-US" sz="1250" b="1" dirty="0">
                <a:solidFill>
                  <a:srgbClr val="1A151D"/>
                </a:solidFill>
                <a:latin typeface="Calibri" pitchFamily="34" charset="0"/>
                <a:ea typeface="Calibri" pitchFamily="34" charset="-122"/>
                <a:cs typeface="Calibri" pitchFamily="34" charset="-120"/>
              </a:rPr>
              <a:t>+ Rating only</a:t>
            </a:r>
            <a:endParaRPr lang="en-US" sz="1250" dirty="0"/>
          </a:p>
        </p:txBody>
      </p:sp>
      <p:sp>
        <p:nvSpPr>
          <p:cNvPr id="31" name="Shape 29"/>
          <p:cNvSpPr/>
          <p:nvPr/>
        </p:nvSpPr>
        <p:spPr>
          <a:xfrm>
            <a:off x="3657600" y="3145536"/>
            <a:ext cx="1280160" cy="475488"/>
          </a:xfrm>
          <a:prstGeom prst="rect">
            <a:avLst/>
          </a:prstGeom>
          <a:solidFill>
            <a:srgbClr val="F4EEF0"/>
          </a:solidFill>
          <a:ln w="6350">
            <a:solidFill>
              <a:srgbClr val="E3DADE"/>
            </a:solidFill>
            <a:prstDash val="solid"/>
          </a:ln>
        </p:spPr>
      </p:sp>
      <p:sp>
        <p:nvSpPr>
          <p:cNvPr id="32" name="Text 30"/>
          <p:cNvSpPr/>
          <p:nvPr/>
        </p:nvSpPr>
        <p:spPr>
          <a:xfrm>
            <a:off x="3730752" y="3145536"/>
            <a:ext cx="11338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0.2558</a:t>
            </a:r>
            <a:endParaRPr lang="en-US" sz="1250" dirty="0"/>
          </a:p>
        </p:txBody>
      </p:sp>
      <p:sp>
        <p:nvSpPr>
          <p:cNvPr id="33" name="Shape 31"/>
          <p:cNvSpPr/>
          <p:nvPr/>
        </p:nvSpPr>
        <p:spPr>
          <a:xfrm>
            <a:off x="4937760" y="3145536"/>
            <a:ext cx="1280160" cy="475488"/>
          </a:xfrm>
          <a:prstGeom prst="rect">
            <a:avLst/>
          </a:prstGeom>
          <a:solidFill>
            <a:srgbClr val="F4EEF0"/>
          </a:solidFill>
          <a:ln w="6350">
            <a:solidFill>
              <a:srgbClr val="E3DADE"/>
            </a:solidFill>
            <a:prstDash val="solid"/>
          </a:ln>
        </p:spPr>
      </p:sp>
      <p:sp>
        <p:nvSpPr>
          <p:cNvPr id="34" name="Text 32"/>
          <p:cNvSpPr/>
          <p:nvPr/>
        </p:nvSpPr>
        <p:spPr>
          <a:xfrm>
            <a:off x="5010912" y="3145536"/>
            <a:ext cx="11338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0.1290</a:t>
            </a:r>
            <a:endParaRPr lang="en-US" sz="1250" dirty="0"/>
          </a:p>
        </p:txBody>
      </p:sp>
      <p:sp>
        <p:nvSpPr>
          <p:cNvPr id="35" name="Shape 33"/>
          <p:cNvSpPr/>
          <p:nvPr/>
        </p:nvSpPr>
        <p:spPr>
          <a:xfrm>
            <a:off x="6217920" y="3145536"/>
            <a:ext cx="1280160" cy="475488"/>
          </a:xfrm>
          <a:prstGeom prst="rect">
            <a:avLst/>
          </a:prstGeom>
          <a:solidFill>
            <a:srgbClr val="F4EEF0"/>
          </a:solidFill>
          <a:ln w="6350">
            <a:solidFill>
              <a:srgbClr val="E3DADE"/>
            </a:solidFill>
            <a:prstDash val="solid"/>
          </a:ln>
        </p:spPr>
      </p:sp>
      <p:sp>
        <p:nvSpPr>
          <p:cNvPr id="36" name="Text 34"/>
          <p:cNvSpPr/>
          <p:nvPr/>
        </p:nvSpPr>
        <p:spPr>
          <a:xfrm>
            <a:off x="6291072" y="3145536"/>
            <a:ext cx="1133856" cy="475488"/>
          </a:xfrm>
          <a:prstGeom prst="rect">
            <a:avLst/>
          </a:prstGeom>
          <a:noFill/>
          <a:ln/>
        </p:spPr>
        <p:txBody>
          <a:bodyPr wrap="square" lIns="0" tIns="0" rIns="0" bIns="0" rtlCol="0" anchor="ctr"/>
          <a:lstStyle/>
          <a:p>
            <a:pPr algn="ctr" indent="0" marL="0">
              <a:buNone/>
            </a:pPr>
            <a:r>
              <a:rPr lang="en-US" sz="1250" dirty="0">
                <a:solidFill>
                  <a:srgbClr val="1A151D"/>
                </a:solidFill>
                <a:latin typeface="Calibri" pitchFamily="34" charset="0"/>
                <a:ea typeface="Calibri" pitchFamily="34" charset="-122"/>
                <a:cs typeface="Calibri" pitchFamily="34" charset="-120"/>
              </a:rPr>
              <a:t>0.1471</a:t>
            </a:r>
            <a:endParaRPr lang="en-US" sz="1250" dirty="0"/>
          </a:p>
        </p:txBody>
      </p:sp>
      <p:sp>
        <p:nvSpPr>
          <p:cNvPr id="37" name="Shape 35"/>
          <p:cNvSpPr/>
          <p:nvPr/>
        </p:nvSpPr>
        <p:spPr>
          <a:xfrm>
            <a:off x="640080" y="3621024"/>
            <a:ext cx="3017520" cy="475488"/>
          </a:xfrm>
          <a:prstGeom prst="rect">
            <a:avLst/>
          </a:prstGeom>
          <a:solidFill>
            <a:srgbClr val="FBEEF1"/>
          </a:solidFill>
          <a:ln w="6350">
            <a:solidFill>
              <a:srgbClr val="E3DADE"/>
            </a:solidFill>
            <a:prstDash val="solid"/>
          </a:ln>
        </p:spPr>
      </p:sp>
      <p:sp>
        <p:nvSpPr>
          <p:cNvPr id="38" name="Text 36"/>
          <p:cNvSpPr/>
          <p:nvPr/>
        </p:nvSpPr>
        <p:spPr>
          <a:xfrm>
            <a:off x="713232" y="3621024"/>
            <a:ext cx="2871216" cy="475488"/>
          </a:xfrm>
          <a:prstGeom prst="rect">
            <a:avLst/>
          </a:prstGeom>
          <a:noFill/>
          <a:ln/>
        </p:spPr>
        <p:txBody>
          <a:bodyPr wrap="square" lIns="0" tIns="0" rIns="0" bIns="0" rtlCol="0" anchor="ctr"/>
          <a:lstStyle/>
          <a:p>
            <a:pPr algn="l" indent="0" marL="0">
              <a:buNone/>
            </a:pPr>
            <a:r>
              <a:rPr lang="en-US" sz="1250" b="1" dirty="0">
                <a:solidFill>
                  <a:srgbClr val="D11F3C"/>
                </a:solidFill>
                <a:latin typeface="Calibri" pitchFamily="34" charset="0"/>
                <a:ea typeface="Calibri" pitchFamily="34" charset="-122"/>
                <a:cs typeface="Calibri" pitchFamily="34" charset="-120"/>
              </a:rPr>
              <a:t>Full hybrid</a:t>
            </a:r>
            <a:endParaRPr lang="en-US" sz="1250" dirty="0"/>
          </a:p>
        </p:txBody>
      </p:sp>
      <p:sp>
        <p:nvSpPr>
          <p:cNvPr id="39" name="Shape 37"/>
          <p:cNvSpPr/>
          <p:nvPr/>
        </p:nvSpPr>
        <p:spPr>
          <a:xfrm>
            <a:off x="3657600" y="3621024"/>
            <a:ext cx="1280160" cy="475488"/>
          </a:xfrm>
          <a:prstGeom prst="rect">
            <a:avLst/>
          </a:prstGeom>
          <a:solidFill>
            <a:srgbClr val="FBEEF1"/>
          </a:solidFill>
          <a:ln w="6350">
            <a:solidFill>
              <a:srgbClr val="E3DADE"/>
            </a:solidFill>
            <a:prstDash val="solid"/>
          </a:ln>
        </p:spPr>
      </p:sp>
      <p:sp>
        <p:nvSpPr>
          <p:cNvPr id="40" name="Text 38"/>
          <p:cNvSpPr/>
          <p:nvPr/>
        </p:nvSpPr>
        <p:spPr>
          <a:xfrm>
            <a:off x="3730752" y="3621024"/>
            <a:ext cx="1133856" cy="475488"/>
          </a:xfrm>
          <a:prstGeom prst="rect">
            <a:avLst/>
          </a:prstGeom>
          <a:noFill/>
          <a:ln/>
        </p:spPr>
        <p:txBody>
          <a:bodyPr wrap="square" lIns="0" tIns="0" rIns="0" bIns="0" rtlCol="0" anchor="ctr"/>
          <a:lstStyle/>
          <a:p>
            <a:pPr algn="ctr" indent="0" marL="0">
              <a:buNone/>
            </a:pPr>
            <a:r>
              <a:rPr lang="en-US" sz="1250" b="1" dirty="0">
                <a:solidFill>
                  <a:srgbClr val="D11F3C"/>
                </a:solidFill>
                <a:latin typeface="Calibri" pitchFamily="34" charset="0"/>
                <a:ea typeface="Calibri" pitchFamily="34" charset="-122"/>
                <a:cs typeface="Calibri" pitchFamily="34" charset="-120"/>
              </a:rPr>
              <a:t>0.2740</a:t>
            </a:r>
            <a:endParaRPr lang="en-US" sz="1250" dirty="0"/>
          </a:p>
        </p:txBody>
      </p:sp>
      <p:sp>
        <p:nvSpPr>
          <p:cNvPr id="41" name="Shape 39"/>
          <p:cNvSpPr/>
          <p:nvPr/>
        </p:nvSpPr>
        <p:spPr>
          <a:xfrm>
            <a:off x="4937760" y="3621024"/>
            <a:ext cx="1280160" cy="475488"/>
          </a:xfrm>
          <a:prstGeom prst="rect">
            <a:avLst/>
          </a:prstGeom>
          <a:solidFill>
            <a:srgbClr val="FBEEF1"/>
          </a:solidFill>
          <a:ln w="6350">
            <a:solidFill>
              <a:srgbClr val="E3DADE"/>
            </a:solidFill>
            <a:prstDash val="solid"/>
          </a:ln>
        </p:spPr>
      </p:sp>
      <p:sp>
        <p:nvSpPr>
          <p:cNvPr id="42" name="Text 40"/>
          <p:cNvSpPr/>
          <p:nvPr/>
        </p:nvSpPr>
        <p:spPr>
          <a:xfrm>
            <a:off x="5010912" y="3621024"/>
            <a:ext cx="1133856" cy="475488"/>
          </a:xfrm>
          <a:prstGeom prst="rect">
            <a:avLst/>
          </a:prstGeom>
          <a:noFill/>
          <a:ln/>
        </p:spPr>
        <p:txBody>
          <a:bodyPr wrap="square" lIns="0" tIns="0" rIns="0" bIns="0" rtlCol="0" anchor="ctr"/>
          <a:lstStyle/>
          <a:p>
            <a:pPr algn="ctr" indent="0" marL="0">
              <a:buNone/>
            </a:pPr>
            <a:r>
              <a:rPr lang="en-US" sz="1250" b="1" dirty="0">
                <a:solidFill>
                  <a:srgbClr val="D11F3C"/>
                </a:solidFill>
                <a:latin typeface="Calibri" pitchFamily="34" charset="0"/>
                <a:ea typeface="Calibri" pitchFamily="34" charset="-122"/>
                <a:cs typeface="Calibri" pitchFamily="34" charset="-120"/>
              </a:rPr>
              <a:t>0.1345</a:t>
            </a:r>
            <a:endParaRPr lang="en-US" sz="1250" dirty="0"/>
          </a:p>
        </p:txBody>
      </p:sp>
      <p:sp>
        <p:nvSpPr>
          <p:cNvPr id="43" name="Shape 41"/>
          <p:cNvSpPr/>
          <p:nvPr/>
        </p:nvSpPr>
        <p:spPr>
          <a:xfrm>
            <a:off x="6217920" y="3621024"/>
            <a:ext cx="1280160" cy="475488"/>
          </a:xfrm>
          <a:prstGeom prst="rect">
            <a:avLst/>
          </a:prstGeom>
          <a:solidFill>
            <a:srgbClr val="FBEEF1"/>
          </a:solidFill>
          <a:ln w="6350">
            <a:solidFill>
              <a:srgbClr val="E3DADE"/>
            </a:solidFill>
            <a:prstDash val="solid"/>
          </a:ln>
        </p:spPr>
      </p:sp>
      <p:sp>
        <p:nvSpPr>
          <p:cNvPr id="44" name="Text 42"/>
          <p:cNvSpPr/>
          <p:nvPr/>
        </p:nvSpPr>
        <p:spPr>
          <a:xfrm>
            <a:off x="6291072" y="3621024"/>
            <a:ext cx="1133856" cy="475488"/>
          </a:xfrm>
          <a:prstGeom prst="rect">
            <a:avLst/>
          </a:prstGeom>
          <a:noFill/>
          <a:ln/>
        </p:spPr>
        <p:txBody>
          <a:bodyPr wrap="square" lIns="0" tIns="0" rIns="0" bIns="0" rtlCol="0" anchor="ctr"/>
          <a:lstStyle/>
          <a:p>
            <a:pPr algn="ctr" indent="0" marL="0">
              <a:buNone/>
            </a:pPr>
            <a:r>
              <a:rPr lang="en-US" sz="1250" b="1" dirty="0">
                <a:solidFill>
                  <a:srgbClr val="D11F3C"/>
                </a:solidFill>
                <a:latin typeface="Calibri" pitchFamily="34" charset="0"/>
                <a:ea typeface="Calibri" pitchFamily="34" charset="-122"/>
                <a:cs typeface="Calibri" pitchFamily="34" charset="-120"/>
              </a:rPr>
              <a:t>0.1555</a:t>
            </a:r>
            <a:endParaRPr lang="en-US" sz="1250" dirty="0"/>
          </a:p>
        </p:txBody>
      </p:sp>
      <p:sp>
        <p:nvSpPr>
          <p:cNvPr id="45" name="Shape 43"/>
          <p:cNvSpPr/>
          <p:nvPr/>
        </p:nvSpPr>
        <p:spPr>
          <a:xfrm>
            <a:off x="7680960" y="1737360"/>
            <a:ext cx="3840480" cy="2148840"/>
          </a:xfrm>
          <a:prstGeom prst="roundRect">
            <a:avLst>
              <a:gd name="adj" fmla="val 3830"/>
            </a:avLst>
          </a:prstGeom>
          <a:solidFill>
            <a:srgbClr val="FFFFFF"/>
          </a:solidFill>
          <a:ln w="12700">
            <a:solidFill>
              <a:srgbClr val="E3DADE"/>
            </a:solidFill>
            <a:prstDash val="solid"/>
          </a:ln>
          <a:effectLst>
            <a:outerShdw sx="100000" sy="100000" kx="0" ky="0" algn="bl" rotWithShape="0" blurRad="114300" dist="38100" dir="5400000">
              <a:srgbClr val="000000">
                <a:alpha val="10000"/>
              </a:srgbClr>
            </a:outerShdw>
          </a:effectLst>
        </p:spPr>
      </p:sp>
      <p:sp>
        <p:nvSpPr>
          <p:cNvPr id="46" name="Shape 44"/>
          <p:cNvSpPr/>
          <p:nvPr/>
        </p:nvSpPr>
        <p:spPr>
          <a:xfrm>
            <a:off x="7936992" y="1993392"/>
            <a:ext cx="502920" cy="502920"/>
          </a:xfrm>
          <a:prstGeom prst="ellipse">
            <a:avLst/>
          </a:prstGeom>
          <a:solidFill>
            <a:srgbClr val="D11F3C"/>
          </a:solidFill>
          <a:ln/>
        </p:spPr>
      </p:sp>
      <p:pic>
        <p:nvPicPr>
          <p:cNvPr id="47" name="Image 0" descr="preencoded.png">    </p:cNvPr>
          <p:cNvPicPr>
            <a:picLocks noChangeAspect="1"/>
          </p:cNvPicPr>
          <p:nvPr/>
        </p:nvPicPr>
        <p:blipFill>
          <a:blip r:embed="rId1"/>
          <a:stretch>
            <a:fillRect/>
          </a:stretch>
        </p:blipFill>
        <p:spPr>
          <a:xfrm>
            <a:off x="8067751" y="2124151"/>
            <a:ext cx="241402" cy="241402"/>
          </a:xfrm>
          <a:prstGeom prst="rect">
            <a:avLst/>
          </a:prstGeom>
        </p:spPr>
      </p:pic>
      <p:sp>
        <p:nvSpPr>
          <p:cNvPr id="48" name="Text 45"/>
          <p:cNvSpPr/>
          <p:nvPr/>
        </p:nvSpPr>
        <p:spPr>
          <a:xfrm>
            <a:off x="8577072" y="2029968"/>
            <a:ext cx="2715768" cy="457200"/>
          </a:xfrm>
          <a:prstGeom prst="rect">
            <a:avLst/>
          </a:prstGeom>
          <a:noFill/>
          <a:ln/>
        </p:spPr>
        <p:txBody>
          <a:bodyPr wrap="square" lIns="0" tIns="0" rIns="0" bIns="0" rtlCol="0" anchor="ctr"/>
          <a:lstStyle/>
          <a:p>
            <a:pPr indent="0" marL="0">
              <a:buNone/>
            </a:pPr>
            <a:r>
              <a:rPr lang="en-US" sz="1500" b="1" dirty="0">
                <a:solidFill>
                  <a:srgbClr val="1A151D"/>
                </a:solidFill>
                <a:latin typeface="Calibri" pitchFamily="34" charset="0"/>
                <a:ea typeface="Calibri" pitchFamily="34" charset="-122"/>
                <a:cs typeface="Calibri" pitchFamily="34" charset="-120"/>
              </a:rPr>
              <a:t>Decision: full hybrid</a:t>
            </a:r>
            <a:endParaRPr lang="en-US" sz="1500" dirty="0"/>
          </a:p>
        </p:txBody>
      </p:sp>
      <p:sp>
        <p:nvSpPr>
          <p:cNvPr id="49" name="Text 46"/>
          <p:cNvSpPr/>
          <p:nvPr/>
        </p:nvSpPr>
        <p:spPr>
          <a:xfrm>
            <a:off x="7936992" y="2651760"/>
            <a:ext cx="3328416" cy="105156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250" dirty="0">
                <a:solidFill>
                  <a:srgbClr val="6E6168"/>
                </a:solidFill>
                <a:latin typeface="Calibri" pitchFamily="34" charset="0"/>
                <a:ea typeface="Calibri" pitchFamily="34" charset="-122"/>
                <a:cs typeface="Calibri" pitchFamily="34" charset="-120"/>
              </a:rPr>
              <a:t>Best MRR (0.1345) — ranks the right movie highest.</a:t>
            </a:r>
            <a:endParaRPr lang="en-US" sz="1250" dirty="0"/>
          </a:p>
          <a:p>
            <a:pPr marL="177800" indent="-177800">
              <a:lnSpc>
                <a:spcPct val="105000"/>
              </a:lnSpc>
              <a:spcAft>
                <a:spcPts val="500"/>
              </a:spcAft>
              <a:buSzPct val="100000"/>
              <a:buChar char="•"/>
            </a:pPr>
            <a:r>
              <a:rPr lang="en-US" sz="1250" dirty="0">
                <a:solidFill>
                  <a:srgbClr val="6E6168"/>
                </a:solidFill>
                <a:latin typeface="Calibri" pitchFamily="34" charset="0"/>
                <a:ea typeface="Calibri" pitchFamily="34" charset="-122"/>
                <a:cs typeface="Calibri" pitchFamily="34" charset="-120"/>
              </a:rPr>
              <a:t>Best NDCG — best overall ranking quality.</a:t>
            </a:r>
            <a:endParaRPr lang="en-US" sz="1250" dirty="0"/>
          </a:p>
          <a:p>
            <a:pPr marL="177800" indent="-177800">
              <a:lnSpc>
                <a:spcPct val="105000"/>
              </a:lnSpc>
              <a:spcAft>
                <a:spcPts val="500"/>
              </a:spcAft>
              <a:buSzPct val="100000"/>
              <a:buChar char="•"/>
            </a:pPr>
            <a:r>
              <a:rPr lang="en-US" sz="1250" dirty="0">
                <a:solidFill>
                  <a:srgbClr val="6E6168"/>
                </a:solidFill>
                <a:latin typeface="Calibri" pitchFamily="34" charset="0"/>
                <a:ea typeface="Calibri" pitchFamily="34" charset="-122"/>
                <a:cs typeface="Calibri" pitchFamily="34" charset="-120"/>
              </a:rPr>
              <a:t>Rating channel is required for the thumbs-down feature.</a:t>
            </a:r>
            <a:endParaRPr lang="en-US" sz="1250" dirty="0"/>
          </a:p>
        </p:txBody>
      </p:sp>
      <p:sp>
        <p:nvSpPr>
          <p:cNvPr id="50" name="Shape 47"/>
          <p:cNvSpPr/>
          <p:nvPr/>
        </p:nvSpPr>
        <p:spPr>
          <a:xfrm>
            <a:off x="640080" y="4160520"/>
            <a:ext cx="10881360" cy="1783080"/>
          </a:xfrm>
          <a:prstGeom prst="roundRect">
            <a:avLst>
              <a:gd name="adj" fmla="val 5128"/>
            </a:avLst>
          </a:prstGeom>
          <a:solidFill>
            <a:srgbClr val="FFFFFF"/>
          </a:solidFill>
          <a:ln w="12700">
            <a:solidFill>
              <a:srgbClr val="E3DADE"/>
            </a:solidFill>
            <a:prstDash val="solid"/>
          </a:ln>
          <a:effectLst>
            <a:outerShdw sx="100000" sy="100000" kx="0" ky="0" algn="bl" rotWithShape="0" blurRad="114300" dist="38100" dir="5400000">
              <a:srgbClr val="000000">
                <a:alpha val="8000"/>
              </a:srgbClr>
            </a:outerShdw>
          </a:effectLst>
        </p:spPr>
      </p:sp>
      <p:sp>
        <p:nvSpPr>
          <p:cNvPr id="51" name="Shape 48"/>
          <p:cNvSpPr/>
          <p:nvPr/>
        </p:nvSpPr>
        <p:spPr>
          <a:xfrm>
            <a:off x="914400" y="4434840"/>
            <a:ext cx="502920" cy="502920"/>
          </a:xfrm>
          <a:prstGeom prst="ellipse">
            <a:avLst/>
          </a:prstGeom>
          <a:solidFill>
            <a:srgbClr val="E5B567"/>
          </a:solidFill>
          <a:ln/>
        </p:spPr>
      </p:sp>
      <p:pic>
        <p:nvPicPr>
          <p:cNvPr id="52" name="Image 1" descr="preencoded.png">    </p:cNvPr>
          <p:cNvPicPr>
            <a:picLocks noChangeAspect="1"/>
          </p:cNvPicPr>
          <p:nvPr/>
        </p:nvPicPr>
        <p:blipFill>
          <a:blip r:embed="rId2"/>
          <a:stretch>
            <a:fillRect/>
          </a:stretch>
        </p:blipFill>
        <p:spPr>
          <a:xfrm>
            <a:off x="1045159" y="4565599"/>
            <a:ext cx="241402" cy="241402"/>
          </a:xfrm>
          <a:prstGeom prst="rect">
            <a:avLst/>
          </a:prstGeom>
        </p:spPr>
      </p:pic>
      <p:sp>
        <p:nvSpPr>
          <p:cNvPr id="53" name="Text 49"/>
          <p:cNvSpPr/>
          <p:nvPr/>
        </p:nvSpPr>
        <p:spPr>
          <a:xfrm>
            <a:off x="1600200" y="4370832"/>
            <a:ext cx="9692640" cy="411480"/>
          </a:xfrm>
          <a:prstGeom prst="rect">
            <a:avLst/>
          </a:prstGeom>
          <a:noFill/>
          <a:ln/>
        </p:spPr>
        <p:txBody>
          <a:bodyPr wrap="square" lIns="0" tIns="0" rIns="0" bIns="0" rtlCol="0" anchor="ctr"/>
          <a:lstStyle/>
          <a:p>
            <a:pPr indent="0" marL="0">
              <a:buNone/>
            </a:pPr>
            <a:r>
              <a:rPr lang="en-US" sz="1400" b="1" dirty="0">
                <a:solidFill>
                  <a:srgbClr val="1A151D"/>
                </a:solidFill>
                <a:latin typeface="Calibri" pitchFamily="34" charset="0"/>
                <a:ea typeface="Calibri" pitchFamily="34" charset="-122"/>
                <a:cs typeface="Calibri" pitchFamily="34" charset="-120"/>
              </a:rPr>
              <a:t>Why does +rating alone hurt HR@10?</a:t>
            </a:r>
            <a:endParaRPr lang="en-US" sz="1400" dirty="0"/>
          </a:p>
        </p:txBody>
      </p:sp>
      <p:sp>
        <p:nvSpPr>
          <p:cNvPr id="54" name="Text 50"/>
          <p:cNvSpPr/>
          <p:nvPr/>
        </p:nvSpPr>
        <p:spPr>
          <a:xfrm>
            <a:off x="1600200" y="4800600"/>
            <a:ext cx="9601200" cy="1005840"/>
          </a:xfrm>
          <a:prstGeom prst="rect">
            <a:avLst/>
          </a:prstGeom>
          <a:noFill/>
          <a:ln/>
        </p:spPr>
        <p:txBody>
          <a:bodyPr wrap="square" lIns="0" tIns="0" rIns="0" bIns="0" rtlCol="0" anchor="ctr"/>
          <a:lstStyle/>
          <a:p>
            <a:pPr indent="0" marL="0">
              <a:lnSpc>
                <a:spcPct val="115000"/>
              </a:lnSpc>
              <a:buNone/>
            </a:pPr>
            <a:r>
              <a:rPr lang="en-US" sz="1300" dirty="0">
                <a:solidFill>
                  <a:srgbClr val="6E6168"/>
                </a:solidFill>
                <a:latin typeface="Calibri" pitchFamily="34" charset="0"/>
                <a:ea typeface="Calibri" pitchFamily="34" charset="-122"/>
                <a:cs typeface="Calibri" pitchFamily="34" charset="-120"/>
              </a:rPr>
              <a:t>Star ratings are noisy on their own — a user might give 5 stars to both an action film and a romance. Without genre context the model can't tell which signal to follow. Combined with genre, the rating becomes meaningful.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F5"/>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D11F3C"/>
                </a:solidFill>
                <a:latin typeface="Calibri" pitchFamily="34" charset="0"/>
                <a:ea typeface="Calibri" pitchFamily="34" charset="-122"/>
                <a:cs typeface="Calibri" pitchFamily="34" charset="-120"/>
              </a:rPr>
              <a:t>DOES IT BEAT THE BASELINES?</a:t>
            </a:r>
            <a:endParaRPr lang="en-US" sz="1200" dirty="0"/>
          </a:p>
        </p:txBody>
      </p:sp>
      <p:sp>
        <p:nvSpPr>
          <p:cNvPr id="3" name="Text 1"/>
          <p:cNvSpPr/>
          <p:nvPr/>
        </p:nvSpPr>
        <p:spPr>
          <a:xfrm>
            <a:off x="640080" y="658368"/>
            <a:ext cx="10881360" cy="822960"/>
          </a:xfrm>
          <a:prstGeom prst="rect">
            <a:avLst/>
          </a:prstGeom>
          <a:noFill/>
          <a:ln/>
        </p:spPr>
        <p:txBody>
          <a:bodyPr wrap="square" lIns="0" tIns="0" rIns="0" bIns="0" rtlCol="0" anchor="ctr"/>
          <a:lstStyle/>
          <a:p>
            <a:pPr indent="0" marL="0">
              <a:buNone/>
            </a:pPr>
            <a:r>
              <a:rPr lang="en-US" sz="2900" b="1" dirty="0">
                <a:solidFill>
                  <a:srgbClr val="1A151D"/>
                </a:solidFill>
                <a:latin typeface="Cambria" pitchFamily="34" charset="0"/>
                <a:ea typeface="Cambria" pitchFamily="34" charset="-122"/>
                <a:cs typeface="Cambria" pitchFamily="34" charset="-120"/>
              </a:rPr>
              <a:t>Experiment E0 — GRU vs non-neural methods</a:t>
            </a:r>
            <a:endParaRPr lang="en-US" sz="2900" dirty="0"/>
          </a:p>
        </p:txBody>
      </p:sp>
      <p:sp>
        <p:nvSpPr>
          <p:cNvPr id="4" name="Text 2"/>
          <p:cNvSpPr/>
          <p:nvPr/>
        </p:nvSpPr>
        <p:spPr>
          <a:xfrm>
            <a:off x="11155680" y="384048"/>
            <a:ext cx="731520" cy="457200"/>
          </a:xfrm>
          <a:prstGeom prst="rect">
            <a:avLst/>
          </a:prstGeom>
          <a:noFill/>
          <a:ln/>
        </p:spPr>
        <p:txBody>
          <a:bodyPr wrap="square" lIns="0" tIns="0" rIns="0" bIns="0" rtlCol="0" anchor="ctr"/>
          <a:lstStyle/>
          <a:p>
            <a:pPr algn="r" indent="0" marL="0">
              <a:buNone/>
            </a:pPr>
            <a:r>
              <a:rPr lang="en-US" sz="1600" b="1" dirty="0">
                <a:solidFill>
                  <a:srgbClr val="E3DADE"/>
                </a:solidFill>
                <a:latin typeface="Cambria" pitchFamily="34" charset="0"/>
                <a:ea typeface="Cambria" pitchFamily="34" charset="-122"/>
                <a:cs typeface="Cambria" pitchFamily="34" charset="-120"/>
              </a:rPr>
              <a:t>07</a:t>
            </a:r>
            <a:endParaRPr lang="en-US" sz="1600" dirty="0"/>
          </a:p>
        </p:txBody>
      </p:sp>
      <p:graphicFrame>
        <p:nvGraphicFramePr>
          <p:cNvPr id="5" name="Chart 0" descr=""/>
          <p:cNvGraphicFramePr/>
          <p:nvPr/>
        </p:nvGraphicFramePr>
        <p:xfrm>
          <a:off x="640080" y="1783080"/>
          <a:ext cx="6583680" cy="4160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89520" y="1783080"/>
            <a:ext cx="3931920" cy="1965960"/>
          </a:xfrm>
          <a:prstGeom prst="roundRect">
            <a:avLst>
              <a:gd name="adj" fmla="val 4186"/>
            </a:avLst>
          </a:prstGeom>
          <a:solidFill>
            <a:srgbClr val="FFFFFF"/>
          </a:solidFill>
          <a:ln w="12700">
            <a:solidFill>
              <a:srgbClr val="E3DADE"/>
            </a:solidFill>
            <a:prstDash val="solid"/>
          </a:ln>
          <a:effectLst>
            <a:outerShdw sx="100000" sy="100000" kx="0" ky="0" algn="bl" rotWithShape="0" blurRad="114300" dist="38100" dir="5400000">
              <a:srgbClr val="000000">
                <a:alpha val="10000"/>
              </a:srgbClr>
            </a:outerShdw>
          </a:effectLst>
        </p:spPr>
      </p:sp>
      <p:sp>
        <p:nvSpPr>
          <p:cNvPr id="7" name="Shape 4"/>
          <p:cNvSpPr/>
          <p:nvPr/>
        </p:nvSpPr>
        <p:spPr>
          <a:xfrm>
            <a:off x="7845552" y="2039112"/>
            <a:ext cx="502920" cy="502920"/>
          </a:xfrm>
          <a:prstGeom prst="ellipse">
            <a:avLst/>
          </a:prstGeom>
          <a:solidFill>
            <a:srgbClr val="D11F3C"/>
          </a:solidFill>
          <a:ln/>
        </p:spPr>
      </p:sp>
      <p:pic>
        <p:nvPicPr>
          <p:cNvPr id="8" name="Image 0" descr="preencoded.png">    </p:cNvPr>
          <p:cNvPicPr>
            <a:picLocks noChangeAspect="1"/>
          </p:cNvPicPr>
          <p:nvPr/>
        </p:nvPicPr>
        <p:blipFill>
          <a:blip r:embed="rId2"/>
          <a:stretch>
            <a:fillRect/>
          </a:stretch>
        </p:blipFill>
        <p:spPr>
          <a:xfrm>
            <a:off x="7976311" y="2169871"/>
            <a:ext cx="241402" cy="241402"/>
          </a:xfrm>
          <a:prstGeom prst="rect">
            <a:avLst/>
          </a:prstGeom>
        </p:spPr>
      </p:pic>
      <p:sp>
        <p:nvSpPr>
          <p:cNvPr id="9" name="Text 5"/>
          <p:cNvSpPr/>
          <p:nvPr/>
        </p:nvSpPr>
        <p:spPr>
          <a:xfrm>
            <a:off x="8485632" y="2075688"/>
            <a:ext cx="2807208" cy="457200"/>
          </a:xfrm>
          <a:prstGeom prst="rect">
            <a:avLst/>
          </a:prstGeom>
          <a:noFill/>
          <a:ln/>
        </p:spPr>
        <p:txBody>
          <a:bodyPr wrap="square" lIns="0" tIns="0" rIns="0" bIns="0" rtlCol="0" anchor="ctr"/>
          <a:lstStyle/>
          <a:p>
            <a:pPr indent="0" marL="0">
              <a:buNone/>
            </a:pPr>
            <a:r>
              <a:rPr lang="en-US" sz="1500" b="1" dirty="0">
                <a:solidFill>
                  <a:srgbClr val="1A151D"/>
                </a:solidFill>
                <a:latin typeface="Calibri" pitchFamily="34" charset="0"/>
                <a:ea typeface="Calibri" pitchFamily="34" charset="-122"/>
                <a:cs typeface="Calibri" pitchFamily="34" charset="-120"/>
              </a:rPr>
              <a:t>6× better than popular</a:t>
            </a:r>
            <a:endParaRPr lang="en-US" sz="1500" dirty="0"/>
          </a:p>
        </p:txBody>
      </p:sp>
      <p:sp>
        <p:nvSpPr>
          <p:cNvPr id="10" name="Text 6"/>
          <p:cNvSpPr/>
          <p:nvPr/>
        </p:nvSpPr>
        <p:spPr>
          <a:xfrm>
            <a:off x="7845552" y="2697480"/>
            <a:ext cx="3419856" cy="86868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250" dirty="0">
                <a:solidFill>
                  <a:srgbClr val="6E6168"/>
                </a:solidFill>
                <a:latin typeface="Calibri" pitchFamily="34" charset="0"/>
                <a:ea typeface="Calibri" pitchFamily="34" charset="-122"/>
                <a:cs typeface="Calibri" pitchFamily="34" charset="-120"/>
              </a:rPr>
              <a:t>GRU 0.264 vs most-popular 0.042 — and it beats item-kNN, which shallow models often lose to.</a:t>
            </a:r>
            <a:endParaRPr lang="en-US" sz="1250" dirty="0"/>
          </a:p>
        </p:txBody>
      </p:sp>
      <p:sp>
        <p:nvSpPr>
          <p:cNvPr id="11" name="Shape 7"/>
          <p:cNvSpPr/>
          <p:nvPr/>
        </p:nvSpPr>
        <p:spPr>
          <a:xfrm>
            <a:off x="7589520" y="3977640"/>
            <a:ext cx="3931920" cy="1965960"/>
          </a:xfrm>
          <a:prstGeom prst="roundRect">
            <a:avLst>
              <a:gd name="adj" fmla="val 4186"/>
            </a:avLst>
          </a:prstGeom>
          <a:solidFill>
            <a:srgbClr val="FFFFFF"/>
          </a:solidFill>
          <a:ln w="12700">
            <a:solidFill>
              <a:srgbClr val="E3DADE"/>
            </a:solidFill>
            <a:prstDash val="solid"/>
          </a:ln>
          <a:effectLst>
            <a:outerShdw sx="100000" sy="100000" kx="0" ky="0" algn="bl" rotWithShape="0" blurRad="114300" dist="38100" dir="5400000">
              <a:srgbClr val="000000">
                <a:alpha val="10000"/>
              </a:srgbClr>
            </a:outerShdw>
          </a:effectLst>
        </p:spPr>
      </p:sp>
      <p:sp>
        <p:nvSpPr>
          <p:cNvPr id="12" name="Shape 8"/>
          <p:cNvSpPr/>
          <p:nvPr/>
        </p:nvSpPr>
        <p:spPr>
          <a:xfrm>
            <a:off x="7845552" y="4233672"/>
            <a:ext cx="502920" cy="502920"/>
          </a:xfrm>
          <a:prstGeom prst="ellipse">
            <a:avLst/>
          </a:prstGeom>
          <a:solidFill>
            <a:srgbClr val="D11F3C"/>
          </a:solidFill>
          <a:ln/>
        </p:spPr>
      </p:sp>
      <p:pic>
        <p:nvPicPr>
          <p:cNvPr id="13" name="Image 1" descr="preencoded.png">    </p:cNvPr>
          <p:cNvPicPr>
            <a:picLocks noChangeAspect="1"/>
          </p:cNvPicPr>
          <p:nvPr/>
        </p:nvPicPr>
        <p:blipFill>
          <a:blip r:embed="rId3"/>
          <a:stretch>
            <a:fillRect/>
          </a:stretch>
        </p:blipFill>
        <p:spPr>
          <a:xfrm>
            <a:off x="7976311" y="4364431"/>
            <a:ext cx="241402" cy="241402"/>
          </a:xfrm>
          <a:prstGeom prst="rect">
            <a:avLst/>
          </a:prstGeom>
        </p:spPr>
      </p:pic>
      <p:sp>
        <p:nvSpPr>
          <p:cNvPr id="14" name="Text 9"/>
          <p:cNvSpPr/>
          <p:nvPr/>
        </p:nvSpPr>
        <p:spPr>
          <a:xfrm>
            <a:off x="8485632" y="4270248"/>
            <a:ext cx="2807208" cy="457200"/>
          </a:xfrm>
          <a:prstGeom prst="rect">
            <a:avLst/>
          </a:prstGeom>
          <a:noFill/>
          <a:ln/>
        </p:spPr>
        <p:txBody>
          <a:bodyPr wrap="square" lIns="0" tIns="0" rIns="0" bIns="0" rtlCol="0" anchor="ctr"/>
          <a:lstStyle/>
          <a:p>
            <a:pPr indent="0" marL="0">
              <a:buNone/>
            </a:pPr>
            <a:r>
              <a:rPr lang="en-US" sz="1500" b="1" dirty="0">
                <a:solidFill>
                  <a:srgbClr val="1A151D"/>
                </a:solidFill>
                <a:latin typeface="Calibri" pitchFamily="34" charset="0"/>
                <a:ea typeface="Calibri" pitchFamily="34" charset="-122"/>
                <a:cs typeface="Calibri" pitchFamily="34" charset="-120"/>
              </a:rPr>
              <a:t>Statistically proven</a:t>
            </a:r>
            <a:endParaRPr lang="en-US" sz="1500" dirty="0"/>
          </a:p>
        </p:txBody>
      </p:sp>
      <p:sp>
        <p:nvSpPr>
          <p:cNvPr id="15" name="Text 10"/>
          <p:cNvSpPr/>
          <p:nvPr/>
        </p:nvSpPr>
        <p:spPr>
          <a:xfrm>
            <a:off x="7845552" y="4892040"/>
            <a:ext cx="3419856" cy="86868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250" dirty="0">
                <a:solidFill>
                  <a:srgbClr val="6E6168"/>
                </a:solidFill>
                <a:latin typeface="Calibri" pitchFamily="34" charset="0"/>
                <a:ea typeface="Calibri" pitchFamily="34" charset="-122"/>
                <a:cs typeface="Calibri" pitchFamily="34" charset="-120"/>
              </a:rPr>
              <a:t>Non-overlapping 95% CIs; Wilcoxon p ≈ 0 vs all three baselines. The win is not luck.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B10"/>
        </a:solidFill>
      </p:bgPr>
    </p:bg>
    <p:spTree>
      <p:nvGrpSpPr>
        <p:cNvPr id="1" name=""/>
        <p:cNvGrpSpPr/>
        <p:nvPr/>
      </p:nvGrpSpPr>
      <p:grpSpPr>
        <a:xfrm>
          <a:off x="0" y="0"/>
          <a:ext cx="0" cy="0"/>
          <a:chOff x="0" y="0"/>
          <a:chExt cx="0" cy="0"/>
        </a:xfrm>
      </p:grpSpPr>
      <p:sp>
        <p:nvSpPr>
          <p:cNvPr id="2" name="Shape 0"/>
          <p:cNvSpPr/>
          <p:nvPr/>
        </p:nvSpPr>
        <p:spPr>
          <a:xfrm>
            <a:off x="8412480" y="-2286000"/>
            <a:ext cx="7315200" cy="7315200"/>
          </a:xfrm>
          <a:prstGeom prst="ellipse">
            <a:avLst/>
          </a:prstGeom>
          <a:solidFill>
            <a:srgbClr val="D11F3C">
              <a:alpha val="12000"/>
            </a:srgbClr>
          </a:solidFill>
          <a:ln/>
        </p:spPr>
      </p:sp>
      <p:sp>
        <p:nvSpPr>
          <p:cNvPr id="3" name="Text 1"/>
          <p:cNvSpPr/>
          <p:nvPr/>
        </p:nvSpPr>
        <p:spPr>
          <a:xfrm>
            <a:off x="640080" y="502920"/>
            <a:ext cx="10058400" cy="274320"/>
          </a:xfrm>
          <a:prstGeom prst="rect">
            <a:avLst/>
          </a:prstGeom>
          <a:noFill/>
          <a:ln/>
        </p:spPr>
        <p:txBody>
          <a:bodyPr wrap="square" lIns="0" tIns="0" rIns="0" bIns="0" rtlCol="0" anchor="ctr"/>
          <a:lstStyle/>
          <a:p>
            <a:pPr indent="0" marL="0">
              <a:buNone/>
            </a:pPr>
            <a:r>
              <a:rPr lang="en-US" sz="1200" b="1" spc="300" kern="0" dirty="0">
                <a:solidFill>
                  <a:srgbClr val="D11F3C"/>
                </a:solidFill>
                <a:latin typeface="Calibri" pitchFamily="34" charset="0"/>
                <a:ea typeface="Calibri" pitchFamily="34" charset="-122"/>
                <a:cs typeface="Calibri" pitchFamily="34" charset="-120"/>
              </a:rPr>
              <a:t>OFFICIAL RESULT — TEST SET</a:t>
            </a:r>
            <a:endParaRPr lang="en-US" sz="1200" dirty="0"/>
          </a:p>
        </p:txBody>
      </p:sp>
      <p:sp>
        <p:nvSpPr>
          <p:cNvPr id="4" name="Text 2"/>
          <p:cNvSpPr/>
          <p:nvPr/>
        </p:nvSpPr>
        <p:spPr>
          <a:xfrm>
            <a:off x="640080" y="804672"/>
            <a:ext cx="10881360" cy="822960"/>
          </a:xfrm>
          <a:prstGeom prst="rect">
            <a:avLst/>
          </a:prstGeom>
          <a:noFill/>
          <a:ln/>
        </p:spPr>
        <p:txBody>
          <a:bodyPr wrap="square" lIns="0" tIns="0" rIns="0" bIns="0" rtlCol="0" anchor="ctr"/>
          <a:lstStyle/>
          <a:p>
            <a:pPr indent="0" marL="0">
              <a:buNone/>
            </a:pPr>
            <a:r>
              <a:rPr lang="en-US" sz="3100" b="1" dirty="0">
                <a:solidFill>
                  <a:srgbClr val="F4EEF0"/>
                </a:solidFill>
                <a:latin typeface="Cambria" pitchFamily="34" charset="0"/>
                <a:ea typeface="Cambria" pitchFamily="34" charset="-122"/>
                <a:cs typeface="Cambria" pitchFamily="34" charset="-120"/>
              </a:rPr>
              <a:t>The headline number</a:t>
            </a:r>
            <a:endParaRPr lang="en-US" sz="3100" dirty="0"/>
          </a:p>
        </p:txBody>
      </p:sp>
      <p:sp>
        <p:nvSpPr>
          <p:cNvPr id="5" name="Shape 3"/>
          <p:cNvSpPr/>
          <p:nvPr/>
        </p:nvSpPr>
        <p:spPr>
          <a:xfrm>
            <a:off x="640080" y="1965960"/>
            <a:ext cx="5486400" cy="2331720"/>
          </a:xfrm>
          <a:prstGeom prst="roundRect">
            <a:avLst>
              <a:gd name="adj" fmla="val 4706"/>
            </a:avLst>
          </a:prstGeom>
          <a:solidFill>
            <a:srgbClr val="1C1620"/>
          </a:solidFill>
          <a:ln w="19050">
            <a:solidFill>
              <a:srgbClr val="D11F3C"/>
            </a:solidFill>
            <a:prstDash val="solid"/>
          </a:ln>
        </p:spPr>
      </p:sp>
      <p:sp>
        <p:nvSpPr>
          <p:cNvPr id="6" name="Text 4"/>
          <p:cNvSpPr/>
          <p:nvPr/>
        </p:nvSpPr>
        <p:spPr>
          <a:xfrm>
            <a:off x="640080" y="2240280"/>
            <a:ext cx="5486400" cy="1005840"/>
          </a:xfrm>
          <a:prstGeom prst="rect">
            <a:avLst/>
          </a:prstGeom>
          <a:noFill/>
          <a:ln/>
        </p:spPr>
        <p:txBody>
          <a:bodyPr wrap="square" lIns="0" tIns="0" rIns="0" bIns="0" rtlCol="0" anchor="ctr"/>
          <a:lstStyle/>
          <a:p>
            <a:pPr algn="ctr" indent="0" marL="0">
              <a:buNone/>
            </a:pPr>
            <a:r>
              <a:rPr lang="en-US" sz="5000" b="1" dirty="0">
                <a:solidFill>
                  <a:srgbClr val="D11F3C"/>
                </a:solidFill>
                <a:latin typeface="Cambria" pitchFamily="34" charset="0"/>
                <a:ea typeface="Cambria" pitchFamily="34" charset="-122"/>
                <a:cs typeface="Cambria" pitchFamily="34" charset="-120"/>
              </a:rPr>
              <a:t>HR@10 = 0.242</a:t>
            </a:r>
            <a:endParaRPr lang="en-US" sz="5000" dirty="0"/>
          </a:p>
        </p:txBody>
      </p:sp>
      <p:sp>
        <p:nvSpPr>
          <p:cNvPr id="7" name="Text 5"/>
          <p:cNvSpPr/>
          <p:nvPr/>
        </p:nvSpPr>
        <p:spPr>
          <a:xfrm>
            <a:off x="640080" y="3383280"/>
            <a:ext cx="5486400" cy="457200"/>
          </a:xfrm>
          <a:prstGeom prst="rect">
            <a:avLst/>
          </a:prstGeom>
          <a:noFill/>
          <a:ln/>
        </p:spPr>
        <p:txBody>
          <a:bodyPr wrap="square" lIns="0" tIns="0" rIns="0" bIns="0" rtlCol="0" anchor="ctr"/>
          <a:lstStyle/>
          <a:p>
            <a:pPr algn="ctr" indent="0" marL="0">
              <a:buNone/>
            </a:pPr>
            <a:r>
              <a:rPr lang="en-US" sz="1400" b="1" dirty="0">
                <a:solidFill>
                  <a:srgbClr val="B9A9B0"/>
                </a:solidFill>
                <a:latin typeface="Calibri" pitchFamily="34" charset="0"/>
                <a:ea typeface="Calibri" pitchFamily="34" charset="-122"/>
                <a:cs typeface="Calibri" pitchFamily="34" charset="-120"/>
              </a:rPr>
              <a:t>± 0.002   (mean ± std, 3 seeds, blind test set)</a:t>
            </a:r>
            <a:endParaRPr lang="en-US" sz="1400" dirty="0"/>
          </a:p>
        </p:txBody>
      </p:sp>
      <p:sp>
        <p:nvSpPr>
          <p:cNvPr id="8" name="Shape 6"/>
          <p:cNvSpPr/>
          <p:nvPr/>
        </p:nvSpPr>
        <p:spPr>
          <a:xfrm>
            <a:off x="6309360" y="1965960"/>
            <a:ext cx="5212080" cy="2331720"/>
          </a:xfrm>
          <a:prstGeom prst="roundRect">
            <a:avLst>
              <a:gd name="adj" fmla="val 3922"/>
            </a:avLst>
          </a:prstGeom>
          <a:solidFill>
            <a:srgbClr val="1C1620"/>
          </a:solidFill>
          <a:ln w="12700">
            <a:solidFill>
              <a:srgbClr val="3A2F40"/>
            </a:solidFill>
            <a:prstDash val="solid"/>
          </a:ln>
        </p:spPr>
      </p:sp>
      <p:sp>
        <p:nvSpPr>
          <p:cNvPr id="9" name="Text 7"/>
          <p:cNvSpPr/>
          <p:nvPr/>
        </p:nvSpPr>
        <p:spPr>
          <a:xfrm>
            <a:off x="6583680" y="2194560"/>
            <a:ext cx="4663440" cy="411480"/>
          </a:xfrm>
          <a:prstGeom prst="rect">
            <a:avLst/>
          </a:prstGeom>
          <a:noFill/>
          <a:ln/>
        </p:spPr>
        <p:txBody>
          <a:bodyPr wrap="square" lIns="0" tIns="0" rIns="0" bIns="0" rtlCol="0" anchor="ctr"/>
          <a:lstStyle/>
          <a:p>
            <a:pPr indent="0" marL="0">
              <a:buNone/>
            </a:pPr>
            <a:r>
              <a:rPr lang="en-US" sz="1400" b="1" dirty="0">
                <a:solidFill>
                  <a:srgbClr val="F4EEF0"/>
                </a:solidFill>
                <a:latin typeface="Calibri" pitchFamily="34" charset="0"/>
                <a:ea typeface="Calibri" pitchFamily="34" charset="-122"/>
                <a:cs typeface="Calibri" pitchFamily="34" charset="-120"/>
              </a:rPr>
              <a:t>In plain English</a:t>
            </a:r>
            <a:endParaRPr lang="en-US" sz="1400" dirty="0"/>
          </a:p>
        </p:txBody>
      </p:sp>
      <p:sp>
        <p:nvSpPr>
          <p:cNvPr id="10" name="Text 8"/>
          <p:cNvSpPr/>
          <p:nvPr/>
        </p:nvSpPr>
        <p:spPr>
          <a:xfrm>
            <a:off x="6583680" y="2679192"/>
            <a:ext cx="4663440" cy="1417320"/>
          </a:xfrm>
          <a:prstGeom prst="rect">
            <a:avLst/>
          </a:prstGeom>
          <a:noFill/>
          <a:ln/>
        </p:spPr>
        <p:txBody>
          <a:bodyPr wrap="square" lIns="0" tIns="0" rIns="0" bIns="0" rtlCol="0" anchor="t"/>
          <a:lstStyle/>
          <a:p>
            <a:pPr indent="0" marL="0">
              <a:lnSpc>
                <a:spcPct val="115000"/>
              </a:lnSpc>
              <a:buNone/>
            </a:pPr>
            <a:r>
              <a:rPr lang="en-US" sz="1350" dirty="0">
                <a:solidFill>
                  <a:srgbClr val="B9A9B0"/>
                </a:solidFill>
                <a:latin typeface="Calibri" pitchFamily="34" charset="0"/>
                <a:ea typeface="Calibri" pitchFamily="34" charset="-122"/>
                <a:cs typeface="Calibri" pitchFamily="34" charset="-120"/>
              </a:rPr>
              <a:t>The model puts the movie a user actually watched next inside its top-10 recommendations 24.2% of the time — across 6,032 users, on data it never saw.</a:t>
            </a:r>
            <a:endParaRPr lang="en-US" sz="1350" dirty="0"/>
          </a:p>
        </p:txBody>
      </p:sp>
      <p:sp>
        <p:nvSpPr>
          <p:cNvPr id="11" name="Shape 9"/>
          <p:cNvSpPr/>
          <p:nvPr/>
        </p:nvSpPr>
        <p:spPr>
          <a:xfrm>
            <a:off x="640080" y="4526280"/>
            <a:ext cx="3538728" cy="1508760"/>
          </a:xfrm>
          <a:prstGeom prst="roundRect">
            <a:avLst>
              <a:gd name="adj" fmla="val 5455"/>
            </a:avLst>
          </a:prstGeom>
          <a:solidFill>
            <a:srgbClr val="1C1620"/>
          </a:solidFill>
          <a:ln w="12700">
            <a:solidFill>
              <a:srgbClr val="3A2F40"/>
            </a:solidFill>
            <a:prstDash val="solid"/>
          </a:ln>
        </p:spPr>
      </p:sp>
      <p:sp>
        <p:nvSpPr>
          <p:cNvPr id="12" name="Shape 10"/>
          <p:cNvSpPr/>
          <p:nvPr/>
        </p:nvSpPr>
        <p:spPr>
          <a:xfrm>
            <a:off x="868680" y="4736592"/>
            <a:ext cx="457200" cy="457200"/>
          </a:xfrm>
          <a:prstGeom prst="ellipse">
            <a:avLst/>
          </a:prstGeom>
          <a:solidFill>
            <a:srgbClr val="D11F3C"/>
          </a:solidFill>
          <a:ln/>
        </p:spPr>
      </p:sp>
      <p:pic>
        <p:nvPicPr>
          <p:cNvPr id="13" name="Image 0" descr="preencoded.png">    </p:cNvPr>
          <p:cNvPicPr>
            <a:picLocks noChangeAspect="1"/>
          </p:cNvPicPr>
          <p:nvPr/>
        </p:nvPicPr>
        <p:blipFill>
          <a:blip r:embed="rId1"/>
          <a:stretch>
            <a:fillRect/>
          </a:stretch>
        </p:blipFill>
        <p:spPr>
          <a:xfrm>
            <a:off x="987552" y="4855464"/>
            <a:ext cx="219456" cy="219456"/>
          </a:xfrm>
          <a:prstGeom prst="rect">
            <a:avLst/>
          </a:prstGeom>
        </p:spPr>
      </p:pic>
      <p:sp>
        <p:nvSpPr>
          <p:cNvPr id="14" name="Text 11"/>
          <p:cNvSpPr/>
          <p:nvPr/>
        </p:nvSpPr>
        <p:spPr>
          <a:xfrm>
            <a:off x="1463040" y="4736592"/>
            <a:ext cx="2606040" cy="457200"/>
          </a:xfrm>
          <a:prstGeom prst="rect">
            <a:avLst/>
          </a:prstGeom>
          <a:noFill/>
          <a:ln/>
        </p:spPr>
        <p:txBody>
          <a:bodyPr wrap="square" lIns="0" tIns="0" rIns="0" bIns="0" rtlCol="0" anchor="ctr"/>
          <a:lstStyle/>
          <a:p>
            <a:pPr indent="0" marL="0">
              <a:buNone/>
            </a:pPr>
            <a:r>
              <a:rPr lang="en-US" sz="1300" b="1" dirty="0">
                <a:solidFill>
                  <a:srgbClr val="F4EEF0"/>
                </a:solidFill>
                <a:latin typeface="Calibri" pitchFamily="34" charset="0"/>
                <a:ea typeface="Calibri" pitchFamily="34" charset="-122"/>
                <a:cs typeface="Calibri" pitchFamily="34" charset="-120"/>
              </a:rPr>
              <a:t>Blind test set</a:t>
            </a:r>
            <a:endParaRPr lang="en-US" sz="1300" dirty="0"/>
          </a:p>
        </p:txBody>
      </p:sp>
      <p:sp>
        <p:nvSpPr>
          <p:cNvPr id="15" name="Text 12"/>
          <p:cNvSpPr/>
          <p:nvPr/>
        </p:nvSpPr>
        <p:spPr>
          <a:xfrm>
            <a:off x="868680" y="5257800"/>
            <a:ext cx="3108960" cy="685800"/>
          </a:xfrm>
          <a:prstGeom prst="rect">
            <a:avLst/>
          </a:prstGeom>
          <a:noFill/>
          <a:ln/>
        </p:spPr>
        <p:txBody>
          <a:bodyPr wrap="square" lIns="0" tIns="0" rIns="0" bIns="0" rtlCol="0" anchor="ctr"/>
          <a:lstStyle/>
          <a:p>
            <a:pPr indent="0" marL="0">
              <a:lnSpc>
                <a:spcPct val="105000"/>
              </a:lnSpc>
              <a:buNone/>
            </a:pPr>
            <a:r>
              <a:rPr lang="en-US" sz="1150" dirty="0">
                <a:solidFill>
                  <a:srgbClr val="B9A9B0"/>
                </a:solidFill>
                <a:latin typeface="Calibri" pitchFamily="34" charset="0"/>
                <a:ea typeface="Calibri" pitchFamily="34" charset="-122"/>
                <a:cs typeface="Calibri" pitchFamily="34" charset="-120"/>
              </a:rPr>
              <a:t>Sealed from day 1; never seen during E3/E4/E5 tuning.</a:t>
            </a:r>
            <a:endParaRPr lang="en-US" sz="1150" dirty="0"/>
          </a:p>
        </p:txBody>
      </p:sp>
      <p:sp>
        <p:nvSpPr>
          <p:cNvPr id="16" name="Shape 13"/>
          <p:cNvSpPr/>
          <p:nvPr/>
        </p:nvSpPr>
        <p:spPr>
          <a:xfrm>
            <a:off x="4311396" y="4526280"/>
            <a:ext cx="3538728" cy="1508760"/>
          </a:xfrm>
          <a:prstGeom prst="roundRect">
            <a:avLst>
              <a:gd name="adj" fmla="val 5455"/>
            </a:avLst>
          </a:prstGeom>
          <a:solidFill>
            <a:srgbClr val="1C1620"/>
          </a:solidFill>
          <a:ln w="12700">
            <a:solidFill>
              <a:srgbClr val="3A2F40"/>
            </a:solidFill>
            <a:prstDash val="solid"/>
          </a:ln>
        </p:spPr>
      </p:sp>
      <p:sp>
        <p:nvSpPr>
          <p:cNvPr id="17" name="Shape 14"/>
          <p:cNvSpPr/>
          <p:nvPr/>
        </p:nvSpPr>
        <p:spPr>
          <a:xfrm>
            <a:off x="4539996" y="4736592"/>
            <a:ext cx="457200" cy="457200"/>
          </a:xfrm>
          <a:prstGeom prst="ellipse">
            <a:avLst/>
          </a:prstGeom>
          <a:solidFill>
            <a:srgbClr val="D11F3C"/>
          </a:solidFill>
          <a:ln/>
        </p:spPr>
      </p:sp>
      <p:pic>
        <p:nvPicPr>
          <p:cNvPr id="18" name="Image 1" descr="preencoded.png">    </p:cNvPr>
          <p:cNvPicPr>
            <a:picLocks noChangeAspect="1"/>
          </p:cNvPicPr>
          <p:nvPr/>
        </p:nvPicPr>
        <p:blipFill>
          <a:blip r:embed="rId2"/>
          <a:stretch>
            <a:fillRect/>
          </a:stretch>
        </p:blipFill>
        <p:spPr>
          <a:xfrm>
            <a:off x="4658868" y="4855464"/>
            <a:ext cx="219456" cy="219456"/>
          </a:xfrm>
          <a:prstGeom prst="rect">
            <a:avLst/>
          </a:prstGeom>
        </p:spPr>
      </p:pic>
      <p:sp>
        <p:nvSpPr>
          <p:cNvPr id="19" name="Text 15"/>
          <p:cNvSpPr/>
          <p:nvPr/>
        </p:nvSpPr>
        <p:spPr>
          <a:xfrm>
            <a:off x="5134356" y="4736592"/>
            <a:ext cx="2606040" cy="457200"/>
          </a:xfrm>
          <a:prstGeom prst="rect">
            <a:avLst/>
          </a:prstGeom>
          <a:noFill/>
          <a:ln/>
        </p:spPr>
        <p:txBody>
          <a:bodyPr wrap="square" lIns="0" tIns="0" rIns="0" bIns="0" rtlCol="0" anchor="ctr"/>
          <a:lstStyle/>
          <a:p>
            <a:pPr indent="0" marL="0">
              <a:buNone/>
            </a:pPr>
            <a:r>
              <a:rPr lang="en-US" sz="1300" b="1" dirty="0">
                <a:solidFill>
                  <a:srgbClr val="F4EEF0"/>
                </a:solidFill>
                <a:latin typeface="Calibri" pitchFamily="34" charset="0"/>
                <a:ea typeface="Calibri" pitchFamily="34" charset="-122"/>
                <a:cs typeface="Calibri" pitchFamily="34" charset="-120"/>
              </a:rPr>
              <a:t>3 seeds (42, 0, 7)</a:t>
            </a:r>
            <a:endParaRPr lang="en-US" sz="1300" dirty="0"/>
          </a:p>
        </p:txBody>
      </p:sp>
      <p:sp>
        <p:nvSpPr>
          <p:cNvPr id="20" name="Text 16"/>
          <p:cNvSpPr/>
          <p:nvPr/>
        </p:nvSpPr>
        <p:spPr>
          <a:xfrm>
            <a:off x="4539996" y="5257800"/>
            <a:ext cx="3108960" cy="685800"/>
          </a:xfrm>
          <a:prstGeom prst="rect">
            <a:avLst/>
          </a:prstGeom>
          <a:noFill/>
          <a:ln/>
        </p:spPr>
        <p:txBody>
          <a:bodyPr wrap="square" lIns="0" tIns="0" rIns="0" bIns="0" rtlCol="0" anchor="ctr"/>
          <a:lstStyle/>
          <a:p>
            <a:pPr indent="0" marL="0">
              <a:lnSpc>
                <a:spcPct val="105000"/>
              </a:lnSpc>
              <a:buNone/>
            </a:pPr>
            <a:r>
              <a:rPr lang="en-US" sz="1150" dirty="0">
                <a:solidFill>
                  <a:srgbClr val="B9A9B0"/>
                </a:solidFill>
                <a:latin typeface="Calibri" pitchFamily="34" charset="0"/>
                <a:ea typeface="Calibri" pitchFamily="34" charset="-122"/>
                <a:cs typeface="Calibri" pitchFamily="34" charset="-120"/>
              </a:rPr>
              <a:t>One run is random — 3 seeds show the result is stable.</a:t>
            </a:r>
            <a:endParaRPr lang="en-US" sz="1150" dirty="0"/>
          </a:p>
        </p:txBody>
      </p:sp>
      <p:sp>
        <p:nvSpPr>
          <p:cNvPr id="21" name="Shape 17"/>
          <p:cNvSpPr/>
          <p:nvPr/>
        </p:nvSpPr>
        <p:spPr>
          <a:xfrm>
            <a:off x="7982712" y="4526280"/>
            <a:ext cx="3538728" cy="1508760"/>
          </a:xfrm>
          <a:prstGeom prst="roundRect">
            <a:avLst>
              <a:gd name="adj" fmla="val 5455"/>
            </a:avLst>
          </a:prstGeom>
          <a:solidFill>
            <a:srgbClr val="1C1620"/>
          </a:solidFill>
          <a:ln w="12700">
            <a:solidFill>
              <a:srgbClr val="3A2F40"/>
            </a:solidFill>
            <a:prstDash val="solid"/>
          </a:ln>
        </p:spPr>
      </p:sp>
      <p:sp>
        <p:nvSpPr>
          <p:cNvPr id="22" name="Shape 18"/>
          <p:cNvSpPr/>
          <p:nvPr/>
        </p:nvSpPr>
        <p:spPr>
          <a:xfrm>
            <a:off x="8211312" y="4736592"/>
            <a:ext cx="457200" cy="457200"/>
          </a:xfrm>
          <a:prstGeom prst="ellipse">
            <a:avLst/>
          </a:prstGeom>
          <a:solidFill>
            <a:srgbClr val="D11F3C"/>
          </a:solidFill>
          <a:ln/>
        </p:spPr>
      </p:sp>
      <p:pic>
        <p:nvPicPr>
          <p:cNvPr id="23" name="Image 2" descr="preencoded.png">    </p:cNvPr>
          <p:cNvPicPr>
            <a:picLocks noChangeAspect="1"/>
          </p:cNvPicPr>
          <p:nvPr/>
        </p:nvPicPr>
        <p:blipFill>
          <a:blip r:embed="rId3"/>
          <a:stretch>
            <a:fillRect/>
          </a:stretch>
        </p:blipFill>
        <p:spPr>
          <a:xfrm>
            <a:off x="8330184" y="4855464"/>
            <a:ext cx="219456" cy="219456"/>
          </a:xfrm>
          <a:prstGeom prst="rect">
            <a:avLst/>
          </a:prstGeom>
        </p:spPr>
      </p:pic>
      <p:sp>
        <p:nvSpPr>
          <p:cNvPr id="24" name="Text 19"/>
          <p:cNvSpPr/>
          <p:nvPr/>
        </p:nvSpPr>
        <p:spPr>
          <a:xfrm>
            <a:off x="8805672" y="4736592"/>
            <a:ext cx="2606040" cy="457200"/>
          </a:xfrm>
          <a:prstGeom prst="rect">
            <a:avLst/>
          </a:prstGeom>
          <a:noFill/>
          <a:ln/>
        </p:spPr>
        <p:txBody>
          <a:bodyPr wrap="square" lIns="0" tIns="0" rIns="0" bIns="0" rtlCol="0" anchor="ctr"/>
          <a:lstStyle/>
          <a:p>
            <a:pPr indent="0" marL="0">
              <a:buNone/>
            </a:pPr>
            <a:r>
              <a:rPr lang="en-US" sz="1300" b="1" dirty="0">
                <a:solidFill>
                  <a:srgbClr val="F4EEF0"/>
                </a:solidFill>
                <a:latin typeface="Calibri" pitchFamily="34" charset="0"/>
                <a:ea typeface="Calibri" pitchFamily="34" charset="-122"/>
                <a:cs typeface="Calibri" pitchFamily="34" charset="-120"/>
              </a:rPr>
              <a:t>Full-catalog ranking</a:t>
            </a:r>
            <a:endParaRPr lang="en-US" sz="1300" dirty="0"/>
          </a:p>
        </p:txBody>
      </p:sp>
      <p:sp>
        <p:nvSpPr>
          <p:cNvPr id="25" name="Text 20"/>
          <p:cNvSpPr/>
          <p:nvPr/>
        </p:nvSpPr>
        <p:spPr>
          <a:xfrm>
            <a:off x="8211312" y="5257800"/>
            <a:ext cx="3108960" cy="685800"/>
          </a:xfrm>
          <a:prstGeom prst="rect">
            <a:avLst/>
          </a:prstGeom>
          <a:noFill/>
          <a:ln/>
        </p:spPr>
        <p:txBody>
          <a:bodyPr wrap="square" lIns="0" tIns="0" rIns="0" bIns="0" rtlCol="0" anchor="ctr"/>
          <a:lstStyle/>
          <a:p>
            <a:pPr indent="0" marL="0">
              <a:lnSpc>
                <a:spcPct val="105000"/>
              </a:lnSpc>
              <a:buNone/>
            </a:pPr>
            <a:r>
              <a:rPr lang="en-US" sz="1150" dirty="0">
                <a:solidFill>
                  <a:srgbClr val="B9A9B0"/>
                </a:solidFill>
                <a:latin typeface="Calibri" pitchFamily="34" charset="0"/>
                <a:ea typeface="Calibri" pitchFamily="34" charset="-122"/>
                <a:cs typeface="Calibri" pitchFamily="34" charset="-120"/>
              </a:rPr>
              <a:t>All 3,413 movies ranked, not 100 sampled negatives.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B10"/>
        </a:solidFill>
      </p:bgPr>
    </p:bg>
    <p:spTree>
      <p:nvGrpSpPr>
        <p:cNvPr id="1" name=""/>
        <p:cNvGrpSpPr/>
        <p:nvPr/>
      </p:nvGrpSpPr>
      <p:grpSpPr>
        <a:xfrm>
          <a:off x="0" y="0"/>
          <a:ext cx="0" cy="0"/>
          <a:chOff x="0" y="0"/>
          <a:chExt cx="0" cy="0"/>
        </a:xfrm>
      </p:grpSpPr>
      <p:sp>
        <p:nvSpPr>
          <p:cNvPr id="2" name="Shape 0"/>
          <p:cNvSpPr/>
          <p:nvPr/>
        </p:nvSpPr>
        <p:spPr>
          <a:xfrm>
            <a:off x="-1828800" y="2743200"/>
            <a:ext cx="7315200" cy="7315200"/>
          </a:xfrm>
          <a:prstGeom prst="ellipse">
            <a:avLst/>
          </a:prstGeom>
          <a:solidFill>
            <a:srgbClr val="D11F3C">
              <a:alpha val="12000"/>
            </a:srgbClr>
          </a:solidFill>
          <a:ln/>
        </p:spPr>
      </p:sp>
      <p:sp>
        <p:nvSpPr>
          <p:cNvPr id="3" name="Shape 1"/>
          <p:cNvSpPr/>
          <p:nvPr/>
        </p:nvSpPr>
        <p:spPr>
          <a:xfrm>
            <a:off x="822960" y="777240"/>
            <a:ext cx="914400" cy="914400"/>
          </a:xfrm>
          <a:prstGeom prst="ellipse">
            <a:avLst/>
          </a:prstGeom>
          <a:solidFill>
            <a:srgbClr val="D11F3C"/>
          </a:solidFill>
          <a:ln/>
        </p:spPr>
      </p:sp>
      <p:pic>
        <p:nvPicPr>
          <p:cNvPr id="4" name="Image 0" descr="preencoded.png">    </p:cNvPr>
          <p:cNvPicPr>
            <a:picLocks noChangeAspect="1"/>
          </p:cNvPicPr>
          <p:nvPr/>
        </p:nvPicPr>
        <p:blipFill>
          <a:blip r:embed="rId1"/>
          <a:stretch>
            <a:fillRect/>
          </a:stretch>
        </p:blipFill>
        <p:spPr>
          <a:xfrm>
            <a:off x="1060704" y="1014984"/>
            <a:ext cx="438912" cy="438912"/>
          </a:xfrm>
          <a:prstGeom prst="rect">
            <a:avLst/>
          </a:prstGeom>
        </p:spPr>
      </p:pic>
      <p:sp>
        <p:nvSpPr>
          <p:cNvPr id="5" name="Text 2"/>
          <p:cNvSpPr/>
          <p:nvPr/>
        </p:nvSpPr>
        <p:spPr>
          <a:xfrm>
            <a:off x="1920240" y="868680"/>
            <a:ext cx="7315200" cy="365760"/>
          </a:xfrm>
          <a:prstGeom prst="rect">
            <a:avLst/>
          </a:prstGeom>
          <a:noFill/>
          <a:ln/>
        </p:spPr>
        <p:txBody>
          <a:bodyPr wrap="square" lIns="0" tIns="0" rIns="0" bIns="0" rtlCol="0" anchor="ctr"/>
          <a:lstStyle/>
          <a:p>
            <a:pPr indent="0" marL="0">
              <a:buNone/>
            </a:pPr>
            <a:r>
              <a:rPr lang="en-US" sz="1300" b="1" spc="300" kern="0" dirty="0">
                <a:solidFill>
                  <a:srgbClr val="D11F3C"/>
                </a:solidFill>
                <a:latin typeface="Calibri" pitchFamily="34" charset="0"/>
                <a:ea typeface="Calibri" pitchFamily="34" charset="-122"/>
                <a:cs typeface="Calibri" pitchFamily="34" charset="-120"/>
              </a:rPr>
              <a:t>LIVE DEMO</a:t>
            </a:r>
            <a:endParaRPr lang="en-US" sz="1300" dirty="0"/>
          </a:p>
        </p:txBody>
      </p:sp>
      <p:sp>
        <p:nvSpPr>
          <p:cNvPr id="6" name="Text 3"/>
          <p:cNvSpPr/>
          <p:nvPr/>
        </p:nvSpPr>
        <p:spPr>
          <a:xfrm>
            <a:off x="1920240" y="1188720"/>
            <a:ext cx="8229600" cy="731520"/>
          </a:xfrm>
          <a:prstGeom prst="rect">
            <a:avLst/>
          </a:prstGeom>
          <a:noFill/>
          <a:ln/>
        </p:spPr>
        <p:txBody>
          <a:bodyPr wrap="square" lIns="0" tIns="0" rIns="0" bIns="0" rtlCol="0" anchor="ctr"/>
          <a:lstStyle/>
          <a:p>
            <a:pPr indent="0" marL="0">
              <a:buNone/>
            </a:pPr>
            <a:r>
              <a:rPr lang="en-US" sz="3200" b="1" dirty="0">
                <a:solidFill>
                  <a:srgbClr val="F4EEF0"/>
                </a:solidFill>
                <a:latin typeface="Cambria" pitchFamily="34" charset="0"/>
                <a:ea typeface="Cambria" pitchFamily="34" charset="-122"/>
                <a:cs typeface="Cambria" pitchFamily="34" charset="-120"/>
              </a:rPr>
              <a:t>Reverie in action</a:t>
            </a:r>
            <a:endParaRPr lang="en-US" sz="3200" dirty="0"/>
          </a:p>
        </p:txBody>
      </p:sp>
      <p:sp>
        <p:nvSpPr>
          <p:cNvPr id="7" name="Shape 4"/>
          <p:cNvSpPr/>
          <p:nvPr/>
        </p:nvSpPr>
        <p:spPr>
          <a:xfrm>
            <a:off x="822960" y="2377440"/>
            <a:ext cx="7223760" cy="841248"/>
          </a:xfrm>
          <a:prstGeom prst="roundRect">
            <a:avLst>
              <a:gd name="adj" fmla="val 8696"/>
            </a:avLst>
          </a:prstGeom>
          <a:solidFill>
            <a:srgbClr val="1C1620"/>
          </a:solidFill>
          <a:ln w="12700">
            <a:solidFill>
              <a:srgbClr val="3A2F40"/>
            </a:solidFill>
            <a:prstDash val="solid"/>
          </a:ln>
        </p:spPr>
      </p:sp>
      <p:sp>
        <p:nvSpPr>
          <p:cNvPr id="8" name="Shape 5"/>
          <p:cNvSpPr/>
          <p:nvPr/>
        </p:nvSpPr>
        <p:spPr>
          <a:xfrm>
            <a:off x="1078992" y="2560320"/>
            <a:ext cx="475488" cy="475488"/>
          </a:xfrm>
          <a:prstGeom prst="ellipse">
            <a:avLst/>
          </a:prstGeom>
          <a:solidFill>
            <a:srgbClr val="D11F3C"/>
          </a:solidFill>
          <a:ln/>
        </p:spPr>
      </p:sp>
      <p:pic>
        <p:nvPicPr>
          <p:cNvPr id="9" name="Image 1" descr="preencoded.png">    </p:cNvPr>
          <p:cNvPicPr>
            <a:picLocks noChangeAspect="1"/>
          </p:cNvPicPr>
          <p:nvPr/>
        </p:nvPicPr>
        <p:blipFill>
          <a:blip r:embed="rId2"/>
          <a:stretch>
            <a:fillRect/>
          </a:stretch>
        </p:blipFill>
        <p:spPr>
          <a:xfrm>
            <a:off x="1202619" y="2683947"/>
            <a:ext cx="228234" cy="228234"/>
          </a:xfrm>
          <a:prstGeom prst="rect">
            <a:avLst/>
          </a:prstGeom>
        </p:spPr>
      </p:pic>
      <p:sp>
        <p:nvSpPr>
          <p:cNvPr id="10" name="Text 6"/>
          <p:cNvSpPr/>
          <p:nvPr/>
        </p:nvSpPr>
        <p:spPr>
          <a:xfrm>
            <a:off x="1828800" y="2377440"/>
            <a:ext cx="6126480" cy="841248"/>
          </a:xfrm>
          <a:prstGeom prst="rect">
            <a:avLst/>
          </a:prstGeom>
          <a:noFill/>
          <a:ln/>
        </p:spPr>
        <p:txBody>
          <a:bodyPr wrap="square" lIns="0" tIns="0" rIns="0" bIns="0" rtlCol="0" anchor="ctr"/>
          <a:lstStyle/>
          <a:p>
            <a:pPr indent="0" marL="0">
              <a:lnSpc>
                <a:spcPct val="102000"/>
              </a:lnSpc>
              <a:buNone/>
            </a:pPr>
            <a:r>
              <a:rPr lang="en-US" sz="1400" dirty="0">
                <a:solidFill>
                  <a:srgbClr val="F4EEF0"/>
                </a:solidFill>
                <a:latin typeface="Calibri" pitchFamily="34" charset="0"/>
                <a:ea typeface="Calibri" pitchFamily="34" charset="-122"/>
                <a:cs typeface="Calibri" pitchFamily="34" charset="-120"/>
              </a:rPr>
              <a:t>Add a few movies with star ratings to build a history</a:t>
            </a:r>
            <a:endParaRPr lang="en-US" sz="1400" dirty="0"/>
          </a:p>
        </p:txBody>
      </p:sp>
      <p:sp>
        <p:nvSpPr>
          <p:cNvPr id="11" name="Shape 7"/>
          <p:cNvSpPr/>
          <p:nvPr/>
        </p:nvSpPr>
        <p:spPr>
          <a:xfrm>
            <a:off x="822960" y="3328416"/>
            <a:ext cx="7223760" cy="841248"/>
          </a:xfrm>
          <a:prstGeom prst="roundRect">
            <a:avLst>
              <a:gd name="adj" fmla="val 8696"/>
            </a:avLst>
          </a:prstGeom>
          <a:solidFill>
            <a:srgbClr val="1C1620"/>
          </a:solidFill>
          <a:ln w="12700">
            <a:solidFill>
              <a:srgbClr val="3A2F40"/>
            </a:solidFill>
            <a:prstDash val="solid"/>
          </a:ln>
        </p:spPr>
      </p:sp>
      <p:sp>
        <p:nvSpPr>
          <p:cNvPr id="12" name="Shape 8"/>
          <p:cNvSpPr/>
          <p:nvPr/>
        </p:nvSpPr>
        <p:spPr>
          <a:xfrm>
            <a:off x="1078992" y="3511296"/>
            <a:ext cx="475488" cy="475488"/>
          </a:xfrm>
          <a:prstGeom prst="ellipse">
            <a:avLst/>
          </a:prstGeom>
          <a:solidFill>
            <a:srgbClr val="D11F3C"/>
          </a:solidFill>
          <a:ln/>
        </p:spPr>
      </p:sp>
      <p:pic>
        <p:nvPicPr>
          <p:cNvPr id="13" name="Image 2" descr="preencoded.png">    </p:cNvPr>
          <p:cNvPicPr>
            <a:picLocks noChangeAspect="1"/>
          </p:cNvPicPr>
          <p:nvPr/>
        </p:nvPicPr>
        <p:blipFill>
          <a:blip r:embed="rId3"/>
          <a:stretch>
            <a:fillRect/>
          </a:stretch>
        </p:blipFill>
        <p:spPr>
          <a:xfrm>
            <a:off x="1202619" y="3634923"/>
            <a:ext cx="228234" cy="228234"/>
          </a:xfrm>
          <a:prstGeom prst="rect">
            <a:avLst/>
          </a:prstGeom>
        </p:spPr>
      </p:pic>
      <p:sp>
        <p:nvSpPr>
          <p:cNvPr id="14" name="Text 9"/>
          <p:cNvSpPr/>
          <p:nvPr/>
        </p:nvSpPr>
        <p:spPr>
          <a:xfrm>
            <a:off x="1828800" y="3328416"/>
            <a:ext cx="6126480" cy="841248"/>
          </a:xfrm>
          <a:prstGeom prst="rect">
            <a:avLst/>
          </a:prstGeom>
          <a:noFill/>
          <a:ln/>
        </p:spPr>
        <p:txBody>
          <a:bodyPr wrap="square" lIns="0" tIns="0" rIns="0" bIns="0" rtlCol="0" anchor="ctr"/>
          <a:lstStyle/>
          <a:p>
            <a:pPr indent="0" marL="0">
              <a:lnSpc>
                <a:spcPct val="102000"/>
              </a:lnSpc>
              <a:buNone/>
            </a:pPr>
            <a:r>
              <a:rPr lang="en-US" sz="1400" dirty="0">
                <a:solidFill>
                  <a:srgbClr val="F4EEF0"/>
                </a:solidFill>
                <a:latin typeface="Calibri" pitchFamily="34" charset="0"/>
                <a:ea typeface="Calibri" pitchFamily="34" charset="-122"/>
                <a:cs typeface="Calibri" pitchFamily="34" charset="-120"/>
              </a:rPr>
              <a:t>Recommendation row updates in real time</a:t>
            </a:r>
            <a:endParaRPr lang="en-US" sz="1400" dirty="0"/>
          </a:p>
        </p:txBody>
      </p:sp>
      <p:sp>
        <p:nvSpPr>
          <p:cNvPr id="15" name="Shape 10"/>
          <p:cNvSpPr/>
          <p:nvPr/>
        </p:nvSpPr>
        <p:spPr>
          <a:xfrm>
            <a:off x="822960" y="4279392"/>
            <a:ext cx="7223760" cy="841248"/>
          </a:xfrm>
          <a:prstGeom prst="roundRect">
            <a:avLst>
              <a:gd name="adj" fmla="val 8696"/>
            </a:avLst>
          </a:prstGeom>
          <a:solidFill>
            <a:srgbClr val="1C1620"/>
          </a:solidFill>
          <a:ln w="12700">
            <a:solidFill>
              <a:srgbClr val="3A2F40"/>
            </a:solidFill>
            <a:prstDash val="solid"/>
          </a:ln>
        </p:spPr>
      </p:sp>
      <p:sp>
        <p:nvSpPr>
          <p:cNvPr id="16" name="Shape 11"/>
          <p:cNvSpPr/>
          <p:nvPr/>
        </p:nvSpPr>
        <p:spPr>
          <a:xfrm>
            <a:off x="1078992" y="4462272"/>
            <a:ext cx="475488" cy="475488"/>
          </a:xfrm>
          <a:prstGeom prst="ellipse">
            <a:avLst/>
          </a:prstGeom>
          <a:solidFill>
            <a:srgbClr val="D11F3C"/>
          </a:solidFill>
          <a:ln/>
        </p:spPr>
      </p:sp>
      <p:pic>
        <p:nvPicPr>
          <p:cNvPr id="17" name="Image 3" descr="preencoded.png">    </p:cNvPr>
          <p:cNvPicPr>
            <a:picLocks noChangeAspect="1"/>
          </p:cNvPicPr>
          <p:nvPr/>
        </p:nvPicPr>
        <p:blipFill>
          <a:blip r:embed="rId4"/>
          <a:stretch>
            <a:fillRect/>
          </a:stretch>
        </p:blipFill>
        <p:spPr>
          <a:xfrm>
            <a:off x="1202619" y="4585899"/>
            <a:ext cx="228234" cy="228234"/>
          </a:xfrm>
          <a:prstGeom prst="rect">
            <a:avLst/>
          </a:prstGeom>
        </p:spPr>
      </p:pic>
      <p:sp>
        <p:nvSpPr>
          <p:cNvPr id="18" name="Text 12"/>
          <p:cNvSpPr/>
          <p:nvPr/>
        </p:nvSpPr>
        <p:spPr>
          <a:xfrm>
            <a:off x="1828800" y="4279392"/>
            <a:ext cx="6126480" cy="841248"/>
          </a:xfrm>
          <a:prstGeom prst="rect">
            <a:avLst/>
          </a:prstGeom>
          <a:noFill/>
          <a:ln/>
        </p:spPr>
        <p:txBody>
          <a:bodyPr wrap="square" lIns="0" tIns="0" rIns="0" bIns="0" rtlCol="0" anchor="ctr"/>
          <a:lstStyle/>
          <a:p>
            <a:pPr indent="0" marL="0">
              <a:lnSpc>
                <a:spcPct val="102000"/>
              </a:lnSpc>
              <a:buNone/>
            </a:pPr>
            <a:r>
              <a:rPr lang="en-US" sz="1400" dirty="0">
                <a:solidFill>
                  <a:srgbClr val="F4EEF0"/>
                </a:solidFill>
                <a:latin typeface="Calibri" pitchFamily="34" charset="0"/>
                <a:ea typeface="Calibri" pitchFamily="34" charset="-122"/>
                <a:cs typeface="Calibri" pitchFamily="34" charset="-120"/>
              </a:rPr>
              <a:t>Thumbs-down a pick → it disappears and the list re-ranks live</a:t>
            </a:r>
            <a:endParaRPr lang="en-US" sz="1400" dirty="0"/>
          </a:p>
        </p:txBody>
      </p:sp>
      <p:sp>
        <p:nvSpPr>
          <p:cNvPr id="19" name="Shape 13"/>
          <p:cNvSpPr/>
          <p:nvPr/>
        </p:nvSpPr>
        <p:spPr>
          <a:xfrm>
            <a:off x="822960" y="5230368"/>
            <a:ext cx="7223760" cy="841248"/>
          </a:xfrm>
          <a:prstGeom prst="roundRect">
            <a:avLst>
              <a:gd name="adj" fmla="val 8696"/>
            </a:avLst>
          </a:prstGeom>
          <a:solidFill>
            <a:srgbClr val="1C1620"/>
          </a:solidFill>
          <a:ln w="12700">
            <a:solidFill>
              <a:srgbClr val="3A2F40"/>
            </a:solidFill>
            <a:prstDash val="solid"/>
          </a:ln>
        </p:spPr>
      </p:sp>
      <p:sp>
        <p:nvSpPr>
          <p:cNvPr id="20" name="Shape 14"/>
          <p:cNvSpPr/>
          <p:nvPr/>
        </p:nvSpPr>
        <p:spPr>
          <a:xfrm>
            <a:off x="1078992" y="5413248"/>
            <a:ext cx="475488" cy="475488"/>
          </a:xfrm>
          <a:prstGeom prst="ellipse">
            <a:avLst/>
          </a:prstGeom>
          <a:solidFill>
            <a:srgbClr val="D11F3C"/>
          </a:solidFill>
          <a:ln/>
        </p:spPr>
      </p:sp>
      <p:pic>
        <p:nvPicPr>
          <p:cNvPr id="21" name="Image 4" descr="preencoded.png">    </p:cNvPr>
          <p:cNvPicPr>
            <a:picLocks noChangeAspect="1"/>
          </p:cNvPicPr>
          <p:nvPr/>
        </p:nvPicPr>
        <p:blipFill>
          <a:blip r:embed="rId5"/>
          <a:stretch>
            <a:fillRect/>
          </a:stretch>
        </p:blipFill>
        <p:spPr>
          <a:xfrm>
            <a:off x="1202619" y="5536875"/>
            <a:ext cx="228234" cy="228234"/>
          </a:xfrm>
          <a:prstGeom prst="rect">
            <a:avLst/>
          </a:prstGeom>
        </p:spPr>
      </p:pic>
      <p:sp>
        <p:nvSpPr>
          <p:cNvPr id="22" name="Text 15"/>
          <p:cNvSpPr/>
          <p:nvPr/>
        </p:nvSpPr>
        <p:spPr>
          <a:xfrm>
            <a:off x="1828800" y="5230368"/>
            <a:ext cx="6126480" cy="841248"/>
          </a:xfrm>
          <a:prstGeom prst="rect">
            <a:avLst/>
          </a:prstGeom>
          <a:noFill/>
          <a:ln/>
        </p:spPr>
        <p:txBody>
          <a:bodyPr wrap="square" lIns="0" tIns="0" rIns="0" bIns="0" rtlCol="0" anchor="ctr"/>
          <a:lstStyle/>
          <a:p>
            <a:pPr indent="0" marL="0">
              <a:lnSpc>
                <a:spcPct val="102000"/>
              </a:lnSpc>
              <a:buNone/>
            </a:pPr>
            <a:r>
              <a:rPr lang="en-US" sz="1400" dirty="0">
                <a:solidFill>
                  <a:srgbClr val="F4EEF0"/>
                </a:solidFill>
                <a:latin typeface="Calibri" pitchFamily="34" charset="0"/>
                <a:ea typeface="Calibri" pitchFamily="34" charset="-122"/>
                <a:cs typeface="Calibri" pitchFamily="34" charset="-120"/>
              </a:rPr>
              <a:t>Taste-profile panel shows the genre breakdown</a:t>
            </a:r>
            <a:endParaRPr lang="en-US" sz="1400" dirty="0"/>
          </a:p>
        </p:txBody>
      </p:sp>
      <p:sp>
        <p:nvSpPr>
          <p:cNvPr id="23" name="Shape 16"/>
          <p:cNvSpPr/>
          <p:nvPr/>
        </p:nvSpPr>
        <p:spPr>
          <a:xfrm>
            <a:off x="8275320" y="2377440"/>
            <a:ext cx="3246120" cy="3657600"/>
          </a:xfrm>
          <a:prstGeom prst="roundRect">
            <a:avLst>
              <a:gd name="adj" fmla="val 2817"/>
            </a:avLst>
          </a:prstGeom>
          <a:solidFill>
            <a:srgbClr val="15110F"/>
          </a:solidFill>
          <a:ln w="12700">
            <a:solidFill>
              <a:srgbClr val="E5B567"/>
            </a:solidFill>
            <a:prstDash val="solid"/>
          </a:ln>
        </p:spPr>
      </p:sp>
      <p:sp>
        <p:nvSpPr>
          <p:cNvPr id="24" name="Text 17"/>
          <p:cNvSpPr/>
          <p:nvPr/>
        </p:nvSpPr>
        <p:spPr>
          <a:xfrm>
            <a:off x="8503920" y="2542032"/>
            <a:ext cx="2834640" cy="365760"/>
          </a:xfrm>
          <a:prstGeom prst="rect">
            <a:avLst/>
          </a:prstGeom>
          <a:noFill/>
          <a:ln/>
        </p:spPr>
        <p:txBody>
          <a:bodyPr wrap="square" lIns="0" tIns="0" rIns="0" bIns="0" rtlCol="0" anchor="ctr"/>
          <a:lstStyle/>
          <a:p>
            <a:pPr indent="0" marL="0">
              <a:buNone/>
            </a:pPr>
            <a:r>
              <a:rPr lang="en-US" sz="1300" b="1" dirty="0">
                <a:solidFill>
                  <a:srgbClr val="E5B567"/>
                </a:solidFill>
                <a:latin typeface="Calibri" pitchFamily="34" charset="0"/>
                <a:ea typeface="Calibri" pitchFamily="34" charset="-122"/>
                <a:cs typeface="Calibri" pitchFamily="34" charset="-120"/>
              </a:rPr>
              <a:t>Two terminals</a:t>
            </a:r>
            <a:endParaRPr lang="en-US" sz="1300" dirty="0"/>
          </a:p>
        </p:txBody>
      </p:sp>
      <p:sp>
        <p:nvSpPr>
          <p:cNvPr id="25" name="Text 18"/>
          <p:cNvSpPr/>
          <p:nvPr/>
        </p:nvSpPr>
        <p:spPr>
          <a:xfrm>
            <a:off x="8503920" y="2971800"/>
            <a:ext cx="2834640" cy="2834640"/>
          </a:xfrm>
          <a:prstGeom prst="rect">
            <a:avLst/>
          </a:prstGeom>
          <a:noFill/>
          <a:ln/>
        </p:spPr>
        <p:txBody>
          <a:bodyPr wrap="square" lIns="0" tIns="0" rIns="0" bIns="0" rtlCol="0" anchor="t"/>
          <a:lstStyle/>
          <a:p>
            <a:pPr indent="0" marL="0">
              <a:lnSpc>
                <a:spcPct val="110000"/>
              </a:lnSpc>
              <a:spcAft>
                <a:spcPts val="200"/>
              </a:spcAft>
              <a:buNone/>
            </a:pPr>
            <a:r>
              <a:rPr lang="en-US" sz="1100" dirty="0">
                <a:solidFill>
                  <a:srgbClr val="B9A9B0"/>
                </a:solidFill>
              </a:rPr>
              <a:t>Terminal 1
</a:t>
            </a:r>
            <a:endParaRPr lang="en-US" sz="1100" dirty="0"/>
          </a:p>
          <a:p>
            <a:pPr indent="0" marL="0">
              <a:lnSpc>
                <a:spcPct val="110000"/>
              </a:lnSpc>
              <a:buNone/>
            </a:pPr>
            <a:r>
              <a:rPr lang="en-US" sz="1100" dirty="0">
                <a:solidFill>
                  <a:srgbClr val="F4EEF0"/>
                </a:solidFill>
                <a:latin typeface="Courier New" pitchFamily="34" charset="0"/>
                <a:ea typeface="Courier New" pitchFamily="34" charset="-122"/>
                <a:cs typeface="Courier New" pitchFamily="34" charset="-120"/>
              </a:rPr>
              <a:t>uvicorn app.api:app
--port 8000
</a:t>
            </a:r>
            <a:endParaRPr lang="en-US" sz="1100" dirty="0"/>
          </a:p>
          <a:p>
            <a:pPr indent="0" marL="0">
              <a:lnSpc>
                <a:spcPct val="110000"/>
              </a:lnSpc>
              <a:spcAft>
                <a:spcPts val="200"/>
              </a:spcAft>
              <a:buNone/>
            </a:pPr>
            <a:r>
              <a:rPr lang="en-US" sz="1100" dirty="0">
                <a:solidFill>
                  <a:srgbClr val="B9A9B0"/>
                </a:solidFill>
              </a:rPr>
              <a:t>Terminal 2
</a:t>
            </a:r>
            <a:endParaRPr lang="en-US" sz="1100" dirty="0"/>
          </a:p>
          <a:p>
            <a:pPr indent="0" marL="0">
              <a:lnSpc>
                <a:spcPct val="110000"/>
              </a:lnSpc>
              <a:buNone/>
            </a:pPr>
            <a:r>
              <a:rPr lang="en-US" sz="1100" dirty="0">
                <a:solidFill>
                  <a:srgbClr val="F4EEF0"/>
                </a:solidFill>
                <a:latin typeface="Courier New" pitchFamily="34" charset="0"/>
                <a:ea typeface="Courier New" pitchFamily="34" charset="-122"/>
                <a:cs typeface="Courier New" pitchFamily="34" charset="-120"/>
              </a:rPr>
              <a:t>cd web
npm run dev
</a:t>
            </a:r>
            <a:endParaRPr lang="en-US" sz="1100" dirty="0"/>
          </a:p>
          <a:p>
            <a:pPr indent="0" marL="0">
              <a:lnSpc>
                <a:spcPct val="110000"/>
              </a:lnSpc>
              <a:spcAft>
                <a:spcPts val="200"/>
              </a:spcAft>
              <a:buNone/>
            </a:pPr>
            <a:r>
              <a:rPr lang="en-US" sz="1100" dirty="0">
                <a:solidFill>
                  <a:srgbClr val="B9A9B0"/>
                </a:solidFill>
              </a:rPr>
              <a:t>Open
</a:t>
            </a:r>
            <a:endParaRPr lang="en-US" sz="1100" dirty="0"/>
          </a:p>
          <a:p>
            <a:pPr indent="0" marL="0">
              <a:lnSpc>
                <a:spcPct val="110000"/>
              </a:lnSpc>
              <a:buNone/>
            </a:pPr>
            <a:r>
              <a:rPr lang="en-US" sz="1100" dirty="0">
                <a:solidFill>
                  <a:srgbClr val="F4EEF0"/>
                </a:solidFill>
                <a:latin typeface="Courier New" pitchFamily="34" charset="0"/>
                <a:ea typeface="Courier New" pitchFamily="34" charset="-122"/>
                <a:cs typeface="Courier New" pitchFamily="34" charset="-120"/>
              </a:rPr>
              <a:t>localhost:5173</a:t>
            </a:r>
            <a:endParaRPr lang="en-US" sz="1100" dirty="0"/>
          </a:p>
        </p:txBody>
      </p:sp>
      <p:sp>
        <p:nvSpPr>
          <p:cNvPr id="26" name="Text 19"/>
          <p:cNvSpPr/>
          <p:nvPr/>
        </p:nvSpPr>
        <p:spPr>
          <a:xfrm>
            <a:off x="822960" y="6172200"/>
            <a:ext cx="10515600" cy="365760"/>
          </a:xfrm>
          <a:prstGeom prst="rect">
            <a:avLst/>
          </a:prstGeom>
          <a:noFill/>
          <a:ln/>
        </p:spPr>
        <p:txBody>
          <a:bodyPr wrap="square" lIns="0" tIns="0" rIns="0" bIns="0" rtlCol="0" anchor="ctr"/>
          <a:lstStyle/>
          <a:p>
            <a:pPr indent="0" marL="0">
              <a:buNone/>
            </a:pPr>
            <a:r>
              <a:rPr lang="en-US" sz="1250" i="1" dirty="0">
                <a:solidFill>
                  <a:srgbClr val="E5B567"/>
                </a:solidFill>
                <a:latin typeface="Calibri" pitchFamily="34" charset="0"/>
                <a:ea typeface="Calibri" pitchFamily="34" charset="-122"/>
                <a:cs typeface="Calibri" pitchFamily="34" charset="-120"/>
              </a:rPr>
              <a:t>Backup recording ready in case the live demo breaks.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F5"/>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D11F3C"/>
                </a:solidFill>
                <a:latin typeface="Calibri" pitchFamily="34" charset="0"/>
                <a:ea typeface="Calibri" pitchFamily="34" charset="-122"/>
                <a:cs typeface="Calibri" pitchFamily="34" charset="-120"/>
              </a:rPr>
              <a:t>LIMITATIONS</a:t>
            </a:r>
            <a:endParaRPr lang="en-US" sz="1200" dirty="0"/>
          </a:p>
        </p:txBody>
      </p:sp>
      <p:sp>
        <p:nvSpPr>
          <p:cNvPr id="3" name="Text 1"/>
          <p:cNvSpPr/>
          <p:nvPr/>
        </p:nvSpPr>
        <p:spPr>
          <a:xfrm>
            <a:off x="640080" y="658368"/>
            <a:ext cx="10881360" cy="822960"/>
          </a:xfrm>
          <a:prstGeom prst="rect">
            <a:avLst/>
          </a:prstGeom>
          <a:noFill/>
          <a:ln/>
        </p:spPr>
        <p:txBody>
          <a:bodyPr wrap="square" lIns="0" tIns="0" rIns="0" bIns="0" rtlCol="0" anchor="ctr"/>
          <a:lstStyle/>
          <a:p>
            <a:pPr indent="0" marL="0">
              <a:buNone/>
            </a:pPr>
            <a:r>
              <a:rPr lang="en-US" sz="2900" b="1" dirty="0">
                <a:solidFill>
                  <a:srgbClr val="1A151D"/>
                </a:solidFill>
                <a:latin typeface="Cambria" pitchFamily="34" charset="0"/>
                <a:ea typeface="Cambria" pitchFamily="34" charset="-122"/>
                <a:cs typeface="Cambria" pitchFamily="34" charset="-120"/>
              </a:rPr>
              <a:t>Honest about the edges</a:t>
            </a:r>
            <a:endParaRPr lang="en-US" sz="2900" dirty="0"/>
          </a:p>
        </p:txBody>
      </p:sp>
      <p:sp>
        <p:nvSpPr>
          <p:cNvPr id="4" name="Text 2"/>
          <p:cNvSpPr/>
          <p:nvPr/>
        </p:nvSpPr>
        <p:spPr>
          <a:xfrm>
            <a:off x="11155680" y="384048"/>
            <a:ext cx="731520" cy="457200"/>
          </a:xfrm>
          <a:prstGeom prst="rect">
            <a:avLst/>
          </a:prstGeom>
          <a:noFill/>
          <a:ln/>
        </p:spPr>
        <p:txBody>
          <a:bodyPr wrap="square" lIns="0" tIns="0" rIns="0" bIns="0" rtlCol="0" anchor="ctr"/>
          <a:lstStyle/>
          <a:p>
            <a:pPr algn="r" indent="0" marL="0">
              <a:buNone/>
            </a:pPr>
            <a:r>
              <a:rPr lang="en-US" sz="1600" b="1" dirty="0">
                <a:solidFill>
                  <a:srgbClr val="E3DADE"/>
                </a:solidFill>
                <a:latin typeface="Cambria" pitchFamily="34" charset="0"/>
                <a:ea typeface="Cambria" pitchFamily="34" charset="-122"/>
                <a:cs typeface="Cambria" pitchFamily="34" charset="-120"/>
              </a:rPr>
              <a:t>10</a:t>
            </a:r>
            <a:endParaRPr lang="en-US" sz="1600" dirty="0"/>
          </a:p>
        </p:txBody>
      </p:sp>
      <p:sp>
        <p:nvSpPr>
          <p:cNvPr id="5" name="Shape 3"/>
          <p:cNvSpPr/>
          <p:nvPr/>
        </p:nvSpPr>
        <p:spPr>
          <a:xfrm>
            <a:off x="640080" y="1691640"/>
            <a:ext cx="10881360" cy="841248"/>
          </a:xfrm>
          <a:prstGeom prst="roundRect">
            <a:avLst>
              <a:gd name="adj" fmla="val 8696"/>
            </a:avLst>
          </a:prstGeom>
          <a:solidFill>
            <a:srgbClr val="FFFFFF"/>
          </a:solidFill>
          <a:ln w="12700">
            <a:solidFill>
              <a:srgbClr val="E3DADE"/>
            </a:solidFill>
            <a:prstDash val="solid"/>
          </a:ln>
          <a:effectLst>
            <a:outerShdw sx="100000" sy="100000" kx="0" ky="0" algn="bl" rotWithShape="0" blurRad="114300" dist="38100" dir="5400000">
              <a:srgbClr val="000000">
                <a:alpha val="7000"/>
              </a:srgbClr>
            </a:outerShdw>
          </a:effectLst>
        </p:spPr>
      </p:sp>
      <p:sp>
        <p:nvSpPr>
          <p:cNvPr id="6" name="Shape 4"/>
          <p:cNvSpPr/>
          <p:nvPr/>
        </p:nvSpPr>
        <p:spPr>
          <a:xfrm>
            <a:off x="896112" y="1874520"/>
            <a:ext cx="475488" cy="475488"/>
          </a:xfrm>
          <a:prstGeom prst="ellipse">
            <a:avLst/>
          </a:prstGeom>
          <a:solidFill>
            <a:srgbClr val="E5B567"/>
          </a:solidFill>
          <a:ln/>
        </p:spPr>
      </p:sp>
      <p:pic>
        <p:nvPicPr>
          <p:cNvPr id="7" name="Image 0" descr="preencoded.png">    </p:cNvPr>
          <p:cNvPicPr>
            <a:picLocks noChangeAspect="1"/>
          </p:cNvPicPr>
          <p:nvPr/>
        </p:nvPicPr>
        <p:blipFill>
          <a:blip r:embed="rId1"/>
          <a:stretch>
            <a:fillRect/>
          </a:stretch>
        </p:blipFill>
        <p:spPr>
          <a:xfrm>
            <a:off x="1019739" y="1998147"/>
            <a:ext cx="228234" cy="228234"/>
          </a:xfrm>
          <a:prstGeom prst="rect">
            <a:avLst/>
          </a:prstGeom>
        </p:spPr>
      </p:pic>
      <p:sp>
        <p:nvSpPr>
          <p:cNvPr id="8" name="Text 5"/>
          <p:cNvSpPr/>
          <p:nvPr/>
        </p:nvSpPr>
        <p:spPr>
          <a:xfrm>
            <a:off x="1691640" y="1691640"/>
            <a:ext cx="3931920" cy="841248"/>
          </a:xfrm>
          <a:prstGeom prst="rect">
            <a:avLst/>
          </a:prstGeom>
          <a:noFill/>
          <a:ln/>
        </p:spPr>
        <p:txBody>
          <a:bodyPr wrap="square" lIns="0" tIns="0" rIns="0" bIns="0" rtlCol="0" anchor="ctr"/>
          <a:lstStyle/>
          <a:p>
            <a:pPr indent="0" marL="0">
              <a:buNone/>
            </a:pPr>
            <a:r>
              <a:rPr lang="en-US" sz="1400" b="1" dirty="0">
                <a:solidFill>
                  <a:srgbClr val="1A151D"/>
                </a:solidFill>
                <a:latin typeface="Calibri" pitchFamily="34" charset="0"/>
                <a:ea typeface="Calibri" pitchFamily="34" charset="-122"/>
                <a:cs typeface="Calibri" pitchFamily="34" charset="-120"/>
              </a:rPr>
              <a:t>Movie-only training, TV via proxy</a:t>
            </a:r>
            <a:endParaRPr lang="en-US" sz="1400" dirty="0"/>
          </a:p>
        </p:txBody>
      </p:sp>
      <p:sp>
        <p:nvSpPr>
          <p:cNvPr id="9" name="Text 6"/>
          <p:cNvSpPr/>
          <p:nvPr/>
        </p:nvSpPr>
        <p:spPr>
          <a:xfrm>
            <a:off x="5760720" y="1691640"/>
            <a:ext cx="5577840" cy="841248"/>
          </a:xfrm>
          <a:prstGeom prst="rect">
            <a:avLst/>
          </a:prstGeom>
          <a:noFill/>
          <a:ln/>
        </p:spPr>
        <p:txBody>
          <a:bodyPr wrap="square" lIns="0" tIns="0" rIns="0" bIns="0" rtlCol="0" anchor="ctr"/>
          <a:lstStyle/>
          <a:p>
            <a:pPr indent="0" marL="0">
              <a:lnSpc>
                <a:spcPct val="108000"/>
              </a:lnSpc>
              <a:buNone/>
            </a:pPr>
            <a:r>
              <a:rPr lang="en-US" sz="1200" dirty="0">
                <a:solidFill>
                  <a:srgbClr val="6E6168"/>
                </a:solidFill>
                <a:latin typeface="Calibri" pitchFamily="34" charset="0"/>
                <a:ea typeface="Calibri" pitchFamily="34" charset="-122"/>
                <a:cs typeface="Calibri" pitchFamily="34" charset="-120"/>
              </a:rPr>
              <a:t>TV recs use a genre-similarity bridge — not a trained signal. An approximation.</a:t>
            </a:r>
            <a:endParaRPr lang="en-US" sz="1200" dirty="0"/>
          </a:p>
        </p:txBody>
      </p:sp>
      <p:sp>
        <p:nvSpPr>
          <p:cNvPr id="10" name="Shape 7"/>
          <p:cNvSpPr/>
          <p:nvPr/>
        </p:nvSpPr>
        <p:spPr>
          <a:xfrm>
            <a:off x="640080" y="2642616"/>
            <a:ext cx="10881360" cy="841248"/>
          </a:xfrm>
          <a:prstGeom prst="roundRect">
            <a:avLst>
              <a:gd name="adj" fmla="val 8696"/>
            </a:avLst>
          </a:prstGeom>
          <a:solidFill>
            <a:srgbClr val="FFFFFF"/>
          </a:solidFill>
          <a:ln w="12700">
            <a:solidFill>
              <a:srgbClr val="E3DADE"/>
            </a:solidFill>
            <a:prstDash val="solid"/>
          </a:ln>
          <a:effectLst>
            <a:outerShdw sx="100000" sy="100000" kx="0" ky="0" algn="bl" rotWithShape="0" blurRad="114300" dist="38100" dir="5400000">
              <a:srgbClr val="000000">
                <a:alpha val="7000"/>
              </a:srgbClr>
            </a:outerShdw>
          </a:effectLst>
        </p:spPr>
      </p:sp>
      <p:sp>
        <p:nvSpPr>
          <p:cNvPr id="11" name="Shape 8"/>
          <p:cNvSpPr/>
          <p:nvPr/>
        </p:nvSpPr>
        <p:spPr>
          <a:xfrm>
            <a:off x="896112" y="2825496"/>
            <a:ext cx="475488" cy="475488"/>
          </a:xfrm>
          <a:prstGeom prst="ellipse">
            <a:avLst/>
          </a:prstGeom>
          <a:solidFill>
            <a:srgbClr val="E5B567"/>
          </a:solidFill>
          <a:ln/>
        </p:spPr>
      </p:sp>
      <p:pic>
        <p:nvPicPr>
          <p:cNvPr id="12" name="Image 1" descr="preencoded.png">    </p:cNvPr>
          <p:cNvPicPr>
            <a:picLocks noChangeAspect="1"/>
          </p:cNvPicPr>
          <p:nvPr/>
        </p:nvPicPr>
        <p:blipFill>
          <a:blip r:embed="rId2"/>
          <a:stretch>
            <a:fillRect/>
          </a:stretch>
        </p:blipFill>
        <p:spPr>
          <a:xfrm>
            <a:off x="1019739" y="2949123"/>
            <a:ext cx="228234" cy="228234"/>
          </a:xfrm>
          <a:prstGeom prst="rect">
            <a:avLst/>
          </a:prstGeom>
        </p:spPr>
      </p:pic>
      <p:sp>
        <p:nvSpPr>
          <p:cNvPr id="13" name="Text 9"/>
          <p:cNvSpPr/>
          <p:nvPr/>
        </p:nvSpPr>
        <p:spPr>
          <a:xfrm>
            <a:off x="1691640" y="2642616"/>
            <a:ext cx="3931920" cy="841248"/>
          </a:xfrm>
          <a:prstGeom prst="rect">
            <a:avLst/>
          </a:prstGeom>
          <a:noFill/>
          <a:ln/>
        </p:spPr>
        <p:txBody>
          <a:bodyPr wrap="square" lIns="0" tIns="0" rIns="0" bIns="0" rtlCol="0" anchor="ctr"/>
          <a:lstStyle/>
          <a:p>
            <a:pPr indent="0" marL="0">
              <a:buNone/>
            </a:pPr>
            <a:r>
              <a:rPr lang="en-US" sz="1400" b="1" dirty="0">
                <a:solidFill>
                  <a:srgbClr val="1A151D"/>
                </a:solidFill>
                <a:latin typeface="Calibri" pitchFamily="34" charset="0"/>
                <a:ea typeface="Calibri" pitchFamily="34" charset="-122"/>
                <a:cs typeface="Calibri" pitchFamily="34" charset="-120"/>
              </a:rPr>
              <a:t>Cold start</a:t>
            </a:r>
            <a:endParaRPr lang="en-US" sz="1400" dirty="0"/>
          </a:p>
        </p:txBody>
      </p:sp>
      <p:sp>
        <p:nvSpPr>
          <p:cNvPr id="14" name="Text 10"/>
          <p:cNvSpPr/>
          <p:nvPr/>
        </p:nvSpPr>
        <p:spPr>
          <a:xfrm>
            <a:off x="5760720" y="2642616"/>
            <a:ext cx="5577840" cy="841248"/>
          </a:xfrm>
          <a:prstGeom prst="rect">
            <a:avLst/>
          </a:prstGeom>
          <a:noFill/>
          <a:ln/>
        </p:spPr>
        <p:txBody>
          <a:bodyPr wrap="square" lIns="0" tIns="0" rIns="0" bIns="0" rtlCol="0" anchor="ctr"/>
          <a:lstStyle/>
          <a:p>
            <a:pPr indent="0" marL="0">
              <a:lnSpc>
                <a:spcPct val="108000"/>
              </a:lnSpc>
              <a:buNone/>
            </a:pPr>
            <a:r>
              <a:rPr lang="en-US" sz="1200" dirty="0">
                <a:solidFill>
                  <a:srgbClr val="6E6168"/>
                </a:solidFill>
                <a:latin typeface="Calibri" pitchFamily="34" charset="0"/>
                <a:ea typeface="Calibri" pitchFamily="34" charset="-122"/>
                <a:cs typeface="Calibri" pitchFamily="34" charset="-120"/>
              </a:rPr>
              <a:t>A new user with no history gets generic picks; needs 3–4 ratings to personalize.</a:t>
            </a:r>
            <a:endParaRPr lang="en-US" sz="1200" dirty="0"/>
          </a:p>
        </p:txBody>
      </p:sp>
      <p:sp>
        <p:nvSpPr>
          <p:cNvPr id="15" name="Shape 11"/>
          <p:cNvSpPr/>
          <p:nvPr/>
        </p:nvSpPr>
        <p:spPr>
          <a:xfrm>
            <a:off x="640080" y="3593592"/>
            <a:ext cx="10881360" cy="841248"/>
          </a:xfrm>
          <a:prstGeom prst="roundRect">
            <a:avLst>
              <a:gd name="adj" fmla="val 8696"/>
            </a:avLst>
          </a:prstGeom>
          <a:solidFill>
            <a:srgbClr val="FFFFFF"/>
          </a:solidFill>
          <a:ln w="12700">
            <a:solidFill>
              <a:srgbClr val="E3DADE"/>
            </a:solidFill>
            <a:prstDash val="solid"/>
          </a:ln>
          <a:effectLst>
            <a:outerShdw sx="100000" sy="100000" kx="0" ky="0" algn="bl" rotWithShape="0" blurRad="114300" dist="38100" dir="5400000">
              <a:srgbClr val="000000">
                <a:alpha val="7000"/>
              </a:srgbClr>
            </a:outerShdw>
          </a:effectLst>
        </p:spPr>
      </p:sp>
      <p:sp>
        <p:nvSpPr>
          <p:cNvPr id="16" name="Shape 12"/>
          <p:cNvSpPr/>
          <p:nvPr/>
        </p:nvSpPr>
        <p:spPr>
          <a:xfrm>
            <a:off x="896112" y="3776472"/>
            <a:ext cx="475488" cy="475488"/>
          </a:xfrm>
          <a:prstGeom prst="ellipse">
            <a:avLst/>
          </a:prstGeom>
          <a:solidFill>
            <a:srgbClr val="E5B567"/>
          </a:solidFill>
          <a:ln/>
        </p:spPr>
      </p:sp>
      <p:pic>
        <p:nvPicPr>
          <p:cNvPr id="17" name="Image 2" descr="preencoded.png">    </p:cNvPr>
          <p:cNvPicPr>
            <a:picLocks noChangeAspect="1"/>
          </p:cNvPicPr>
          <p:nvPr/>
        </p:nvPicPr>
        <p:blipFill>
          <a:blip r:embed="rId3"/>
          <a:stretch>
            <a:fillRect/>
          </a:stretch>
        </p:blipFill>
        <p:spPr>
          <a:xfrm>
            <a:off x="1019739" y="3900099"/>
            <a:ext cx="228234" cy="228234"/>
          </a:xfrm>
          <a:prstGeom prst="rect">
            <a:avLst/>
          </a:prstGeom>
        </p:spPr>
      </p:pic>
      <p:sp>
        <p:nvSpPr>
          <p:cNvPr id="18" name="Text 13"/>
          <p:cNvSpPr/>
          <p:nvPr/>
        </p:nvSpPr>
        <p:spPr>
          <a:xfrm>
            <a:off x="1691640" y="3593592"/>
            <a:ext cx="3931920" cy="841248"/>
          </a:xfrm>
          <a:prstGeom prst="rect">
            <a:avLst/>
          </a:prstGeom>
          <a:noFill/>
          <a:ln/>
        </p:spPr>
        <p:txBody>
          <a:bodyPr wrap="square" lIns="0" tIns="0" rIns="0" bIns="0" rtlCol="0" anchor="ctr"/>
          <a:lstStyle/>
          <a:p>
            <a:pPr indent="0" marL="0">
              <a:buNone/>
            </a:pPr>
            <a:r>
              <a:rPr lang="en-US" sz="1400" b="1" dirty="0">
                <a:solidFill>
                  <a:srgbClr val="1A151D"/>
                </a:solidFill>
                <a:latin typeface="Calibri" pitchFamily="34" charset="0"/>
                <a:ea typeface="Calibri" pitchFamily="34" charset="-122"/>
                <a:cs typeface="Calibri" pitchFamily="34" charset="-120"/>
              </a:rPr>
              <a:t>CPU training only (Windows)</a:t>
            </a:r>
            <a:endParaRPr lang="en-US" sz="1400" dirty="0"/>
          </a:p>
        </p:txBody>
      </p:sp>
      <p:sp>
        <p:nvSpPr>
          <p:cNvPr id="19" name="Text 14"/>
          <p:cNvSpPr/>
          <p:nvPr/>
        </p:nvSpPr>
        <p:spPr>
          <a:xfrm>
            <a:off x="5760720" y="3593592"/>
            <a:ext cx="5577840" cy="841248"/>
          </a:xfrm>
          <a:prstGeom prst="rect">
            <a:avLst/>
          </a:prstGeom>
          <a:noFill/>
          <a:ln/>
        </p:spPr>
        <p:txBody>
          <a:bodyPr wrap="square" lIns="0" tIns="0" rIns="0" bIns="0" rtlCol="0" anchor="ctr"/>
          <a:lstStyle/>
          <a:p>
            <a:pPr indent="0" marL="0">
              <a:lnSpc>
                <a:spcPct val="108000"/>
              </a:lnSpc>
              <a:buNone/>
            </a:pPr>
            <a:r>
              <a:rPr lang="en-US" sz="1200" dirty="0">
                <a:solidFill>
                  <a:srgbClr val="6E6168"/>
                </a:solidFill>
                <a:latin typeface="Calibri" pitchFamily="34" charset="0"/>
                <a:ea typeface="Calibri" pitchFamily="34" charset="-122"/>
                <a:cs typeface="Calibri" pitchFamily="34" charset="-120"/>
              </a:rPr>
              <a:t>TF dropped Windows GPU after 2.10; ~13s/epoch on CPU limited how many runs we could do.</a:t>
            </a:r>
            <a:endParaRPr lang="en-US" sz="1200" dirty="0"/>
          </a:p>
        </p:txBody>
      </p:sp>
      <p:sp>
        <p:nvSpPr>
          <p:cNvPr id="20" name="Shape 15"/>
          <p:cNvSpPr/>
          <p:nvPr/>
        </p:nvSpPr>
        <p:spPr>
          <a:xfrm>
            <a:off x="640080" y="4544568"/>
            <a:ext cx="10881360" cy="841248"/>
          </a:xfrm>
          <a:prstGeom prst="roundRect">
            <a:avLst>
              <a:gd name="adj" fmla="val 8696"/>
            </a:avLst>
          </a:prstGeom>
          <a:solidFill>
            <a:srgbClr val="FFFFFF"/>
          </a:solidFill>
          <a:ln w="12700">
            <a:solidFill>
              <a:srgbClr val="E3DADE"/>
            </a:solidFill>
            <a:prstDash val="solid"/>
          </a:ln>
          <a:effectLst>
            <a:outerShdw sx="100000" sy="100000" kx="0" ky="0" algn="bl" rotWithShape="0" blurRad="114300" dist="38100" dir="5400000">
              <a:srgbClr val="000000">
                <a:alpha val="7000"/>
              </a:srgbClr>
            </a:outerShdw>
          </a:effectLst>
        </p:spPr>
      </p:sp>
      <p:sp>
        <p:nvSpPr>
          <p:cNvPr id="21" name="Shape 16"/>
          <p:cNvSpPr/>
          <p:nvPr/>
        </p:nvSpPr>
        <p:spPr>
          <a:xfrm>
            <a:off x="896112" y="4727448"/>
            <a:ext cx="475488" cy="475488"/>
          </a:xfrm>
          <a:prstGeom prst="ellipse">
            <a:avLst/>
          </a:prstGeom>
          <a:solidFill>
            <a:srgbClr val="E5B567"/>
          </a:solidFill>
          <a:ln/>
        </p:spPr>
      </p:sp>
      <p:pic>
        <p:nvPicPr>
          <p:cNvPr id="22" name="Image 3" descr="preencoded.png">    </p:cNvPr>
          <p:cNvPicPr>
            <a:picLocks noChangeAspect="1"/>
          </p:cNvPicPr>
          <p:nvPr/>
        </p:nvPicPr>
        <p:blipFill>
          <a:blip r:embed="rId4"/>
          <a:stretch>
            <a:fillRect/>
          </a:stretch>
        </p:blipFill>
        <p:spPr>
          <a:xfrm>
            <a:off x="1019739" y="4851075"/>
            <a:ext cx="228234" cy="228234"/>
          </a:xfrm>
          <a:prstGeom prst="rect">
            <a:avLst/>
          </a:prstGeom>
        </p:spPr>
      </p:pic>
      <p:sp>
        <p:nvSpPr>
          <p:cNvPr id="23" name="Text 17"/>
          <p:cNvSpPr/>
          <p:nvPr/>
        </p:nvSpPr>
        <p:spPr>
          <a:xfrm>
            <a:off x="1691640" y="4544568"/>
            <a:ext cx="3931920" cy="841248"/>
          </a:xfrm>
          <a:prstGeom prst="rect">
            <a:avLst/>
          </a:prstGeom>
          <a:noFill/>
          <a:ln/>
        </p:spPr>
        <p:txBody>
          <a:bodyPr wrap="square" lIns="0" tIns="0" rIns="0" bIns="0" rtlCol="0" anchor="ctr"/>
          <a:lstStyle/>
          <a:p>
            <a:pPr indent="0" marL="0">
              <a:buNone/>
            </a:pPr>
            <a:r>
              <a:rPr lang="en-US" sz="1400" b="1" dirty="0">
                <a:solidFill>
                  <a:srgbClr val="1A151D"/>
                </a:solidFill>
                <a:latin typeface="Calibri" pitchFamily="34" charset="0"/>
                <a:ea typeface="Calibri" pitchFamily="34" charset="-122"/>
                <a:cs typeface="Calibri" pitchFamily="34" charset="-120"/>
              </a:rPr>
              <a:t>Single softmax over 3,413 movies</a:t>
            </a:r>
            <a:endParaRPr lang="en-US" sz="1400" dirty="0"/>
          </a:p>
        </p:txBody>
      </p:sp>
      <p:sp>
        <p:nvSpPr>
          <p:cNvPr id="24" name="Text 18"/>
          <p:cNvSpPr/>
          <p:nvPr/>
        </p:nvSpPr>
        <p:spPr>
          <a:xfrm>
            <a:off x="5760720" y="4544568"/>
            <a:ext cx="5577840" cy="841248"/>
          </a:xfrm>
          <a:prstGeom prst="rect">
            <a:avLst/>
          </a:prstGeom>
          <a:noFill/>
          <a:ln/>
        </p:spPr>
        <p:txBody>
          <a:bodyPr wrap="square" lIns="0" tIns="0" rIns="0" bIns="0" rtlCol="0" anchor="ctr"/>
          <a:lstStyle/>
          <a:p>
            <a:pPr indent="0" marL="0">
              <a:lnSpc>
                <a:spcPct val="108000"/>
              </a:lnSpc>
              <a:buNone/>
            </a:pPr>
            <a:r>
              <a:rPr lang="en-US" sz="1200" dirty="0">
                <a:solidFill>
                  <a:srgbClr val="6E6168"/>
                </a:solidFill>
                <a:latin typeface="Calibri" pitchFamily="34" charset="0"/>
                <a:ea typeface="Calibri" pitchFamily="34" charset="-122"/>
                <a:cs typeface="Calibri" pitchFamily="34" charset="-120"/>
              </a:rPr>
              <a:t>Correct and rigorous, but doesn't scale to 100M-item catalogs without retrieve-then-rank.</a:t>
            </a:r>
            <a:endParaRPr lang="en-US" sz="1200" dirty="0"/>
          </a:p>
        </p:txBody>
      </p:sp>
      <p:sp>
        <p:nvSpPr>
          <p:cNvPr id="25" name="Shape 19"/>
          <p:cNvSpPr/>
          <p:nvPr/>
        </p:nvSpPr>
        <p:spPr>
          <a:xfrm>
            <a:off x="640080" y="5495544"/>
            <a:ext cx="10881360" cy="841248"/>
          </a:xfrm>
          <a:prstGeom prst="roundRect">
            <a:avLst>
              <a:gd name="adj" fmla="val 8696"/>
            </a:avLst>
          </a:prstGeom>
          <a:solidFill>
            <a:srgbClr val="FFFFFF"/>
          </a:solidFill>
          <a:ln w="12700">
            <a:solidFill>
              <a:srgbClr val="E3DADE"/>
            </a:solidFill>
            <a:prstDash val="solid"/>
          </a:ln>
          <a:effectLst>
            <a:outerShdw sx="100000" sy="100000" kx="0" ky="0" algn="bl" rotWithShape="0" blurRad="114300" dist="38100" dir="5400000">
              <a:srgbClr val="000000">
                <a:alpha val="7000"/>
              </a:srgbClr>
            </a:outerShdw>
          </a:effectLst>
        </p:spPr>
      </p:sp>
      <p:sp>
        <p:nvSpPr>
          <p:cNvPr id="26" name="Shape 20"/>
          <p:cNvSpPr/>
          <p:nvPr/>
        </p:nvSpPr>
        <p:spPr>
          <a:xfrm>
            <a:off x="896112" y="5678424"/>
            <a:ext cx="475488" cy="475488"/>
          </a:xfrm>
          <a:prstGeom prst="ellipse">
            <a:avLst/>
          </a:prstGeom>
          <a:solidFill>
            <a:srgbClr val="E5B567"/>
          </a:solidFill>
          <a:ln/>
        </p:spPr>
      </p:sp>
      <p:pic>
        <p:nvPicPr>
          <p:cNvPr id="27" name="Image 4" descr="preencoded.png">    </p:cNvPr>
          <p:cNvPicPr>
            <a:picLocks noChangeAspect="1"/>
          </p:cNvPicPr>
          <p:nvPr/>
        </p:nvPicPr>
        <p:blipFill>
          <a:blip r:embed="rId5"/>
          <a:stretch>
            <a:fillRect/>
          </a:stretch>
        </p:blipFill>
        <p:spPr>
          <a:xfrm>
            <a:off x="1019739" y="5802051"/>
            <a:ext cx="228234" cy="228234"/>
          </a:xfrm>
          <a:prstGeom prst="rect">
            <a:avLst/>
          </a:prstGeom>
        </p:spPr>
      </p:pic>
      <p:sp>
        <p:nvSpPr>
          <p:cNvPr id="28" name="Text 21"/>
          <p:cNvSpPr/>
          <p:nvPr/>
        </p:nvSpPr>
        <p:spPr>
          <a:xfrm>
            <a:off x="1691640" y="5495544"/>
            <a:ext cx="3931920" cy="841248"/>
          </a:xfrm>
          <a:prstGeom prst="rect">
            <a:avLst/>
          </a:prstGeom>
          <a:noFill/>
          <a:ln/>
        </p:spPr>
        <p:txBody>
          <a:bodyPr wrap="square" lIns="0" tIns="0" rIns="0" bIns="0" rtlCol="0" anchor="ctr"/>
          <a:lstStyle/>
          <a:p>
            <a:pPr indent="0" marL="0">
              <a:buNone/>
            </a:pPr>
            <a:r>
              <a:rPr lang="en-US" sz="1400" b="1" dirty="0">
                <a:solidFill>
                  <a:srgbClr val="1A151D"/>
                </a:solidFill>
                <a:latin typeface="Calibri" pitchFamily="34" charset="0"/>
                <a:ea typeface="Calibri" pitchFamily="34" charset="-122"/>
                <a:cs typeface="Calibri" pitchFamily="34" charset="-120"/>
              </a:rPr>
              <a:t>No explicit cross-user signal</a:t>
            </a:r>
            <a:endParaRPr lang="en-US" sz="1400" dirty="0"/>
          </a:p>
        </p:txBody>
      </p:sp>
      <p:sp>
        <p:nvSpPr>
          <p:cNvPr id="29" name="Text 22"/>
          <p:cNvSpPr/>
          <p:nvPr/>
        </p:nvSpPr>
        <p:spPr>
          <a:xfrm>
            <a:off x="5760720" y="5495544"/>
            <a:ext cx="5577840" cy="841248"/>
          </a:xfrm>
          <a:prstGeom prst="rect">
            <a:avLst/>
          </a:prstGeom>
          <a:noFill/>
          <a:ln/>
        </p:spPr>
        <p:txBody>
          <a:bodyPr wrap="square" lIns="0" tIns="0" rIns="0" bIns="0" rtlCol="0" anchor="ctr"/>
          <a:lstStyle/>
          <a:p>
            <a:pPr indent="0" marL="0">
              <a:lnSpc>
                <a:spcPct val="108000"/>
              </a:lnSpc>
              <a:buNone/>
            </a:pPr>
            <a:r>
              <a:rPr lang="en-US" sz="1200" dirty="0">
                <a:solidFill>
                  <a:srgbClr val="6E6168"/>
                </a:solidFill>
                <a:latin typeface="Calibri" pitchFamily="34" charset="0"/>
                <a:ea typeface="Calibri" pitchFamily="34" charset="-122"/>
                <a:cs typeface="Calibri" pitchFamily="34" charset="-120"/>
              </a:rPr>
              <a:t>Collaborative signals are implicit via shared embeddings, never stated outright.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F5"/>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D11F3C"/>
                </a:solidFill>
                <a:latin typeface="Calibri" pitchFamily="34" charset="0"/>
                <a:ea typeface="Calibri" pitchFamily="34" charset="-122"/>
                <a:cs typeface="Calibri" pitchFamily="34" charset="-120"/>
              </a:rPr>
              <a:t>FUTURE WORK</a:t>
            </a:r>
            <a:endParaRPr lang="en-US" sz="1200" dirty="0"/>
          </a:p>
        </p:txBody>
      </p:sp>
      <p:sp>
        <p:nvSpPr>
          <p:cNvPr id="3" name="Text 1"/>
          <p:cNvSpPr/>
          <p:nvPr/>
        </p:nvSpPr>
        <p:spPr>
          <a:xfrm>
            <a:off x="640080" y="658368"/>
            <a:ext cx="10881360" cy="822960"/>
          </a:xfrm>
          <a:prstGeom prst="rect">
            <a:avLst/>
          </a:prstGeom>
          <a:noFill/>
          <a:ln/>
        </p:spPr>
        <p:txBody>
          <a:bodyPr wrap="square" lIns="0" tIns="0" rIns="0" bIns="0" rtlCol="0" anchor="ctr"/>
          <a:lstStyle/>
          <a:p>
            <a:pPr indent="0" marL="0">
              <a:buNone/>
            </a:pPr>
            <a:r>
              <a:rPr lang="en-US" sz="2900" b="1" dirty="0">
                <a:solidFill>
                  <a:srgbClr val="1A151D"/>
                </a:solidFill>
                <a:latin typeface="Cambria" pitchFamily="34" charset="0"/>
                <a:ea typeface="Cambria" pitchFamily="34" charset="-122"/>
                <a:cs typeface="Cambria" pitchFamily="34" charset="-120"/>
              </a:rPr>
              <a:t>What we'd do next — not failures</a:t>
            </a:r>
            <a:endParaRPr lang="en-US" sz="2900" dirty="0"/>
          </a:p>
        </p:txBody>
      </p:sp>
      <p:sp>
        <p:nvSpPr>
          <p:cNvPr id="4" name="Text 2"/>
          <p:cNvSpPr/>
          <p:nvPr/>
        </p:nvSpPr>
        <p:spPr>
          <a:xfrm>
            <a:off x="11155680" y="384048"/>
            <a:ext cx="731520" cy="457200"/>
          </a:xfrm>
          <a:prstGeom prst="rect">
            <a:avLst/>
          </a:prstGeom>
          <a:noFill/>
          <a:ln/>
        </p:spPr>
        <p:txBody>
          <a:bodyPr wrap="square" lIns="0" tIns="0" rIns="0" bIns="0" rtlCol="0" anchor="ctr"/>
          <a:lstStyle/>
          <a:p>
            <a:pPr algn="r" indent="0" marL="0">
              <a:buNone/>
            </a:pPr>
            <a:r>
              <a:rPr lang="en-US" sz="1600" b="1" dirty="0">
                <a:solidFill>
                  <a:srgbClr val="E3DADE"/>
                </a:solidFill>
                <a:latin typeface="Cambria" pitchFamily="34" charset="0"/>
                <a:ea typeface="Cambria" pitchFamily="34" charset="-122"/>
                <a:cs typeface="Cambria" pitchFamily="34" charset="-120"/>
              </a:rPr>
              <a:t>11</a:t>
            </a:r>
            <a:endParaRPr lang="en-US" sz="1600" dirty="0"/>
          </a:p>
        </p:txBody>
      </p:sp>
      <p:sp>
        <p:nvSpPr>
          <p:cNvPr id="5" name="Shape 3"/>
          <p:cNvSpPr/>
          <p:nvPr/>
        </p:nvSpPr>
        <p:spPr>
          <a:xfrm>
            <a:off x="640080" y="1691640"/>
            <a:ext cx="10881360" cy="1600200"/>
          </a:xfrm>
          <a:prstGeom prst="roundRect">
            <a:avLst>
              <a:gd name="adj" fmla="val 5714"/>
            </a:avLst>
          </a:prstGeom>
          <a:solidFill>
            <a:srgbClr val="0E0B10"/>
          </a:solidFill>
          <a:ln/>
          <a:effectLst>
            <a:outerShdw sx="100000" sy="100000" kx="0" ky="0" algn="bl" rotWithShape="0" blurRad="114300" dist="38100" dir="5400000">
              <a:srgbClr val="000000">
                <a:alpha val="18000"/>
              </a:srgbClr>
            </a:outerShdw>
          </a:effectLst>
        </p:spPr>
      </p:sp>
      <p:sp>
        <p:nvSpPr>
          <p:cNvPr id="6" name="Shape 4"/>
          <p:cNvSpPr/>
          <p:nvPr/>
        </p:nvSpPr>
        <p:spPr>
          <a:xfrm>
            <a:off x="960120" y="2011680"/>
            <a:ext cx="566928" cy="566928"/>
          </a:xfrm>
          <a:prstGeom prst="ellipse">
            <a:avLst/>
          </a:prstGeom>
          <a:solidFill>
            <a:srgbClr val="D11F3C"/>
          </a:solidFill>
          <a:ln/>
        </p:spPr>
      </p:sp>
      <p:pic>
        <p:nvPicPr>
          <p:cNvPr id="7" name="Image 0" descr="preencoded.png">    </p:cNvPr>
          <p:cNvPicPr>
            <a:picLocks noChangeAspect="1"/>
          </p:cNvPicPr>
          <p:nvPr/>
        </p:nvPicPr>
        <p:blipFill>
          <a:blip r:embed="rId1"/>
          <a:stretch>
            <a:fillRect/>
          </a:stretch>
        </p:blipFill>
        <p:spPr>
          <a:xfrm>
            <a:off x="1107521" y="2159081"/>
            <a:ext cx="272125" cy="272125"/>
          </a:xfrm>
          <a:prstGeom prst="rect">
            <a:avLst/>
          </a:prstGeom>
        </p:spPr>
      </p:pic>
      <p:sp>
        <p:nvSpPr>
          <p:cNvPr id="8" name="Text 5"/>
          <p:cNvSpPr/>
          <p:nvPr/>
        </p:nvSpPr>
        <p:spPr>
          <a:xfrm>
            <a:off x="1783080" y="1874520"/>
            <a:ext cx="9509760" cy="411480"/>
          </a:xfrm>
          <a:prstGeom prst="rect">
            <a:avLst/>
          </a:prstGeom>
          <a:noFill/>
          <a:ln/>
        </p:spPr>
        <p:txBody>
          <a:bodyPr wrap="square" lIns="0" tIns="0" rIns="0" bIns="0" rtlCol="0" anchor="ctr"/>
          <a:lstStyle/>
          <a:p>
            <a:pPr indent="0" marL="0">
              <a:buNone/>
            </a:pPr>
            <a:r>
              <a:rPr lang="en-US" sz="1500" b="1" dirty="0">
                <a:solidFill>
                  <a:srgbClr val="F4EEF0"/>
                </a:solidFill>
              </a:rPr>
              <a:t>E2 — Logit adjustment (popularity-bias correction)   </a:t>
            </a:r>
            <a:pPr indent="0" marL="0">
              <a:buNone/>
            </a:pPr>
            <a:r>
              <a:rPr lang="en-US" sz="1300" i="1" dirty="0">
                <a:solidFill>
                  <a:srgbClr val="E5B567"/>
                </a:solidFill>
              </a:rPr>
              <a:t>one line of code</a:t>
            </a:r>
            <a:endParaRPr lang="en-US" sz="1500" dirty="0"/>
          </a:p>
        </p:txBody>
      </p:sp>
      <p:sp>
        <p:nvSpPr>
          <p:cNvPr id="9" name="Text 6"/>
          <p:cNvSpPr/>
          <p:nvPr/>
        </p:nvSpPr>
        <p:spPr>
          <a:xfrm>
            <a:off x="1783080" y="2286000"/>
            <a:ext cx="9509760" cy="914400"/>
          </a:xfrm>
          <a:prstGeom prst="rect">
            <a:avLst/>
          </a:prstGeom>
          <a:noFill/>
          <a:ln/>
        </p:spPr>
        <p:txBody>
          <a:bodyPr wrap="square" lIns="0" tIns="0" rIns="0" bIns="0" rtlCol="0" anchor="ctr"/>
          <a:lstStyle/>
          <a:p>
            <a:pPr indent="0" marL="0">
              <a:lnSpc>
                <a:spcPct val="110000"/>
              </a:lnSpc>
              <a:buNone/>
            </a:pPr>
            <a:r>
              <a:rPr lang="en-US" sz="1200" dirty="0">
                <a:solidFill>
                  <a:srgbClr val="B9A9B0"/>
                </a:solidFill>
                <a:latin typeface="Calibri" pitchFamily="34" charset="0"/>
                <a:ea typeface="Calibri" pitchFamily="34" charset="-122"/>
                <a:cs typeface="Calibri" pitchFamily="34" charset="-120"/>
              </a:rPr>
              <a:t>The softmax over-recommends blockbusters that appear disproportionately in training. Subtracting the log of each movie's frequency surfaces niche picks. We held off because the model already beats every baseline and we didn't want to change output right before the test run — but it's the most impactful next improvement.</a:t>
            </a:r>
            <a:endParaRPr lang="en-US" sz="1200" dirty="0"/>
          </a:p>
        </p:txBody>
      </p:sp>
      <p:sp>
        <p:nvSpPr>
          <p:cNvPr id="10" name="Shape 7"/>
          <p:cNvSpPr/>
          <p:nvPr/>
        </p:nvSpPr>
        <p:spPr>
          <a:xfrm>
            <a:off x="640080" y="3520440"/>
            <a:ext cx="5330952" cy="1170432"/>
          </a:xfrm>
          <a:prstGeom prst="roundRect">
            <a:avLst>
              <a:gd name="adj" fmla="val 6250"/>
            </a:avLst>
          </a:prstGeom>
          <a:solidFill>
            <a:srgbClr val="FFFFFF"/>
          </a:solidFill>
          <a:ln w="12700">
            <a:solidFill>
              <a:srgbClr val="E3DADE"/>
            </a:solidFill>
            <a:prstDash val="solid"/>
          </a:ln>
          <a:effectLst>
            <a:outerShdw sx="100000" sy="100000" kx="0" ky="0" algn="bl" rotWithShape="0" blurRad="114300" dist="38100" dir="5400000">
              <a:srgbClr val="000000">
                <a:alpha val="7000"/>
              </a:srgbClr>
            </a:outerShdw>
          </a:effectLst>
        </p:spPr>
      </p:sp>
      <p:sp>
        <p:nvSpPr>
          <p:cNvPr id="11" name="Shape 8"/>
          <p:cNvSpPr/>
          <p:nvPr/>
        </p:nvSpPr>
        <p:spPr>
          <a:xfrm>
            <a:off x="868680" y="3849624"/>
            <a:ext cx="475488" cy="475488"/>
          </a:xfrm>
          <a:prstGeom prst="ellipse">
            <a:avLst/>
          </a:prstGeom>
          <a:solidFill>
            <a:srgbClr val="D11F3C"/>
          </a:solidFill>
          <a:ln/>
        </p:spPr>
      </p:sp>
      <p:pic>
        <p:nvPicPr>
          <p:cNvPr id="12" name="Image 1" descr="preencoded.png">    </p:cNvPr>
          <p:cNvPicPr>
            <a:picLocks noChangeAspect="1"/>
          </p:cNvPicPr>
          <p:nvPr/>
        </p:nvPicPr>
        <p:blipFill>
          <a:blip r:embed="rId2"/>
          <a:stretch>
            <a:fillRect/>
          </a:stretch>
        </p:blipFill>
        <p:spPr>
          <a:xfrm>
            <a:off x="992307" y="3973251"/>
            <a:ext cx="228234" cy="228234"/>
          </a:xfrm>
          <a:prstGeom prst="rect">
            <a:avLst/>
          </a:prstGeom>
        </p:spPr>
      </p:pic>
      <p:sp>
        <p:nvSpPr>
          <p:cNvPr id="13" name="Text 9"/>
          <p:cNvSpPr/>
          <p:nvPr/>
        </p:nvSpPr>
        <p:spPr>
          <a:xfrm>
            <a:off x="1554480" y="3685032"/>
            <a:ext cx="4206240" cy="365760"/>
          </a:xfrm>
          <a:prstGeom prst="rect">
            <a:avLst/>
          </a:prstGeom>
          <a:noFill/>
          <a:ln/>
        </p:spPr>
        <p:txBody>
          <a:bodyPr wrap="square" lIns="0" tIns="0" rIns="0" bIns="0" rtlCol="0" anchor="ctr"/>
          <a:lstStyle/>
          <a:p>
            <a:pPr indent="0" marL="0">
              <a:buNone/>
            </a:pPr>
            <a:r>
              <a:rPr lang="en-US" sz="1350" b="1" dirty="0">
                <a:solidFill>
                  <a:srgbClr val="1A151D"/>
                </a:solidFill>
                <a:latin typeface="Calibri" pitchFamily="34" charset="0"/>
                <a:ea typeface="Calibri" pitchFamily="34" charset="-122"/>
                <a:cs typeface="Calibri" pitchFamily="34" charset="-120"/>
              </a:rPr>
              <a:t>E1 — Dataset comparison</a:t>
            </a:r>
            <a:endParaRPr lang="en-US" sz="1350" dirty="0"/>
          </a:p>
        </p:txBody>
      </p:sp>
      <p:sp>
        <p:nvSpPr>
          <p:cNvPr id="14" name="Text 10"/>
          <p:cNvSpPr/>
          <p:nvPr/>
        </p:nvSpPr>
        <p:spPr>
          <a:xfrm>
            <a:off x="1554480" y="4050792"/>
            <a:ext cx="4206240" cy="566928"/>
          </a:xfrm>
          <a:prstGeom prst="rect">
            <a:avLst/>
          </a:prstGeom>
          <a:noFill/>
          <a:ln/>
        </p:spPr>
        <p:txBody>
          <a:bodyPr wrap="square" lIns="0" tIns="0" rIns="0" bIns="0" rtlCol="0" anchor="ctr"/>
          <a:lstStyle/>
          <a:p>
            <a:pPr indent="0" marL="0">
              <a:lnSpc>
                <a:spcPct val="105000"/>
              </a:lnSpc>
              <a:buNone/>
            </a:pPr>
            <a:r>
              <a:rPr lang="en-US" sz="1150" dirty="0">
                <a:solidFill>
                  <a:srgbClr val="6E6168"/>
                </a:solidFill>
                <a:latin typeface="Calibri" pitchFamily="34" charset="0"/>
                <a:ea typeface="Calibri" pitchFamily="34" charset="-122"/>
                <a:cs typeface="Calibri" pitchFamily="34" charset="-120"/>
              </a:rPr>
              <a:t>Formally quantify ml-1m vs ml-latest-small (we chose ml-1m on rationale).</a:t>
            </a:r>
            <a:endParaRPr lang="en-US" sz="1150" dirty="0"/>
          </a:p>
        </p:txBody>
      </p:sp>
      <p:sp>
        <p:nvSpPr>
          <p:cNvPr id="15" name="Shape 11"/>
          <p:cNvSpPr/>
          <p:nvPr/>
        </p:nvSpPr>
        <p:spPr>
          <a:xfrm>
            <a:off x="6190488" y="3520440"/>
            <a:ext cx="5330952" cy="1170432"/>
          </a:xfrm>
          <a:prstGeom prst="roundRect">
            <a:avLst>
              <a:gd name="adj" fmla="val 6250"/>
            </a:avLst>
          </a:prstGeom>
          <a:solidFill>
            <a:srgbClr val="FFFFFF"/>
          </a:solidFill>
          <a:ln w="12700">
            <a:solidFill>
              <a:srgbClr val="E3DADE"/>
            </a:solidFill>
            <a:prstDash val="solid"/>
          </a:ln>
          <a:effectLst>
            <a:outerShdw sx="100000" sy="100000" kx="0" ky="0" algn="bl" rotWithShape="0" blurRad="114300" dist="38100" dir="5400000">
              <a:srgbClr val="000000">
                <a:alpha val="7000"/>
              </a:srgbClr>
            </a:outerShdw>
          </a:effectLst>
        </p:spPr>
      </p:sp>
      <p:sp>
        <p:nvSpPr>
          <p:cNvPr id="16" name="Shape 12"/>
          <p:cNvSpPr/>
          <p:nvPr/>
        </p:nvSpPr>
        <p:spPr>
          <a:xfrm>
            <a:off x="6419088" y="3849624"/>
            <a:ext cx="475488" cy="475488"/>
          </a:xfrm>
          <a:prstGeom prst="ellipse">
            <a:avLst/>
          </a:prstGeom>
          <a:solidFill>
            <a:srgbClr val="D11F3C"/>
          </a:solidFill>
          <a:ln/>
        </p:spPr>
      </p:sp>
      <p:pic>
        <p:nvPicPr>
          <p:cNvPr id="17" name="Image 2" descr="preencoded.png">    </p:cNvPr>
          <p:cNvPicPr>
            <a:picLocks noChangeAspect="1"/>
          </p:cNvPicPr>
          <p:nvPr/>
        </p:nvPicPr>
        <p:blipFill>
          <a:blip r:embed="rId3"/>
          <a:stretch>
            <a:fillRect/>
          </a:stretch>
        </p:blipFill>
        <p:spPr>
          <a:xfrm>
            <a:off x="6542715" y="3973251"/>
            <a:ext cx="228234" cy="228234"/>
          </a:xfrm>
          <a:prstGeom prst="rect">
            <a:avLst/>
          </a:prstGeom>
        </p:spPr>
      </p:pic>
      <p:sp>
        <p:nvSpPr>
          <p:cNvPr id="18" name="Text 13"/>
          <p:cNvSpPr/>
          <p:nvPr/>
        </p:nvSpPr>
        <p:spPr>
          <a:xfrm>
            <a:off x="7104888" y="3685032"/>
            <a:ext cx="4206240" cy="365760"/>
          </a:xfrm>
          <a:prstGeom prst="rect">
            <a:avLst/>
          </a:prstGeom>
          <a:noFill/>
          <a:ln/>
        </p:spPr>
        <p:txBody>
          <a:bodyPr wrap="square" lIns="0" tIns="0" rIns="0" bIns="0" rtlCol="0" anchor="ctr"/>
          <a:lstStyle/>
          <a:p>
            <a:pPr indent="0" marL="0">
              <a:buNone/>
            </a:pPr>
            <a:r>
              <a:rPr lang="en-US" sz="1350" b="1" dirty="0">
                <a:solidFill>
                  <a:srgbClr val="1A151D"/>
                </a:solidFill>
                <a:latin typeface="Calibri" pitchFamily="34" charset="0"/>
                <a:ea typeface="Calibri" pitchFamily="34" charset="-122"/>
                <a:cs typeface="Calibri" pitchFamily="34" charset="-120"/>
              </a:rPr>
              <a:t>Multi-layer GRU</a:t>
            </a:r>
            <a:endParaRPr lang="en-US" sz="1350" dirty="0"/>
          </a:p>
        </p:txBody>
      </p:sp>
      <p:sp>
        <p:nvSpPr>
          <p:cNvPr id="19" name="Text 14"/>
          <p:cNvSpPr/>
          <p:nvPr/>
        </p:nvSpPr>
        <p:spPr>
          <a:xfrm>
            <a:off x="7104888" y="4050792"/>
            <a:ext cx="4206240" cy="566928"/>
          </a:xfrm>
          <a:prstGeom prst="rect">
            <a:avLst/>
          </a:prstGeom>
          <a:noFill/>
          <a:ln/>
        </p:spPr>
        <p:txBody>
          <a:bodyPr wrap="square" lIns="0" tIns="0" rIns="0" bIns="0" rtlCol="0" anchor="ctr"/>
          <a:lstStyle/>
          <a:p>
            <a:pPr indent="0" marL="0">
              <a:lnSpc>
                <a:spcPct val="105000"/>
              </a:lnSpc>
              <a:buNone/>
            </a:pPr>
            <a:r>
              <a:rPr lang="en-US" sz="1150" dirty="0">
                <a:solidFill>
                  <a:srgbClr val="6E6168"/>
                </a:solidFill>
                <a:latin typeface="Calibri" pitchFamily="34" charset="0"/>
                <a:ea typeface="Calibri" pitchFamily="34" charset="-122"/>
                <a:cs typeface="Calibri" pitchFamily="34" charset="-120"/>
              </a:rPr>
              <a:t>Stack a second GRU layer — likely helps on larger datasets.</a:t>
            </a:r>
            <a:endParaRPr lang="en-US" sz="1150" dirty="0"/>
          </a:p>
        </p:txBody>
      </p:sp>
      <p:sp>
        <p:nvSpPr>
          <p:cNvPr id="20" name="Shape 15"/>
          <p:cNvSpPr/>
          <p:nvPr/>
        </p:nvSpPr>
        <p:spPr>
          <a:xfrm>
            <a:off x="640080" y="4800600"/>
            <a:ext cx="5330952" cy="1170432"/>
          </a:xfrm>
          <a:prstGeom prst="roundRect">
            <a:avLst>
              <a:gd name="adj" fmla="val 6250"/>
            </a:avLst>
          </a:prstGeom>
          <a:solidFill>
            <a:srgbClr val="FFFFFF"/>
          </a:solidFill>
          <a:ln w="12700">
            <a:solidFill>
              <a:srgbClr val="E3DADE"/>
            </a:solidFill>
            <a:prstDash val="solid"/>
          </a:ln>
          <a:effectLst>
            <a:outerShdw sx="100000" sy="100000" kx="0" ky="0" algn="bl" rotWithShape="0" blurRad="114300" dist="38100" dir="5400000">
              <a:srgbClr val="000000">
                <a:alpha val="7000"/>
              </a:srgbClr>
            </a:outerShdw>
          </a:effectLst>
        </p:spPr>
      </p:sp>
      <p:sp>
        <p:nvSpPr>
          <p:cNvPr id="21" name="Shape 16"/>
          <p:cNvSpPr/>
          <p:nvPr/>
        </p:nvSpPr>
        <p:spPr>
          <a:xfrm>
            <a:off x="868680" y="5129784"/>
            <a:ext cx="475488" cy="475488"/>
          </a:xfrm>
          <a:prstGeom prst="ellipse">
            <a:avLst/>
          </a:prstGeom>
          <a:solidFill>
            <a:srgbClr val="D11F3C"/>
          </a:solidFill>
          <a:ln/>
        </p:spPr>
      </p:sp>
      <p:pic>
        <p:nvPicPr>
          <p:cNvPr id="22" name="Image 3" descr="preencoded.png">    </p:cNvPr>
          <p:cNvPicPr>
            <a:picLocks noChangeAspect="1"/>
          </p:cNvPicPr>
          <p:nvPr/>
        </p:nvPicPr>
        <p:blipFill>
          <a:blip r:embed="rId4"/>
          <a:stretch>
            <a:fillRect/>
          </a:stretch>
        </p:blipFill>
        <p:spPr>
          <a:xfrm>
            <a:off x="992307" y="5253411"/>
            <a:ext cx="228234" cy="228234"/>
          </a:xfrm>
          <a:prstGeom prst="rect">
            <a:avLst/>
          </a:prstGeom>
        </p:spPr>
      </p:pic>
      <p:sp>
        <p:nvSpPr>
          <p:cNvPr id="23" name="Text 17"/>
          <p:cNvSpPr/>
          <p:nvPr/>
        </p:nvSpPr>
        <p:spPr>
          <a:xfrm>
            <a:off x="1554480" y="4965192"/>
            <a:ext cx="4206240" cy="365760"/>
          </a:xfrm>
          <a:prstGeom prst="rect">
            <a:avLst/>
          </a:prstGeom>
          <a:noFill/>
          <a:ln/>
        </p:spPr>
        <p:txBody>
          <a:bodyPr wrap="square" lIns="0" tIns="0" rIns="0" bIns="0" rtlCol="0" anchor="ctr"/>
          <a:lstStyle/>
          <a:p>
            <a:pPr indent="0" marL="0">
              <a:buNone/>
            </a:pPr>
            <a:r>
              <a:rPr lang="en-US" sz="1350" b="1" dirty="0">
                <a:solidFill>
                  <a:srgbClr val="1A151D"/>
                </a:solidFill>
                <a:latin typeface="Calibri" pitchFamily="34" charset="0"/>
                <a:ea typeface="Calibri" pitchFamily="34" charset="-122"/>
                <a:cs typeface="Calibri" pitchFamily="34" charset="-120"/>
              </a:rPr>
              <a:t>SASRec / Transformer</a:t>
            </a:r>
            <a:endParaRPr lang="en-US" sz="1350" dirty="0"/>
          </a:p>
        </p:txBody>
      </p:sp>
      <p:sp>
        <p:nvSpPr>
          <p:cNvPr id="24" name="Text 18"/>
          <p:cNvSpPr/>
          <p:nvPr/>
        </p:nvSpPr>
        <p:spPr>
          <a:xfrm>
            <a:off x="1554480" y="5330952"/>
            <a:ext cx="4206240" cy="566928"/>
          </a:xfrm>
          <a:prstGeom prst="rect">
            <a:avLst/>
          </a:prstGeom>
          <a:noFill/>
          <a:ln/>
        </p:spPr>
        <p:txBody>
          <a:bodyPr wrap="square" lIns="0" tIns="0" rIns="0" bIns="0" rtlCol="0" anchor="ctr"/>
          <a:lstStyle/>
          <a:p>
            <a:pPr indent="0" marL="0">
              <a:lnSpc>
                <a:spcPct val="105000"/>
              </a:lnSpc>
              <a:buNone/>
            </a:pPr>
            <a:r>
              <a:rPr lang="en-US" sz="1150" dirty="0">
                <a:solidFill>
                  <a:srgbClr val="6E6168"/>
                </a:solidFill>
                <a:latin typeface="Calibri" pitchFamily="34" charset="0"/>
                <a:ea typeface="Calibri" pitchFamily="34" charset="-122"/>
                <a:cs typeface="Calibri" pitchFamily="34" charset="-120"/>
              </a:rPr>
              <a:t>Attention models win at scale (millions of users); the natural next step.</a:t>
            </a:r>
            <a:endParaRPr lang="en-US" sz="1150" dirty="0"/>
          </a:p>
        </p:txBody>
      </p:sp>
      <p:sp>
        <p:nvSpPr>
          <p:cNvPr id="25" name="Shape 19"/>
          <p:cNvSpPr/>
          <p:nvPr/>
        </p:nvSpPr>
        <p:spPr>
          <a:xfrm>
            <a:off x="6190488" y="4800600"/>
            <a:ext cx="5330952" cy="1170432"/>
          </a:xfrm>
          <a:prstGeom prst="roundRect">
            <a:avLst>
              <a:gd name="adj" fmla="val 6250"/>
            </a:avLst>
          </a:prstGeom>
          <a:solidFill>
            <a:srgbClr val="FFFFFF"/>
          </a:solidFill>
          <a:ln w="12700">
            <a:solidFill>
              <a:srgbClr val="E3DADE"/>
            </a:solidFill>
            <a:prstDash val="solid"/>
          </a:ln>
          <a:effectLst>
            <a:outerShdw sx="100000" sy="100000" kx="0" ky="0" algn="bl" rotWithShape="0" blurRad="114300" dist="38100" dir="5400000">
              <a:srgbClr val="000000">
                <a:alpha val="7000"/>
              </a:srgbClr>
            </a:outerShdw>
          </a:effectLst>
        </p:spPr>
      </p:sp>
      <p:sp>
        <p:nvSpPr>
          <p:cNvPr id="26" name="Shape 20"/>
          <p:cNvSpPr/>
          <p:nvPr/>
        </p:nvSpPr>
        <p:spPr>
          <a:xfrm>
            <a:off x="6419088" y="5129784"/>
            <a:ext cx="475488" cy="475488"/>
          </a:xfrm>
          <a:prstGeom prst="ellipse">
            <a:avLst/>
          </a:prstGeom>
          <a:solidFill>
            <a:srgbClr val="D11F3C"/>
          </a:solidFill>
          <a:ln/>
        </p:spPr>
      </p:sp>
      <p:pic>
        <p:nvPicPr>
          <p:cNvPr id="27" name="Image 4" descr="preencoded.png">    </p:cNvPr>
          <p:cNvPicPr>
            <a:picLocks noChangeAspect="1"/>
          </p:cNvPicPr>
          <p:nvPr/>
        </p:nvPicPr>
        <p:blipFill>
          <a:blip r:embed="rId5"/>
          <a:stretch>
            <a:fillRect/>
          </a:stretch>
        </p:blipFill>
        <p:spPr>
          <a:xfrm>
            <a:off x="6542715" y="5253411"/>
            <a:ext cx="228234" cy="228234"/>
          </a:xfrm>
          <a:prstGeom prst="rect">
            <a:avLst/>
          </a:prstGeom>
        </p:spPr>
      </p:pic>
      <p:sp>
        <p:nvSpPr>
          <p:cNvPr id="28" name="Text 21"/>
          <p:cNvSpPr/>
          <p:nvPr/>
        </p:nvSpPr>
        <p:spPr>
          <a:xfrm>
            <a:off x="7104888" y="4965192"/>
            <a:ext cx="4206240" cy="365760"/>
          </a:xfrm>
          <a:prstGeom prst="rect">
            <a:avLst/>
          </a:prstGeom>
          <a:noFill/>
          <a:ln/>
        </p:spPr>
        <p:txBody>
          <a:bodyPr wrap="square" lIns="0" tIns="0" rIns="0" bIns="0" rtlCol="0" anchor="ctr"/>
          <a:lstStyle/>
          <a:p>
            <a:pPr indent="0" marL="0">
              <a:buNone/>
            </a:pPr>
            <a:r>
              <a:rPr lang="en-US" sz="1350" b="1" dirty="0">
                <a:solidFill>
                  <a:srgbClr val="1A151D"/>
                </a:solidFill>
                <a:latin typeface="Calibri" pitchFamily="34" charset="0"/>
                <a:ea typeface="Calibri" pitchFamily="34" charset="-122"/>
                <a:cs typeface="Calibri" pitchFamily="34" charset="-120"/>
              </a:rPr>
              <a:t>GPU training via WSL2</a:t>
            </a:r>
            <a:endParaRPr lang="en-US" sz="1350" dirty="0"/>
          </a:p>
        </p:txBody>
      </p:sp>
      <p:sp>
        <p:nvSpPr>
          <p:cNvPr id="29" name="Text 22"/>
          <p:cNvSpPr/>
          <p:nvPr/>
        </p:nvSpPr>
        <p:spPr>
          <a:xfrm>
            <a:off x="7104888" y="5330952"/>
            <a:ext cx="4206240" cy="566928"/>
          </a:xfrm>
          <a:prstGeom prst="rect">
            <a:avLst/>
          </a:prstGeom>
          <a:noFill/>
          <a:ln/>
        </p:spPr>
        <p:txBody>
          <a:bodyPr wrap="square" lIns="0" tIns="0" rIns="0" bIns="0" rtlCol="0" anchor="ctr"/>
          <a:lstStyle/>
          <a:p>
            <a:pPr indent="0" marL="0">
              <a:lnSpc>
                <a:spcPct val="105000"/>
              </a:lnSpc>
              <a:buNone/>
            </a:pPr>
            <a:r>
              <a:rPr lang="en-US" sz="1150" dirty="0">
                <a:solidFill>
                  <a:srgbClr val="6E6168"/>
                </a:solidFill>
                <a:latin typeface="Calibri" pitchFamily="34" charset="0"/>
                <a:ea typeface="Calibri" pitchFamily="34" charset="-122"/>
                <a:cs typeface="Calibri" pitchFamily="34" charset="-120"/>
              </a:rPr>
              <a:t>~6–7× faster epochs → more experiments, bigger models.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B10"/>
        </a:solidFill>
      </p:bgPr>
    </p:bg>
    <p:spTree>
      <p:nvGrpSpPr>
        <p:cNvPr id="1" name=""/>
        <p:cNvGrpSpPr/>
        <p:nvPr/>
      </p:nvGrpSpPr>
      <p:grpSpPr>
        <a:xfrm>
          <a:off x="0" y="0"/>
          <a:ext cx="0" cy="0"/>
          <a:chOff x="0" y="0"/>
          <a:chExt cx="0" cy="0"/>
        </a:xfrm>
      </p:grpSpPr>
      <p:sp>
        <p:nvSpPr>
          <p:cNvPr id="2" name="Shape 0"/>
          <p:cNvSpPr/>
          <p:nvPr/>
        </p:nvSpPr>
        <p:spPr>
          <a:xfrm>
            <a:off x="7863840" y="-2011680"/>
            <a:ext cx="7315200" cy="7315200"/>
          </a:xfrm>
          <a:prstGeom prst="ellipse">
            <a:avLst/>
          </a:prstGeom>
          <a:solidFill>
            <a:srgbClr val="D11F3C">
              <a:alpha val="15000"/>
            </a:srgbClr>
          </a:solidFill>
          <a:ln/>
        </p:spPr>
      </p:sp>
      <p:sp>
        <p:nvSpPr>
          <p:cNvPr id="3" name="Shape 1"/>
          <p:cNvSpPr/>
          <p:nvPr/>
        </p:nvSpPr>
        <p:spPr>
          <a:xfrm>
            <a:off x="8961120" y="2194560"/>
            <a:ext cx="5486400" cy="5486400"/>
          </a:xfrm>
          <a:prstGeom prst="ellipse">
            <a:avLst/>
          </a:prstGeom>
          <a:solidFill>
            <a:srgbClr val="8C1428">
              <a:alpha val="20000"/>
            </a:srgbClr>
          </a:solidFill>
          <a:ln/>
        </p:spPr>
      </p:sp>
      <p:sp>
        <p:nvSpPr>
          <p:cNvPr id="4" name="Shape 2"/>
          <p:cNvSpPr/>
          <p:nvPr/>
        </p:nvSpPr>
        <p:spPr>
          <a:xfrm>
            <a:off x="822960" y="868680"/>
            <a:ext cx="822960" cy="822960"/>
          </a:xfrm>
          <a:prstGeom prst="ellipse">
            <a:avLst/>
          </a:prstGeom>
          <a:solidFill>
            <a:srgbClr val="D11F3C"/>
          </a:solidFill>
          <a:ln/>
        </p:spPr>
      </p:sp>
      <p:pic>
        <p:nvPicPr>
          <p:cNvPr id="5" name="Image 0" descr="preencoded.png">    </p:cNvPr>
          <p:cNvPicPr>
            <a:picLocks noChangeAspect="1"/>
          </p:cNvPicPr>
          <p:nvPr/>
        </p:nvPicPr>
        <p:blipFill>
          <a:blip r:embed="rId1"/>
          <a:stretch>
            <a:fillRect/>
          </a:stretch>
        </p:blipFill>
        <p:spPr>
          <a:xfrm>
            <a:off x="1036930" y="1082650"/>
            <a:ext cx="395021" cy="395021"/>
          </a:xfrm>
          <a:prstGeom prst="rect">
            <a:avLst/>
          </a:prstGeom>
        </p:spPr>
      </p:pic>
      <p:sp>
        <p:nvSpPr>
          <p:cNvPr id="6" name="Text 3"/>
          <p:cNvSpPr/>
          <p:nvPr/>
        </p:nvSpPr>
        <p:spPr>
          <a:xfrm>
            <a:off x="777240" y="1737360"/>
            <a:ext cx="8229600" cy="914400"/>
          </a:xfrm>
          <a:prstGeom prst="rect">
            <a:avLst/>
          </a:prstGeom>
          <a:noFill/>
          <a:ln/>
        </p:spPr>
        <p:txBody>
          <a:bodyPr wrap="square" lIns="0" tIns="0" rIns="0" bIns="0" rtlCol="0" anchor="ctr"/>
          <a:lstStyle/>
          <a:p>
            <a:pPr indent="0" marL="0">
              <a:buNone/>
            </a:pPr>
            <a:r>
              <a:rPr lang="en-US" sz="5200" b="1" dirty="0">
                <a:solidFill>
                  <a:srgbClr val="F4EEF0"/>
                </a:solidFill>
                <a:latin typeface="Cambria" pitchFamily="34" charset="0"/>
                <a:ea typeface="Cambria" pitchFamily="34" charset="-122"/>
                <a:cs typeface="Cambria" pitchFamily="34" charset="-120"/>
              </a:rPr>
              <a:t>Reverie</a:t>
            </a:r>
            <a:endParaRPr lang="en-US" sz="5200" dirty="0"/>
          </a:p>
        </p:txBody>
      </p:sp>
      <p:sp>
        <p:nvSpPr>
          <p:cNvPr id="7" name="Shape 4"/>
          <p:cNvSpPr/>
          <p:nvPr/>
        </p:nvSpPr>
        <p:spPr>
          <a:xfrm>
            <a:off x="822960" y="2880360"/>
            <a:ext cx="10515600" cy="1024128"/>
          </a:xfrm>
          <a:prstGeom prst="roundRect">
            <a:avLst>
              <a:gd name="adj" fmla="val 7143"/>
            </a:avLst>
          </a:prstGeom>
          <a:solidFill>
            <a:srgbClr val="1C1620"/>
          </a:solidFill>
          <a:ln w="12700">
            <a:solidFill>
              <a:srgbClr val="3A2F40"/>
            </a:solidFill>
            <a:prstDash val="solid"/>
          </a:ln>
        </p:spPr>
      </p:sp>
      <p:sp>
        <p:nvSpPr>
          <p:cNvPr id="8" name="Shape 5"/>
          <p:cNvSpPr/>
          <p:nvPr/>
        </p:nvSpPr>
        <p:spPr>
          <a:xfrm>
            <a:off x="1097280" y="3154680"/>
            <a:ext cx="502920" cy="502920"/>
          </a:xfrm>
          <a:prstGeom prst="ellipse">
            <a:avLst/>
          </a:prstGeom>
          <a:solidFill>
            <a:srgbClr val="D11F3C"/>
          </a:solidFill>
          <a:ln/>
        </p:spPr>
      </p:sp>
      <p:pic>
        <p:nvPicPr>
          <p:cNvPr id="9" name="Image 1" descr="preencoded.png">    </p:cNvPr>
          <p:cNvPicPr>
            <a:picLocks noChangeAspect="1"/>
          </p:cNvPicPr>
          <p:nvPr/>
        </p:nvPicPr>
        <p:blipFill>
          <a:blip r:embed="rId2"/>
          <a:stretch>
            <a:fillRect/>
          </a:stretch>
        </p:blipFill>
        <p:spPr>
          <a:xfrm>
            <a:off x="1228039" y="3285439"/>
            <a:ext cx="241402" cy="241402"/>
          </a:xfrm>
          <a:prstGeom prst="rect">
            <a:avLst/>
          </a:prstGeom>
        </p:spPr>
      </p:pic>
      <p:sp>
        <p:nvSpPr>
          <p:cNvPr id="10" name="Text 6"/>
          <p:cNvSpPr/>
          <p:nvPr/>
        </p:nvSpPr>
        <p:spPr>
          <a:xfrm>
            <a:off x="1874520" y="2880360"/>
            <a:ext cx="9235440" cy="1024128"/>
          </a:xfrm>
          <a:prstGeom prst="rect">
            <a:avLst/>
          </a:prstGeom>
          <a:noFill/>
          <a:ln/>
        </p:spPr>
        <p:txBody>
          <a:bodyPr wrap="square" lIns="0" tIns="0" rIns="0" bIns="0" rtlCol="0" anchor="ctr"/>
          <a:lstStyle/>
          <a:p>
            <a:pPr indent="0" marL="0">
              <a:lnSpc>
                <a:spcPct val="105000"/>
              </a:lnSpc>
              <a:buNone/>
            </a:pPr>
            <a:r>
              <a:rPr lang="en-US" sz="1500" b="1" dirty="0">
                <a:solidFill>
                  <a:srgbClr val="F4EEF0"/>
                </a:solidFill>
                <a:latin typeface="Calibri" pitchFamily="34" charset="0"/>
                <a:ea typeface="Calibri" pitchFamily="34" charset="-122"/>
                <a:cs typeface="Calibri" pitchFamily="34" charset="-120"/>
              </a:rPr>
              <a:t>It works  —  </a:t>
            </a:r>
            <a:pPr indent="0" marL="0">
              <a:lnSpc>
                <a:spcPct val="105000"/>
              </a:lnSpc>
              <a:buNone/>
            </a:pPr>
            <a:r>
              <a:rPr lang="en-US" sz="1300" dirty="0">
                <a:solidFill>
                  <a:srgbClr val="B9A9B0"/>
                </a:solidFill>
                <a:latin typeface="Calibri" pitchFamily="34" charset="0"/>
                <a:ea typeface="Calibri" pitchFamily="34" charset="-122"/>
                <a:cs typeface="Calibri" pitchFamily="34" charset="-120"/>
              </a:rPr>
              <a:t>HR@10 = 0.242 ± 0.002 on a blind test set. 6× better than most-popular; beats item-kNN.</a:t>
            </a:r>
            <a:endParaRPr lang="en-US" sz="1500" dirty="0"/>
          </a:p>
        </p:txBody>
      </p:sp>
      <p:sp>
        <p:nvSpPr>
          <p:cNvPr id="11" name="Shape 7"/>
          <p:cNvSpPr/>
          <p:nvPr/>
        </p:nvSpPr>
        <p:spPr>
          <a:xfrm>
            <a:off x="822960" y="4014216"/>
            <a:ext cx="10515600" cy="1024128"/>
          </a:xfrm>
          <a:prstGeom prst="roundRect">
            <a:avLst>
              <a:gd name="adj" fmla="val 7143"/>
            </a:avLst>
          </a:prstGeom>
          <a:solidFill>
            <a:srgbClr val="1C1620"/>
          </a:solidFill>
          <a:ln w="12700">
            <a:solidFill>
              <a:srgbClr val="3A2F40"/>
            </a:solidFill>
            <a:prstDash val="solid"/>
          </a:ln>
        </p:spPr>
      </p:sp>
      <p:sp>
        <p:nvSpPr>
          <p:cNvPr id="12" name="Shape 8"/>
          <p:cNvSpPr/>
          <p:nvPr/>
        </p:nvSpPr>
        <p:spPr>
          <a:xfrm>
            <a:off x="1097280" y="4288536"/>
            <a:ext cx="502920" cy="502920"/>
          </a:xfrm>
          <a:prstGeom prst="ellipse">
            <a:avLst/>
          </a:prstGeom>
          <a:solidFill>
            <a:srgbClr val="D11F3C"/>
          </a:solidFill>
          <a:ln/>
        </p:spPr>
      </p:sp>
      <p:pic>
        <p:nvPicPr>
          <p:cNvPr id="13" name="Image 2" descr="preencoded.png">    </p:cNvPr>
          <p:cNvPicPr>
            <a:picLocks noChangeAspect="1"/>
          </p:cNvPicPr>
          <p:nvPr/>
        </p:nvPicPr>
        <p:blipFill>
          <a:blip r:embed="rId3"/>
          <a:stretch>
            <a:fillRect/>
          </a:stretch>
        </p:blipFill>
        <p:spPr>
          <a:xfrm>
            <a:off x="1228039" y="4419295"/>
            <a:ext cx="241402" cy="241402"/>
          </a:xfrm>
          <a:prstGeom prst="rect">
            <a:avLst/>
          </a:prstGeom>
        </p:spPr>
      </p:pic>
      <p:sp>
        <p:nvSpPr>
          <p:cNvPr id="14" name="Text 9"/>
          <p:cNvSpPr/>
          <p:nvPr/>
        </p:nvSpPr>
        <p:spPr>
          <a:xfrm>
            <a:off x="1874520" y="4014216"/>
            <a:ext cx="9235440" cy="1024128"/>
          </a:xfrm>
          <a:prstGeom prst="rect">
            <a:avLst/>
          </a:prstGeom>
          <a:noFill/>
          <a:ln/>
        </p:spPr>
        <p:txBody>
          <a:bodyPr wrap="square" lIns="0" tIns="0" rIns="0" bIns="0" rtlCol="0" anchor="ctr"/>
          <a:lstStyle/>
          <a:p>
            <a:pPr indent="0" marL="0">
              <a:lnSpc>
                <a:spcPct val="105000"/>
              </a:lnSpc>
              <a:buNone/>
            </a:pPr>
            <a:r>
              <a:rPr lang="en-US" sz="1500" b="1" dirty="0">
                <a:solidFill>
                  <a:srgbClr val="F4EEF0"/>
                </a:solidFill>
                <a:latin typeface="Calibri" pitchFamily="34" charset="0"/>
                <a:ea typeface="Calibri" pitchFamily="34" charset="-122"/>
                <a:cs typeface="Calibri" pitchFamily="34" charset="-120"/>
              </a:rPr>
              <a:t>Every decision was empirical  —  </a:t>
            </a:r>
            <a:pPr indent="0" marL="0">
              <a:lnSpc>
                <a:spcPct val="105000"/>
              </a:lnSpc>
              <a:buNone/>
            </a:pPr>
            <a:r>
              <a:rPr lang="en-US" sz="1300" dirty="0">
                <a:solidFill>
                  <a:srgbClr val="B9A9B0"/>
                </a:solidFill>
                <a:latin typeface="Calibri" pitchFamily="34" charset="0"/>
                <a:ea typeface="Calibri" pitchFamily="34" charset="-122"/>
                <a:cs typeface="Calibri" pitchFamily="34" charset="-120"/>
              </a:rPr>
              <a:t>L=20 (E3), 32/64 (E4), GRU (E5), full hybrid (E6) — all justified by validation numbers.</a:t>
            </a:r>
            <a:endParaRPr lang="en-US" sz="1500" dirty="0"/>
          </a:p>
        </p:txBody>
      </p:sp>
      <p:sp>
        <p:nvSpPr>
          <p:cNvPr id="15" name="Shape 10"/>
          <p:cNvSpPr/>
          <p:nvPr/>
        </p:nvSpPr>
        <p:spPr>
          <a:xfrm>
            <a:off x="822960" y="5148072"/>
            <a:ext cx="10515600" cy="1024128"/>
          </a:xfrm>
          <a:prstGeom prst="roundRect">
            <a:avLst>
              <a:gd name="adj" fmla="val 7143"/>
            </a:avLst>
          </a:prstGeom>
          <a:solidFill>
            <a:srgbClr val="1C1620"/>
          </a:solidFill>
          <a:ln w="12700">
            <a:solidFill>
              <a:srgbClr val="3A2F40"/>
            </a:solidFill>
            <a:prstDash val="solid"/>
          </a:ln>
        </p:spPr>
      </p:sp>
      <p:sp>
        <p:nvSpPr>
          <p:cNvPr id="16" name="Shape 11"/>
          <p:cNvSpPr/>
          <p:nvPr/>
        </p:nvSpPr>
        <p:spPr>
          <a:xfrm>
            <a:off x="1097280" y="5422392"/>
            <a:ext cx="502920" cy="502920"/>
          </a:xfrm>
          <a:prstGeom prst="ellipse">
            <a:avLst/>
          </a:prstGeom>
          <a:solidFill>
            <a:srgbClr val="D11F3C"/>
          </a:solidFill>
          <a:ln/>
        </p:spPr>
      </p:sp>
      <p:pic>
        <p:nvPicPr>
          <p:cNvPr id="17" name="Image 3" descr="preencoded.png">    </p:cNvPr>
          <p:cNvPicPr>
            <a:picLocks noChangeAspect="1"/>
          </p:cNvPicPr>
          <p:nvPr/>
        </p:nvPicPr>
        <p:blipFill>
          <a:blip r:embed="rId4"/>
          <a:stretch>
            <a:fillRect/>
          </a:stretch>
        </p:blipFill>
        <p:spPr>
          <a:xfrm>
            <a:off x="1228039" y="5553151"/>
            <a:ext cx="241402" cy="241402"/>
          </a:xfrm>
          <a:prstGeom prst="rect">
            <a:avLst/>
          </a:prstGeom>
        </p:spPr>
      </p:pic>
      <p:sp>
        <p:nvSpPr>
          <p:cNvPr id="18" name="Text 12"/>
          <p:cNvSpPr/>
          <p:nvPr/>
        </p:nvSpPr>
        <p:spPr>
          <a:xfrm>
            <a:off x="1874520" y="5148072"/>
            <a:ext cx="9235440" cy="1024128"/>
          </a:xfrm>
          <a:prstGeom prst="rect">
            <a:avLst/>
          </a:prstGeom>
          <a:noFill/>
          <a:ln/>
        </p:spPr>
        <p:txBody>
          <a:bodyPr wrap="square" lIns="0" tIns="0" rIns="0" bIns="0" rtlCol="0" anchor="ctr"/>
          <a:lstStyle/>
          <a:p>
            <a:pPr indent="0" marL="0">
              <a:lnSpc>
                <a:spcPct val="105000"/>
              </a:lnSpc>
              <a:buNone/>
            </a:pPr>
            <a:r>
              <a:rPr lang="en-US" sz="1500" b="1" dirty="0">
                <a:solidFill>
                  <a:srgbClr val="F4EEF0"/>
                </a:solidFill>
                <a:latin typeface="Calibri" pitchFamily="34" charset="0"/>
                <a:ea typeface="Calibri" pitchFamily="34" charset="-122"/>
                <a:cs typeface="Calibri" pitchFamily="34" charset="-120"/>
              </a:rPr>
              <a:t>It runs  —  </a:t>
            </a:r>
            <a:pPr indent="0" marL="0">
              <a:lnSpc>
                <a:spcPct val="105000"/>
              </a:lnSpc>
              <a:buNone/>
            </a:pPr>
            <a:r>
              <a:rPr lang="en-US" sz="1300" dirty="0">
                <a:solidFill>
                  <a:srgbClr val="B9A9B0"/>
                </a:solidFill>
                <a:latin typeface="Calibri" pitchFamily="34" charset="0"/>
                <a:ea typeface="Calibri" pitchFamily="34" charset="-122"/>
                <a:cs typeface="Calibri" pitchFamily="34" charset="-120"/>
              </a:rPr>
              <a:t>React frontend + FastAPI backend + a trained model serving real-time recs. The loop closes.</a:t>
            </a:r>
            <a:endParaRPr lang="en-US" sz="1500" dirty="0"/>
          </a:p>
        </p:txBody>
      </p:sp>
      <p:sp>
        <p:nvSpPr>
          <p:cNvPr id="19" name="Text 13"/>
          <p:cNvSpPr/>
          <p:nvPr/>
        </p:nvSpPr>
        <p:spPr>
          <a:xfrm>
            <a:off x="822960" y="6400800"/>
            <a:ext cx="10515600" cy="365760"/>
          </a:xfrm>
          <a:prstGeom prst="rect">
            <a:avLst/>
          </a:prstGeom>
          <a:noFill/>
          <a:ln/>
        </p:spPr>
        <p:txBody>
          <a:bodyPr wrap="square" lIns="0" tIns="0" rIns="0" bIns="0" rtlCol="0" anchor="ctr"/>
          <a:lstStyle/>
          <a:p>
            <a:pPr indent="0" marL="0">
              <a:buNone/>
            </a:pPr>
            <a:r>
              <a:rPr lang="en-US" sz="1300" b="1" dirty="0">
                <a:solidFill>
                  <a:srgbClr val="D11F3C"/>
                </a:solidFill>
                <a:latin typeface="Calibri" pitchFamily="34" charset="0"/>
                <a:ea typeface="Calibri" pitchFamily="34" charset="-122"/>
                <a:cs typeface="Calibri" pitchFamily="34" charset="-120"/>
              </a:rPr>
              <a:t>Thank you — questions?    ·    github.com/em-ech/reverie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Reverie — Sequential Movie &amp; TV Recommender</dc:title>
  <dc:subject>PptxGenJS Presentation</dc:subject>
  <dc:creator>Reverie Team — IE University</dc:creator>
  <cp:lastModifiedBy>Reverie Team — IE University</cp:lastModifiedBy>
  <cp:revision>1</cp:revision>
  <dcterms:created xsi:type="dcterms:W3CDTF">2026-06-27T17:22:44Z</dcterms:created>
  <dcterms:modified xsi:type="dcterms:W3CDTF">2026-06-27T17:22:44Z</dcterms:modified>
</cp:coreProperties>
</file>